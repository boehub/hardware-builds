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222222"/>
                </a:solidFill>
                <a:latin typeface="Calibri"/>
              </a:rPr>
              <a:t>DIY FILAMENT MAKER – BLUEPRINT SET (REV 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Calibri"/>
              </a:rPr>
              <a:t>All dimensions in mm  |  Printed parts PETG/ASA + off-the-shelf hardware, hand-tool assembly  |  Name: Ryan Boe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785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Calibri"/>
              </a:rPr>
              <a:t>FULL LINE – 1 kg hopper, extruder, water bath, puller, dancer, level-wind spooler</a:t>
            </a:r>
          </a:p>
        </p:txBody>
      </p:sp>
      <p:pic>
        <p:nvPicPr>
          <p:cNvPr id="6" name="Picture 5" descr="hero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7040880" cy="29337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589520" y="868680"/>
            <a:ext cx="2011680" cy="1024128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80" y="941832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A5001E"/>
                </a:solidFill>
                <a:latin typeface="Calibri"/>
              </a:rPr>
              <a:t>1 kg → 1 kg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80" y="1291082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a 6.4 L hopper takes 1 kg of flakes; the spool takes 1 kg (≈ 335 m of PLA)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38360" y="868680"/>
            <a:ext cx="2011680" cy="1024128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0" y="941832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A5001E"/>
                </a:solidFill>
                <a:latin typeface="Calibri"/>
              </a:rPr>
              <a:t>≈ 3.4 h / kg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1291082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at 4 rpm: ≈ 1.6 m/min, ≈ 295 g/h (estimate, calibrate)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2011680"/>
            <a:ext cx="2011680" cy="1024128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80" y="2084832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A5001E"/>
                </a:solidFill>
                <a:latin typeface="Calibri"/>
              </a:rPr>
              <a:t>6.4 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80" y="2434082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hopper: 60° cone + agitator, holds ≥ 1 kg of flakes down to 0.17 g/cm³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38360" y="2011680"/>
            <a:ext cx="2011680" cy="1024128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0" y="2084832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A5001E"/>
                </a:solidFill>
                <a:latin typeface="Calibri"/>
              </a:rPr>
              <a:t>18 → 0 FAIL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2434082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Rev A vs Rev B checks; Rev B: 41 PASS, 1 WARN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3154680"/>
            <a:ext cx="4160520" cy="320040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17536" y="3246120"/>
            <a:ext cx="390448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SHEET INDEX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7536" y="3520440"/>
            <a:ext cx="3904487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1  Overview</a:t>
            </a:r>
          </a:p>
          <a:p>
            <a:pPr>
              <a:spcAft>
                <a:spcPts val="6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2  What changed in Rev B</a:t>
            </a:r>
          </a:p>
          <a:p>
            <a:pPr>
              <a:spcAft>
                <a:spcPts val="6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3  Verification report</a:t>
            </a:r>
          </a:p>
          <a:p>
            <a:pPr>
              <a:spcAft>
                <a:spcPts val="6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4  Assembly views + overall size</a:t>
            </a:r>
          </a:p>
          <a:p>
            <a:pPr>
              <a:spcAft>
                <a:spcPts val="6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5  Exploded view + part numbers</a:t>
            </a:r>
          </a:p>
          <a:p>
            <a:pPr>
              <a:spcAft>
                <a:spcPts val="6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6  1 kg hopper</a:t>
            </a:r>
          </a:p>
          <a:p>
            <a:pPr>
              <a:spcAft>
                <a:spcPts val="6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7  Process + material settings</a:t>
            </a:r>
          </a:p>
          <a:p>
            <a:pPr>
              <a:spcAft>
                <a:spcPts val="6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8  Screw + barrel (section)</a:t>
            </a:r>
          </a:p>
          <a:p>
            <a:pPr>
              <a:spcAft>
                <a:spcPts val="6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9  Die + filter</a:t>
            </a:r>
          </a:p>
          <a:p>
            <a:pPr>
              <a:spcAft>
                <a:spcPts val="6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10  Drive train + thrust loop</a:t>
            </a:r>
          </a:p>
          <a:p>
            <a:pPr>
              <a:spcAft>
                <a:spcPts val="6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11  Printed parts: wall, housing, head plate</a:t>
            </a:r>
          </a:p>
          <a:p>
            <a:pPr>
              <a:spcAft>
                <a:spcPts val="6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12  Water bath</a:t>
            </a:r>
          </a:p>
          <a:p>
            <a:pPr>
              <a:spcAft>
                <a:spcPts val="6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13  Puller, dancer, level-wind, spooler</a:t>
            </a:r>
          </a:p>
          <a:p>
            <a:pPr>
              <a:spcAft>
                <a:spcPts val="6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14  Print list</a:t>
            </a:r>
          </a:p>
          <a:p>
            <a:pPr>
              <a:spcAft>
                <a:spcPts val="6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15  Electrical + safety</a:t>
            </a:r>
          </a:p>
          <a:p>
            <a:pPr>
              <a:spcAft>
                <a:spcPts val="6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16  Speeds + dial-in</a:t>
            </a:r>
          </a:p>
          <a:p>
            <a:pPr>
              <a:spcAft>
                <a:spcPts val="6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17  Bill of materials</a:t>
            </a:r>
          </a:p>
          <a:p>
            <a:pPr>
              <a:spcAft>
                <a:spcPts val="6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18  Tools + workarounds</a:t>
            </a:r>
          </a:p>
          <a:p>
            <a:pPr>
              <a:spcAft>
                <a:spcPts val="6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19  Assembly order + design checks</a:t>
            </a:r>
          </a:p>
          <a:p>
            <a:pPr>
              <a:spcAft>
                <a:spcPts val="6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20  Open items (VERIFY) + roadmap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251960"/>
            <a:ext cx="6949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Models: filament_maker_assembly.fbx (Blender)  ·  Print files: filament_maker_stl.zip  ·  Generator + checker: filament_maker_generator.zip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572000"/>
            <a:ext cx="69494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Rev B = Rev A + a geometric check of every part against every other (2926 part pairs), the fixes that check forced, and three upgrades that were roadmap items: the 1 kg hopper, the water bath and the level-wind spooler.</a:t>
            </a:r>
          </a:p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In practice 1 kg of scrap gives a little less than 1 kg of filament: purge, start-up and the tail left in the barrel cost roughly 3–10 % (estimate). Load ≈ 1.05–1.1 kg if you want a full 1 kg spool.</a:t>
            </a:r>
          </a:p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Dimensions marked VERIFY come from catalogue-typical sizes, not from parts in hand – see sheets 19 and 20.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222222"/>
                </a:solidFill>
                <a:latin typeface="Calibri"/>
              </a:rPr>
              <a:t>REV B – WHAT CHANGED AND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Calibri"/>
              </a:rPr>
              <a:t>All dimensions in mm  |  Printed parts PETG/ASA + off-the-shelf hardware, hand-tool assembly  |  Name: Ryan Boe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785"/>
                </a:solidFill>
                <a:latin typeface="Calibri"/>
              </a:rPr>
              <a:t>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822960"/>
          <a:ext cx="11457430" cy="43251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02614"/>
                <a:gridCol w="3193054"/>
                <a:gridCol w="4601755"/>
                <a:gridCol w="2160007"/>
              </a:tblGrid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Rev A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Rev B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Found by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Calibri"/>
                        </a:rPr>
                        <a:t>Hopper (your request)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2.8 L, 32° cone: 0.5 kg at 0.2 g/cm³, would bridge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6.4 L, 60° cone, 2 printed pieces + lid, agitator, stay to the head plate: 1.15 kg at 0.2 g/cm³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capacity + angle + 9 Nm lateral check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Calibri"/>
                        </a:rPr>
                        <a:t>Cooling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425 mm of air; PLA needs ≈ 1 m (0.67 m/min max)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474 mm water bath; strand runs 485 mm under water (needs 52 mm); pump + 10 L bucket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cooling-length check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Calibri"/>
                        </a:rPr>
                        <a:t>Spooler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gearmotor, no level-wind: all filament lands in one 2 mm band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stepper-driven spool + NEMA 17 / T8 level-wind: 1.75 mm per spool turn, ± 28 mm stroke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spool-pack check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Calibri"/>
                        </a:rPr>
                        <a:t>Dancer arm / spool hub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arm cuts the spool (8046 mm³); hub cones cut the plates (3025 mm³)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arm re-placed and swept 15–60°: clear; spring-loaded hub cone, 12 mm retract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mesh-vs-mesh interference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Calibri"/>
                        </a:rPr>
                        <a:t>Puller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idler arm passes through the side plates (1024 mm³)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slot cut, pressure bridge sits on the plates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mesh-vs-mesh interference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Calibri"/>
                        </a:rPr>
                        <a:t>Bearing housing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flange ±26 mm: tie-rod nuts float 1.5 mm in air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flange ±52 mm: nuts bear on it, 7.8 mm edge distance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load-path gap check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Calibri"/>
                        </a:rPr>
                        <a:t>Gearbox / hopper joint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gearbox 2 mm off the wall; hopper sleeve 8 mm above the tee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38.1 mm pilot seat; sleeve rests on the tee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load-path gap check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Calibri"/>
                        </a:rPr>
                        <a:t>Screw torque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19.4 Nm at 1.6 A = 193 MPa core shear (yield 150–170)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1.2 A limit: 14.6 Nm = 145 MPa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stress check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Calibri"/>
                        </a:rPr>
                        <a:t>Printing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fan duct 360 mm does not fit the bed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ducts removed (one throat fan); 28 part files all fit 245 × 245 × 260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bed-fit check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1845 mm, 52 parts, 16 print files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1945 mm, 77 parts, 28 print files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5349240"/>
            <a:ext cx="11457432" cy="100584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5440679"/>
            <a:ext cx="11201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FOUNDATION STAYS THE SAME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5715000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50" b="0">
                <a:solidFill>
                  <a:srgbClr val="222222"/>
                </a:solidFill>
                <a:latin typeface="Calibri"/>
              </a:rPr>
              <a:t>Drive train, screw, barrel, die and heaters are unchanged apart from the lower driver current and the fixes above – the Rev A parts you already ordered still apply. Roadmap items M2 (level-wind), M3 (water bath) and M5 (hopper agitator) moved into the foundation.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222222"/>
                </a:solidFill>
                <a:latin typeface="Calibri"/>
              </a:rPr>
              <a:t>VERIFICATION – DO THE PARTS WORK TOGETHER?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Calibri"/>
              </a:rPr>
              <a:t>All dimensions in mm  |  Printed parts PETG/ASA + off-the-shelf hardware, hand-tool assembly  |  Name: Ryan Boe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785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2240280" cy="100584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A5001E"/>
                </a:solidFill>
                <a:latin typeface="Calibri"/>
              </a:rPr>
              <a:t>18 FAIL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77111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Rev A: 2 WARN; the same checker run on the Rev A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822960"/>
            <a:ext cx="2240280" cy="100584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896112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A5001E"/>
                </a:solidFill>
                <a:latin typeface="Calibri"/>
              </a:rPr>
              <a:t>0 FAIL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277111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Rev B: 41 PASS, 1 WARN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822960"/>
            <a:ext cx="2240280" cy="100584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896112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A5001E"/>
                </a:solidFill>
                <a:latin typeface="Calibri"/>
              </a:rPr>
              <a:t>2926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1277111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part pairs tested for solid overlap (77 parts, 17 intended fits whitelisted)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498079" y="822960"/>
          <a:ext cx="4325111" cy="439826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91171"/>
                <a:gridCol w="2522982"/>
                <a:gridCol w="810958"/>
              </a:tblGrid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Check group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Rev B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222222"/>
                          </a:solidFill>
                          <a:latin typeface="Calibri"/>
                        </a:rPr>
                        <a:t>Interference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boolean volume of every pair of meshes (trimesh + manifold3d)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 pass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222222"/>
                          </a:solidFill>
                          <a:latin typeface="Calibri"/>
                        </a:rPr>
                        <a:t>Load path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nearest-surface gap on every force-carrying contact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12 pass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222222"/>
                          </a:solidFill>
                          <a:latin typeface="Calibri"/>
                        </a:rPr>
                        <a:t>Printing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each part in print orientation vs 245 × 245 × 260 bed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 pass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222222"/>
                          </a:solidFill>
                          <a:latin typeface="Calibri"/>
                        </a:rPr>
                        <a:t>Screw / barrel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radial clearance, cantilever sag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 pass, 1 warn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222222"/>
                          </a:solidFill>
                          <a:latin typeface="Calibri"/>
                        </a:rPr>
                        <a:t>Drive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torque, thrust, rod stress, edge distance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4 pass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222222"/>
                          </a:solidFill>
                          <a:latin typeface="Calibri"/>
                        </a:rPr>
                        <a:t>Process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die pressure at 4 rpm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 pass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222222"/>
                          </a:solidFill>
                          <a:latin typeface="Calibri"/>
                        </a:rPr>
                        <a:t>Cooling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length in water, strand path vs notches, bath heat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4 pass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222222"/>
                          </a:solidFill>
                          <a:latin typeface="Calibri"/>
                        </a:rPr>
                        <a:t>Hopper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cone angle, capacity at 0.2 / 0.3 / 0.4 g/cm³, agitator torque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5 pass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222222"/>
                          </a:solidFill>
                          <a:latin typeface="Calibri"/>
                        </a:rPr>
                        <a:t>Spooler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pack radius, dancer sweep, level-wind travel, cone friction, stepper speed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9 pass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222222"/>
                          </a:solidFill>
                          <a:latin typeface="Calibri"/>
                        </a:rPr>
                        <a:t>Electrical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mains current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 pass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222222"/>
                          </a:solidFill>
                          <a:latin typeface="Calibri"/>
                        </a:rPr>
                        <a:t>Stability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hopper lateral load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 pass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222222"/>
                          </a:solidFill>
                          <a:latin typeface="Calibri"/>
                        </a:rPr>
                        <a:t>Barrel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NPT thread engagement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 pass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1965960"/>
          <a:ext cx="6995160" cy="35661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474720"/>
                <a:gridCol w="352044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Rev A finding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Rev B fix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Spool disc cuts the dancer arm (8046 mm³)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dancer moved, swept 15–60° – no contact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Hub cones cut the spooler plates (3025 mm³)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hub cones redesigned, plates re-spaced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Puller idler arm passes through the side plates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arm slot cut, plates rebuilt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Strand clips the trough walls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sheaves carry strand under the water; notches clear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Housing flange ±26 instead of ±52; rod nuts float 1.5 mm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flange ±52, nuts seat (gap 0.0)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Gearbox 2 mm off the wall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pilot seat Ø38.1 × 2 mm, gap 0.0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Hopper sleeve 8 mm above the tee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sleeve rests on the tee, gap 0.0, stay added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Fan duct 360 mm will not print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ducts removed; everything fits the bed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Screw core 193 MPa at 1.6 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1.2 A limit: 145 MPa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Air path 425 mm, needs 1041 mm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water bath: 485 mm under water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Cone 32°, 2.8 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cone 60°, 6.4 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No level-wind: 1 kg cannot be wound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NEMA 17 / T8 level-wind, 700 µsteps per turn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365760" y="5623560"/>
            <a:ext cx="699516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" y="5715000"/>
            <a:ext cx="67391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ONE WARNING LEFT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5989320"/>
            <a:ext cx="67391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Screw self-weight sag 0.92 mm vs 0.46 mm clearance: the flights rest on the barrel floor – expect slow wear, keep the barrel lubricated with the first purge. Acceptable for a foundation build; M1 (hardened barrel liner) fixes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5440680"/>
            <a:ext cx="4325112" cy="96012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6096" y="5532120"/>
            <a:ext cx="4069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WHAT THIS DOES NOT PROVE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6096" y="5806440"/>
            <a:ext cx="4069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0">
                <a:solidFill>
                  <a:srgbClr val="A5001E"/>
                </a:solidFill>
                <a:latin typeface="Calibri"/>
              </a:rPr>
              <a:t>These are geometry and hand-calculation checks, not FEA or a test run. Bought parts are modelled at catalogue sizes (VERIFY list, sheet 20).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222222"/>
                </a:solidFill>
                <a:latin typeface="Calibri"/>
              </a:rPr>
              <a:t>ASSEMBLY VIEWS – OVERALL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Calibri"/>
              </a:rPr>
              <a:t>All dimensions in mm  |  Printed parts PETG/ASA + off-the-shelf hardware, hand-tool assembly  |  Name: Ryan Boe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785"/>
                </a:solidFill>
                <a:latin typeface="Calibri"/>
              </a:rPr>
              <a:t>4</a:t>
            </a:r>
          </a:p>
        </p:txBody>
      </p:sp>
      <p:pic>
        <p:nvPicPr>
          <p:cNvPr id="5" name="Picture 4" descr="d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170" y="777240"/>
            <a:ext cx="944118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94360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The line is modular: rails of module 1 (895), 2 (540) and 3 (395) are separate pieces, so the machine can be set up in an L-shape or folded later (M7).</a:t>
            </a:r>
          </a:p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The control box can sit anywhere; only the four heater leads, motor cables and the dancer pot lead have to reach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222222"/>
                </a:solidFill>
                <a:latin typeface="Calibri"/>
              </a:rPr>
              <a:t>EXPLODED VIEW – PART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Calibri"/>
              </a:rPr>
              <a:t>All dimensions in mm  |  Printed parts PETG/ASA + off-the-shelf hardware, hand-tool assembly  |  Name: Ryan Boe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785"/>
                </a:solidFill>
                <a:latin typeface="Calibri"/>
              </a:rPr>
              <a:t>5</a:t>
            </a:r>
          </a:p>
        </p:txBody>
      </p:sp>
      <p:pic>
        <p:nvPicPr>
          <p:cNvPr id="5" name="Picture 4" descr="expl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321040" cy="485394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2061918" y="4170361"/>
            <a:ext cx="201168" cy="201168"/>
          </a:xfrm>
          <a:prstGeom prst="ellipse">
            <a:avLst/>
          </a:prstGeom>
          <a:solidFill>
            <a:srgbClr val="A500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2745284" y="4275414"/>
            <a:ext cx="201168" cy="201168"/>
          </a:xfrm>
          <a:prstGeom prst="ellipse">
            <a:avLst/>
          </a:prstGeom>
          <a:solidFill>
            <a:srgbClr val="A500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3003929" y="4356197"/>
            <a:ext cx="201168" cy="201168"/>
          </a:xfrm>
          <a:prstGeom prst="ellipse">
            <a:avLst/>
          </a:prstGeom>
          <a:solidFill>
            <a:srgbClr val="A500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3234145" y="4095471"/>
            <a:ext cx="201168" cy="201168"/>
          </a:xfrm>
          <a:prstGeom prst="ellipse">
            <a:avLst/>
          </a:prstGeom>
          <a:solidFill>
            <a:srgbClr val="A500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" name="Oval 9"/>
          <p:cNvSpPr/>
          <p:nvPr/>
        </p:nvSpPr>
        <p:spPr>
          <a:xfrm>
            <a:off x="3569760" y="3968922"/>
            <a:ext cx="201168" cy="201168"/>
          </a:xfrm>
          <a:prstGeom prst="ellipse">
            <a:avLst/>
          </a:prstGeom>
          <a:solidFill>
            <a:srgbClr val="A500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1" name="Oval 10"/>
          <p:cNvSpPr/>
          <p:nvPr/>
        </p:nvSpPr>
        <p:spPr>
          <a:xfrm>
            <a:off x="3494177" y="4206072"/>
            <a:ext cx="201168" cy="201168"/>
          </a:xfrm>
          <a:prstGeom prst="ellipse">
            <a:avLst/>
          </a:prstGeom>
          <a:solidFill>
            <a:srgbClr val="A500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2" name="Oval 11"/>
          <p:cNvSpPr/>
          <p:nvPr/>
        </p:nvSpPr>
        <p:spPr>
          <a:xfrm>
            <a:off x="3513940" y="4453276"/>
            <a:ext cx="201168" cy="201168"/>
          </a:xfrm>
          <a:prstGeom prst="ellipse">
            <a:avLst/>
          </a:prstGeom>
          <a:solidFill>
            <a:srgbClr val="A500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3" name="Oval 12"/>
          <p:cNvSpPr/>
          <p:nvPr/>
        </p:nvSpPr>
        <p:spPr>
          <a:xfrm>
            <a:off x="3755250" y="4239356"/>
            <a:ext cx="201168" cy="201168"/>
          </a:xfrm>
          <a:prstGeom prst="ellipse">
            <a:avLst/>
          </a:prstGeom>
          <a:solidFill>
            <a:srgbClr val="A500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4" name="Oval 13"/>
          <p:cNvSpPr/>
          <p:nvPr/>
        </p:nvSpPr>
        <p:spPr>
          <a:xfrm>
            <a:off x="3841927" y="4083683"/>
            <a:ext cx="201168" cy="201168"/>
          </a:xfrm>
          <a:prstGeom prst="ellipse">
            <a:avLst/>
          </a:prstGeom>
          <a:solidFill>
            <a:srgbClr val="A500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5" name="Oval 14"/>
          <p:cNvSpPr/>
          <p:nvPr/>
        </p:nvSpPr>
        <p:spPr>
          <a:xfrm>
            <a:off x="4095026" y="4279228"/>
            <a:ext cx="201168" cy="201168"/>
          </a:xfrm>
          <a:prstGeom prst="ellipse">
            <a:avLst/>
          </a:prstGeom>
          <a:solidFill>
            <a:srgbClr val="A500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6" name="Oval 15"/>
          <p:cNvSpPr/>
          <p:nvPr/>
        </p:nvSpPr>
        <p:spPr>
          <a:xfrm>
            <a:off x="4200079" y="4499042"/>
            <a:ext cx="201168" cy="201168"/>
          </a:xfrm>
          <a:prstGeom prst="ellipse">
            <a:avLst/>
          </a:prstGeom>
          <a:solidFill>
            <a:srgbClr val="A500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7" name="Oval 16"/>
          <p:cNvSpPr/>
          <p:nvPr/>
        </p:nvSpPr>
        <p:spPr>
          <a:xfrm>
            <a:off x="4028804" y="4493148"/>
            <a:ext cx="201168" cy="201168"/>
          </a:xfrm>
          <a:prstGeom prst="ellipse">
            <a:avLst/>
          </a:prstGeom>
          <a:solidFill>
            <a:srgbClr val="A500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8" name="Oval 17"/>
          <p:cNvSpPr/>
          <p:nvPr/>
        </p:nvSpPr>
        <p:spPr>
          <a:xfrm>
            <a:off x="5082109" y="4212659"/>
            <a:ext cx="201168" cy="201168"/>
          </a:xfrm>
          <a:prstGeom prst="ellipse">
            <a:avLst/>
          </a:prstGeom>
          <a:solidFill>
            <a:srgbClr val="A500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9" name="Oval 18"/>
          <p:cNvSpPr/>
          <p:nvPr/>
        </p:nvSpPr>
        <p:spPr>
          <a:xfrm>
            <a:off x="4350551" y="4522271"/>
            <a:ext cx="201168" cy="201168"/>
          </a:xfrm>
          <a:prstGeom prst="ellipse">
            <a:avLst/>
          </a:prstGeom>
          <a:solidFill>
            <a:srgbClr val="A500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20" name="Oval 19"/>
          <p:cNvSpPr/>
          <p:nvPr/>
        </p:nvSpPr>
        <p:spPr>
          <a:xfrm>
            <a:off x="4566204" y="4555556"/>
            <a:ext cx="201168" cy="201168"/>
          </a:xfrm>
          <a:prstGeom prst="ellipse">
            <a:avLst/>
          </a:prstGeom>
          <a:solidFill>
            <a:srgbClr val="A500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21" name="Oval 20"/>
          <p:cNvSpPr/>
          <p:nvPr/>
        </p:nvSpPr>
        <p:spPr>
          <a:xfrm>
            <a:off x="4833518" y="4554515"/>
            <a:ext cx="201168" cy="201168"/>
          </a:xfrm>
          <a:prstGeom prst="ellipse">
            <a:avLst/>
          </a:prstGeom>
          <a:solidFill>
            <a:srgbClr val="A500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22" name="Oval 21"/>
          <p:cNvSpPr/>
          <p:nvPr/>
        </p:nvSpPr>
        <p:spPr>
          <a:xfrm>
            <a:off x="4841146" y="4207112"/>
            <a:ext cx="201168" cy="201168"/>
          </a:xfrm>
          <a:prstGeom prst="ellipse">
            <a:avLst/>
          </a:prstGeom>
          <a:solidFill>
            <a:srgbClr val="A500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23" name="Oval 22"/>
          <p:cNvSpPr/>
          <p:nvPr/>
        </p:nvSpPr>
        <p:spPr>
          <a:xfrm>
            <a:off x="4852934" y="3667285"/>
            <a:ext cx="201168" cy="201168"/>
          </a:xfrm>
          <a:prstGeom prst="ellipse">
            <a:avLst/>
          </a:prstGeom>
          <a:solidFill>
            <a:srgbClr val="A500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24" name="Oval 23"/>
          <p:cNvSpPr/>
          <p:nvPr/>
        </p:nvSpPr>
        <p:spPr>
          <a:xfrm>
            <a:off x="4882751" y="2301941"/>
            <a:ext cx="201168" cy="201168"/>
          </a:xfrm>
          <a:prstGeom prst="ellipse">
            <a:avLst/>
          </a:prstGeom>
          <a:solidFill>
            <a:srgbClr val="A500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25" name="Oval 24"/>
          <p:cNvSpPr/>
          <p:nvPr/>
        </p:nvSpPr>
        <p:spPr>
          <a:xfrm>
            <a:off x="4906327" y="1225406"/>
            <a:ext cx="201168" cy="201168"/>
          </a:xfrm>
          <a:prstGeom prst="ellipse">
            <a:avLst/>
          </a:prstGeom>
          <a:solidFill>
            <a:srgbClr val="A500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26" name="Oval 25"/>
          <p:cNvSpPr/>
          <p:nvPr/>
        </p:nvSpPr>
        <p:spPr>
          <a:xfrm>
            <a:off x="4564124" y="3718598"/>
            <a:ext cx="201168" cy="201168"/>
          </a:xfrm>
          <a:prstGeom prst="ellipse">
            <a:avLst/>
          </a:prstGeom>
          <a:solidFill>
            <a:srgbClr val="A500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27" name="Oval 26"/>
          <p:cNvSpPr/>
          <p:nvPr/>
        </p:nvSpPr>
        <p:spPr>
          <a:xfrm>
            <a:off x="5832043" y="4750060"/>
            <a:ext cx="201168" cy="201168"/>
          </a:xfrm>
          <a:prstGeom prst="ellipse">
            <a:avLst/>
          </a:prstGeom>
          <a:solidFill>
            <a:srgbClr val="A500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28" name="Oval 27"/>
          <p:cNvSpPr/>
          <p:nvPr/>
        </p:nvSpPr>
        <p:spPr>
          <a:xfrm>
            <a:off x="6964051" y="4924455"/>
            <a:ext cx="201168" cy="201168"/>
          </a:xfrm>
          <a:prstGeom prst="ellipse">
            <a:avLst/>
          </a:prstGeom>
          <a:solidFill>
            <a:srgbClr val="A500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23</a:t>
            </a:r>
          </a:p>
        </p:txBody>
      </p:sp>
      <p:sp>
        <p:nvSpPr>
          <p:cNvPr id="29" name="Oval 28"/>
          <p:cNvSpPr/>
          <p:nvPr/>
        </p:nvSpPr>
        <p:spPr>
          <a:xfrm>
            <a:off x="7147114" y="4952538"/>
            <a:ext cx="201168" cy="201168"/>
          </a:xfrm>
          <a:prstGeom prst="ellipse">
            <a:avLst/>
          </a:prstGeom>
          <a:solidFill>
            <a:srgbClr val="A500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24</a:t>
            </a:r>
          </a:p>
        </p:txBody>
      </p:sp>
      <p:sp>
        <p:nvSpPr>
          <p:cNvPr id="30" name="Oval 29"/>
          <p:cNvSpPr/>
          <p:nvPr/>
        </p:nvSpPr>
        <p:spPr>
          <a:xfrm>
            <a:off x="5977661" y="4605135"/>
            <a:ext cx="201168" cy="201168"/>
          </a:xfrm>
          <a:prstGeom prst="ellipse">
            <a:avLst/>
          </a:prstGeom>
          <a:solidFill>
            <a:srgbClr val="A500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25</a:t>
            </a:r>
          </a:p>
        </p:txBody>
      </p:sp>
      <p:sp>
        <p:nvSpPr>
          <p:cNvPr id="31" name="Oval 30"/>
          <p:cNvSpPr/>
          <p:nvPr/>
        </p:nvSpPr>
        <p:spPr>
          <a:xfrm>
            <a:off x="6057057" y="4775716"/>
            <a:ext cx="201168" cy="201168"/>
          </a:xfrm>
          <a:prstGeom prst="ellipse">
            <a:avLst/>
          </a:prstGeom>
          <a:solidFill>
            <a:srgbClr val="A500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26</a:t>
            </a:r>
          </a:p>
        </p:txBody>
      </p:sp>
      <p:sp>
        <p:nvSpPr>
          <p:cNvPr id="32" name="Oval 31"/>
          <p:cNvSpPr/>
          <p:nvPr/>
        </p:nvSpPr>
        <p:spPr>
          <a:xfrm>
            <a:off x="6035215" y="4175215"/>
            <a:ext cx="201168" cy="201168"/>
          </a:xfrm>
          <a:prstGeom prst="ellipse">
            <a:avLst/>
          </a:prstGeom>
          <a:solidFill>
            <a:srgbClr val="A500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27</a:t>
            </a:r>
          </a:p>
        </p:txBody>
      </p:sp>
      <p:sp>
        <p:nvSpPr>
          <p:cNvPr id="33" name="Oval 32"/>
          <p:cNvSpPr/>
          <p:nvPr/>
        </p:nvSpPr>
        <p:spPr>
          <a:xfrm>
            <a:off x="4896619" y="4732378"/>
            <a:ext cx="201168" cy="201168"/>
          </a:xfrm>
          <a:prstGeom prst="ellipse">
            <a:avLst/>
          </a:prstGeom>
          <a:solidFill>
            <a:srgbClr val="A500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28</a:t>
            </a:r>
          </a:p>
        </p:txBody>
      </p:sp>
      <p:sp>
        <p:nvSpPr>
          <p:cNvPr id="34" name="Oval 33"/>
          <p:cNvSpPr/>
          <p:nvPr/>
        </p:nvSpPr>
        <p:spPr>
          <a:xfrm>
            <a:off x="4763829" y="4643967"/>
            <a:ext cx="201168" cy="201168"/>
          </a:xfrm>
          <a:prstGeom prst="ellipse">
            <a:avLst/>
          </a:prstGeom>
          <a:solidFill>
            <a:srgbClr val="A500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29</a:t>
            </a:r>
          </a:p>
        </p:txBody>
      </p:sp>
      <p:sp>
        <p:nvSpPr>
          <p:cNvPr id="35" name="Oval 34"/>
          <p:cNvSpPr/>
          <p:nvPr/>
        </p:nvSpPr>
        <p:spPr>
          <a:xfrm>
            <a:off x="4174075" y="3929051"/>
            <a:ext cx="201168" cy="201168"/>
          </a:xfrm>
          <a:prstGeom prst="ellipse">
            <a:avLst/>
          </a:prstGeom>
          <a:solidFill>
            <a:srgbClr val="A500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36" name="Oval 35"/>
          <p:cNvSpPr/>
          <p:nvPr/>
        </p:nvSpPr>
        <p:spPr>
          <a:xfrm>
            <a:off x="4072489" y="4964673"/>
            <a:ext cx="201168" cy="201168"/>
          </a:xfrm>
          <a:prstGeom prst="ellipse">
            <a:avLst/>
          </a:prstGeom>
          <a:solidFill>
            <a:srgbClr val="A500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31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32520" y="868680"/>
            <a:ext cx="3017520" cy="544068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0536" y="960120"/>
            <a:ext cx="276148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PARTS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0536" y="1234440"/>
            <a:ext cx="2761487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1   NEMA 23 stepper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2   Planetary gearbox 20:1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3   Motor wall (printed)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4   Clamp coupler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5   Spindle ½ in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6   R8 bearings (2)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7   Bearing housing + thrust flange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8   Thrust bearing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9   Shaft collar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10   13 mm chuck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11   M8 tie rods (4)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12   Head plate (printed)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13   Auger screw Ø20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14   Floor flange 3/4 NPT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15   Close nipple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16   Pipe tee (feed port)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17   Feed nipple 2 in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18   Hopper cone + sleeve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19   Hopper drum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20   Lid frame + agitator mount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21   Stay clamp to head plate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22   Barrel nipple 12 in SS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23   Cap (die body)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24   Die plug Ø2.2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25   Band heaters (4)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26   Thermocouples (4)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27   Heat guard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28   Barrel strap + post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29   Feed-throat fan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30   Dust slinger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31   2020 rails</a:t>
            </a:r>
          </a:p>
          <a:p>
            <a:pPr>
              <a:spcAft>
                <a:spcPts val="0"/>
              </a:spcAft>
            </a:pPr>
            <a:r>
              <a:rPr sz="800" b="0">
                <a:solidFill>
                  <a:srgbClr val="6B7785"/>
                </a:solidFill>
                <a:latin typeface="Calibri"/>
              </a:rPr>
              <a:t>Not shown: control box, water bath, puller, dancer, level-wind, spooler (sheets 12, 13, 15).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581406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Exploded along the screw axis; the hopper is lifted in three pieces (cone, drum, lid frame), heater bands, guard and screw are lifted for clarity.</a:t>
            </a:r>
          </a:p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Orange = 3D-printed, grey = bought hardware, dark = heaters / motors. Thrust is carried by 8-9-10-5-7-11-12 and the four rods (sheet 10).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222222"/>
                </a:solidFill>
                <a:latin typeface="Calibri"/>
              </a:rPr>
              <a:t>1 KG HOPPER – 1 KG OF SCRAP IN, 1 KG ON THE SPOOL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Calibri"/>
              </a:rPr>
              <a:t>All dimensions in mm  |  Printed parts PETG/ASA + off-the-shelf hardware, hand-tool assembly  |  Name: Ryan Boe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785"/>
                </a:solidFill>
                <a:latin typeface="Calibri"/>
              </a:rPr>
              <a:t>6</a:t>
            </a:r>
          </a:p>
        </p:txBody>
      </p:sp>
      <p:pic>
        <p:nvPicPr>
          <p:cNvPr id="5" name="Picture 4" descr="d_hop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71258"/>
            <a:ext cx="3977639" cy="5035522"/>
          </a:xfrm>
          <a:prstGeom prst="rect">
            <a:avLst/>
          </a:prstGeom>
        </p:spPr>
      </p:pic>
      <p:pic>
        <p:nvPicPr>
          <p:cNvPr id="6" name="Picture 5" descr="d_hop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777977"/>
            <a:ext cx="4206240" cy="223880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778240" y="777240"/>
            <a:ext cx="2971800" cy="105156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15400" y="850392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A5001E"/>
                </a:solidFill>
                <a:latin typeface="Calibri"/>
              </a:rPr>
              <a:t>6.4 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231392"/>
            <a:ext cx="2697480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gross volume; 90 % fill = 5.8 L = 1.0 kg at 0.174 g/cm³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1920240"/>
            <a:ext cx="2971800" cy="105156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1993392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A5001E"/>
                </a:solidFill>
                <a:latin typeface="Calibri"/>
              </a:rPr>
              <a:t>60°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2374392"/>
            <a:ext cx="2697480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cone wall angle from horizontal (Rev A: 32°) – flakes slide instead of bridging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3108960"/>
            <a:ext cx="4206240" cy="329184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5" y="3200400"/>
            <a:ext cx="395020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WHY IT HOLDS 1 KG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5" y="3474720"/>
            <a:ext cx="3950207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•  Fluffy ground bottles / film flake is 0.15–0.25 g/cm³; dense chips 0.3–0.4. At 90 % fill the hopper holds 1.15 kg at 0.2, 1.7 kg at 0.3, 2.3 kg at 0.4 g/cm³.</a:t>
            </a:r>
          </a:p>
          <a:p>
            <a:pPr marL="146304" indent="-146304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•  Ø236.8 × 120 drum over a 160 mm, 60° cone.</a:t>
            </a:r>
          </a:p>
          <a:p>
            <a:pPr marL="146304" indent="-146304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•  The paddle agitator sweeps the cone wall at 12 rpm (24 V gearmotor, ≈ 0.2 Nm needed) to break bridges.</a:t>
            </a:r>
          </a:p>
          <a:p>
            <a:pPr marL="146304" indent="-146304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•  Two ears bolt the sleeve to the head plate – the hopper no longer levers on the NPT tee (9 Nm → 0).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3108960"/>
            <a:ext cx="2971800" cy="329184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6256" y="3200400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PRINTING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06256" y="3474720"/>
            <a:ext cx="2715768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•  P05 lower cone: print upside down, 3 walls.</a:t>
            </a:r>
          </a:p>
          <a:p>
            <a:pPr marL="146304" indent="-146304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•  P06 drum: upright, 3 walls.</a:t>
            </a:r>
          </a:p>
          <a:p>
            <a:pPr marL="146304" indent="-146304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•  P07 lid frame upright; P08 lid halves ×2.</a:t>
            </a:r>
          </a:p>
          <a:p>
            <a:pPr marL="146304" indent="-146304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•  8 × M4 bolts join drum and cone; add a gasket of 1 mm foam tape.</a:t>
            </a:r>
          </a:p>
          <a:p>
            <a:pPr marL="146304" indent="-146304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•  P09 stay clamp upside down; P10 agitator paddle.</a:t>
            </a:r>
          </a:p>
          <a:p>
            <a:pPr marL="146304" indent="-146304">
              <a:spcAft>
                <a:spcPts val="300"/>
              </a:spcAft>
            </a:pPr>
            <a:r>
              <a:rPr sz="900" b="0">
                <a:solidFill>
                  <a:srgbClr val="A5001E"/>
                </a:solidFill>
                <a:latin typeface="Calibri"/>
              </a:rPr>
              <a:t>•  Keep the lid on: it stops flakes from being sucked into the motor and keeps dust down.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222222"/>
                </a:solidFill>
                <a:latin typeface="Calibri"/>
              </a:rPr>
              <a:t>PROCESS + MATERIAL SETTINGS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Calibri"/>
              </a:rPr>
              <a:t>All dimensions in mm  |  Printed parts PETG/ASA + off-the-shelf hardware, hand-tool assembly  |  Name: Ryan Boe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785"/>
                </a:solidFill>
                <a:latin typeface="Calibri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15568" cy="566928"/>
          </a:xfrm>
          <a:prstGeom prst="rect">
            <a:avLst/>
          </a:prstGeom>
          <a:solidFill>
            <a:srgbClr val="F5F5F5"/>
          </a:solidFill>
          <a:ln w="1143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222222"/>
                </a:solidFill>
                <a:latin typeface="Calibri"/>
              </a:rPr>
              <a:t>Scrap</a:t>
            </a:r>
          </a:p>
          <a:p>
            <a:pPr algn="ctr"/>
            <a:r>
              <a:rPr sz="900" b="0">
                <a:solidFill>
                  <a:srgbClr val="222222"/>
                </a:solidFill>
                <a:latin typeface="Calibri"/>
              </a:rPr>
              <a:t>flakes ≤ 4 mm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72768" y="1197864"/>
            <a:ext cx="146304" cy="0"/>
          </a:xfrm>
          <a:prstGeom prst="line">
            <a:avLst/>
          </a:prstGeom>
          <a:ln w="19050">
            <a:solidFill>
              <a:srgbClr val="A500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719072" y="914400"/>
            <a:ext cx="1115568" cy="566928"/>
          </a:xfrm>
          <a:prstGeom prst="rect">
            <a:avLst/>
          </a:prstGeom>
          <a:solidFill>
            <a:srgbClr val="F5F5F5"/>
          </a:solidFill>
          <a:ln w="1143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222222"/>
                </a:solidFill>
                <a:latin typeface="Calibri"/>
              </a:rPr>
              <a:t>Dry</a:t>
            </a:r>
          </a:p>
          <a:p>
            <a:pPr algn="ctr"/>
            <a:r>
              <a:rPr sz="900" b="0">
                <a:solidFill>
                  <a:srgbClr val="222222"/>
                </a:solidFill>
                <a:latin typeface="Calibri"/>
              </a:rPr>
              <a:t>(per material)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39" y="1197864"/>
            <a:ext cx="146305" cy="0"/>
          </a:xfrm>
          <a:prstGeom prst="line">
            <a:avLst/>
          </a:prstGeom>
          <a:ln w="19050">
            <a:solidFill>
              <a:srgbClr val="A500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80944" y="914400"/>
            <a:ext cx="1115568" cy="566928"/>
          </a:xfrm>
          <a:prstGeom prst="rect">
            <a:avLst/>
          </a:prstGeom>
          <a:solidFill>
            <a:srgbClr val="F5F5F5"/>
          </a:solidFill>
          <a:ln w="1143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222222"/>
                </a:solidFill>
                <a:latin typeface="Calibri"/>
              </a:rPr>
              <a:t>Hopper 6.4 L</a:t>
            </a:r>
          </a:p>
          <a:p>
            <a:pPr algn="ctr"/>
            <a:r>
              <a:rPr sz="900" b="0">
                <a:solidFill>
                  <a:srgbClr val="222222"/>
                </a:solidFill>
                <a:latin typeface="Calibri"/>
              </a:rPr>
              <a:t>+ agitator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96511" y="1197864"/>
            <a:ext cx="146305" cy="0"/>
          </a:xfrm>
          <a:prstGeom prst="line">
            <a:avLst/>
          </a:prstGeom>
          <a:ln w="19050">
            <a:solidFill>
              <a:srgbClr val="A500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242816" y="914400"/>
            <a:ext cx="1115568" cy="566928"/>
          </a:xfrm>
          <a:prstGeom prst="rect">
            <a:avLst/>
          </a:prstGeom>
          <a:solidFill>
            <a:srgbClr val="F5F5F5"/>
          </a:solidFill>
          <a:ln w="1143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222222"/>
                </a:solidFill>
                <a:latin typeface="Calibri"/>
              </a:rPr>
              <a:t>Screw + barrel</a:t>
            </a:r>
          </a:p>
          <a:p>
            <a:pPr algn="ctr"/>
            <a:r>
              <a:rPr sz="900" b="0">
                <a:solidFill>
                  <a:srgbClr val="222222"/>
                </a:solidFill>
                <a:latin typeface="Calibri"/>
              </a:rPr>
              <a:t>4 PID zones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58383" y="1197864"/>
            <a:ext cx="146305" cy="0"/>
          </a:xfrm>
          <a:prstGeom prst="line">
            <a:avLst/>
          </a:prstGeom>
          <a:ln w="19050">
            <a:solidFill>
              <a:srgbClr val="A500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504688" y="914400"/>
            <a:ext cx="1115568" cy="566928"/>
          </a:xfrm>
          <a:prstGeom prst="rect">
            <a:avLst/>
          </a:prstGeom>
          <a:solidFill>
            <a:srgbClr val="F5F5F5"/>
          </a:solidFill>
          <a:ln w="1143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222222"/>
                </a:solidFill>
                <a:latin typeface="Calibri"/>
              </a:rPr>
              <a:t>Die Ø2.2</a:t>
            </a:r>
          </a:p>
          <a:p>
            <a:pPr algn="ctr"/>
            <a:r>
              <a:rPr sz="900" b="0">
                <a:solidFill>
                  <a:srgbClr val="222222"/>
                </a:solidFill>
                <a:latin typeface="Calibri"/>
              </a:rPr>
              <a:t>+ filter screen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620255" y="1197864"/>
            <a:ext cx="146304" cy="0"/>
          </a:xfrm>
          <a:prstGeom prst="line">
            <a:avLst/>
          </a:prstGeom>
          <a:ln w="19050">
            <a:solidFill>
              <a:srgbClr val="A500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766559" y="914400"/>
            <a:ext cx="1115568" cy="566928"/>
          </a:xfrm>
          <a:prstGeom prst="rect">
            <a:avLst/>
          </a:prstGeom>
          <a:solidFill>
            <a:srgbClr val="F5F5F5"/>
          </a:solidFill>
          <a:ln w="1143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222222"/>
                </a:solidFill>
                <a:latin typeface="Calibri"/>
              </a:rPr>
              <a:t>Water bath</a:t>
            </a:r>
          </a:p>
          <a:p>
            <a:pPr algn="ctr"/>
            <a:r>
              <a:rPr sz="900" b="0">
                <a:solidFill>
                  <a:srgbClr val="222222"/>
                </a:solidFill>
                <a:latin typeface="Calibri"/>
              </a:rPr>
              <a:t>+ puller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82127" y="1197864"/>
            <a:ext cx="146304" cy="0"/>
          </a:xfrm>
          <a:prstGeom prst="line">
            <a:avLst/>
          </a:prstGeom>
          <a:ln w="19050">
            <a:solidFill>
              <a:srgbClr val="A500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028431" y="914400"/>
            <a:ext cx="1115568" cy="566928"/>
          </a:xfrm>
          <a:prstGeom prst="rect">
            <a:avLst/>
          </a:prstGeom>
          <a:solidFill>
            <a:srgbClr val="F5F5F5"/>
          </a:solidFill>
          <a:ln w="1143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222222"/>
                </a:solidFill>
                <a:latin typeface="Calibri"/>
              </a:rPr>
              <a:t>Dancer arm</a:t>
            </a:r>
          </a:p>
          <a:p>
            <a:pPr algn="ctr"/>
            <a:r>
              <a:rPr sz="900" b="0">
                <a:solidFill>
                  <a:srgbClr val="222222"/>
                </a:solidFill>
                <a:latin typeface="Calibri"/>
              </a:rPr>
              <a:t>+ level-wind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0" y="1197864"/>
            <a:ext cx="146304" cy="0"/>
          </a:xfrm>
          <a:prstGeom prst="line">
            <a:avLst/>
          </a:prstGeom>
          <a:ln w="19050">
            <a:solidFill>
              <a:srgbClr val="A500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290304" y="914400"/>
            <a:ext cx="1115568" cy="566928"/>
          </a:xfrm>
          <a:prstGeom prst="rect">
            <a:avLst/>
          </a:prstGeom>
          <a:solidFill>
            <a:srgbClr val="F5F5F5"/>
          </a:solidFill>
          <a:ln w="1143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222222"/>
                </a:solidFill>
                <a:latin typeface="Calibri"/>
              </a:rPr>
              <a:t>Spool stepper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405872" y="1197864"/>
            <a:ext cx="146304" cy="0"/>
          </a:xfrm>
          <a:prstGeom prst="line">
            <a:avLst/>
          </a:prstGeom>
          <a:ln w="19050">
            <a:solidFill>
              <a:srgbClr val="A500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0552176" y="914400"/>
            <a:ext cx="1115568" cy="566928"/>
          </a:xfrm>
          <a:prstGeom prst="rect">
            <a:avLst/>
          </a:prstGeom>
          <a:solidFill>
            <a:srgbClr val="F5F5F5"/>
          </a:solidFill>
          <a:ln w="1143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222222"/>
                </a:solidFill>
                <a:latin typeface="Calibri"/>
              </a:rPr>
              <a:t>1 kg spool</a:t>
            </a:r>
          </a:p>
          <a:p>
            <a:pPr algn="ctr"/>
            <a:r>
              <a:rPr sz="900" b="0">
                <a:solidFill>
                  <a:srgbClr val="222222"/>
                </a:solidFill>
                <a:latin typeface="Calibri"/>
              </a:rPr>
              <a:t>≈ 335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6916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22222"/>
                </a:solidFill>
                <a:latin typeface="Calibri"/>
              </a:rPr>
              <a:t>STARTING SETPOINTS (°C) – tune with the first test strand; thermocouples read under the band, so the melt is a few degrees cooler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57200" y="1965960"/>
          <a:ext cx="11274547" cy="217627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11170"/>
                <a:gridCol w="657260"/>
                <a:gridCol w="505585"/>
                <a:gridCol w="505585"/>
                <a:gridCol w="758377"/>
                <a:gridCol w="1567314"/>
                <a:gridCol w="1617872"/>
                <a:gridCol w="4651384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Material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Z1 (feed)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Z2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Z3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Z4 / die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Dry before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Cooling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Calibri"/>
                        </a:rPr>
                        <a:t>PLA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150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170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185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190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45–50 °C, 4 h if damp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bath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easiest first run; mixes of colours give a muddy but fine filament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Calibri"/>
                        </a:rPr>
                        <a:t>PETG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190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215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230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235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65 °C, 4–6 h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bath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wet PETG foams and breaks – dry it; slightly stringy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Calibri"/>
                        </a:rPr>
                        <a:t>ABS / ASA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190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210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225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230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80 °C, 2–4 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bath, short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fumes: ventilate. Print-scrap ABS shrinks – keep drawdown 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Calibri"/>
                        </a:rPr>
                        <a:t>TPU 95A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185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205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60 °C, 4 h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bath, slow (≤ 0.6 m/min)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soft: use the puller pressure spring lightly; screw ≤ 3 rpm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Calibri"/>
                        </a:rPr>
                        <a:t>PET (bottles)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230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250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265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270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120–160 °C, ≥ 4 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bath + fast quench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hard mode: needs drying + fast quench or it turns brittle / hazy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Calibri"/>
                        </a:rPr>
                        <a:t>PP / HDPE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165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185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205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bath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slippery on the screw; shrinks on cooling – wide tolerance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457200" y="4343400"/>
            <a:ext cx="5532120" cy="201168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" y="4434840"/>
            <a:ext cx="52760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RULES THAT SAVE A RUN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" y="4709160"/>
            <a:ext cx="527608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Aft>
                <a:spcPts val="300"/>
              </a:spcAft>
            </a:pPr>
            <a:r>
              <a:rPr b="1" sz="950">
                <a:solidFill>
                  <a:srgbClr val="222222"/>
                </a:solidFill>
                <a:latin typeface="Calibri"/>
              </a:rPr>
              <a:t>•  Flakes ≤ 4 mm, no dust.</a:t>
            </a:r>
            <a:r>
              <a:rPr sz="950">
                <a:solidFill>
                  <a:srgbClr val="222222"/>
                </a:solidFill>
                <a:latin typeface="Calibri"/>
              </a:rPr>
              <a:t> Fines melt first and clog the screen; sieve them out or mix back in small amounts.</a:t>
            </a:r>
          </a:p>
          <a:p>
            <a:pPr marL="146304" indent="-146304">
              <a:spcAft>
                <a:spcPts val="300"/>
              </a:spcAft>
            </a:pPr>
            <a:r>
              <a:rPr b="1" sz="950">
                <a:solidFill>
                  <a:srgbClr val="222222"/>
                </a:solidFill>
                <a:latin typeface="Calibri"/>
              </a:rPr>
              <a:t>•  One material and one colour family per batch.</a:t>
            </a:r>
            <a:r>
              <a:rPr sz="950">
                <a:solidFill>
                  <a:srgbClr val="222222"/>
                </a:solidFill>
                <a:latin typeface="Calibri"/>
              </a:rPr>
              <a:t> Mixed polymers (PLA + PETG) will not make good filament.</a:t>
            </a:r>
          </a:p>
          <a:p>
            <a:pPr marL="146304" indent="-146304">
              <a:spcAft>
                <a:spcPts val="300"/>
              </a:spcAft>
            </a:pPr>
            <a:r>
              <a:rPr b="1" sz="950">
                <a:solidFill>
                  <a:srgbClr val="222222"/>
                </a:solidFill>
                <a:latin typeface="Calibri"/>
              </a:rPr>
              <a:t>•  Dry what you can.</a:t>
            </a:r>
            <a:r>
              <a:rPr sz="950">
                <a:solidFill>
                  <a:srgbClr val="222222"/>
                </a:solidFill>
                <a:latin typeface="Calibri"/>
              </a:rPr>
              <a:t> 1 kg of damp PETG is the #1 reason for bubbles and diameter swings.</a:t>
            </a:r>
          </a:p>
          <a:p>
            <a:pPr marL="146304" indent="-146304">
              <a:spcAft>
                <a:spcPts val="300"/>
              </a:spcAft>
            </a:pPr>
            <a:r>
              <a:rPr b="1" sz="950">
                <a:solidFill>
                  <a:srgbClr val="222222"/>
                </a:solidFill>
                <a:latin typeface="Calibri"/>
              </a:rPr>
              <a:t>•  Purge between materials</a:t>
            </a:r>
            <a:r>
              <a:rPr sz="950">
                <a:solidFill>
                  <a:srgbClr val="222222"/>
                </a:solidFill>
                <a:latin typeface="Calibri"/>
              </a:rPr>
              <a:t> with the lower-temperature one, then raise the zones.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4343400"/>
            <a:ext cx="5559552" cy="201168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0216" y="443484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HARD LIMIT FOR PHASE 1: 280 °C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216" y="4709160"/>
            <a:ext cx="5303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Aft>
                <a:spcPts val="300"/>
              </a:spcAft>
            </a:pPr>
            <a:r>
              <a:rPr sz="950" b="0">
                <a:solidFill>
                  <a:srgbClr val="222222"/>
                </a:solidFill>
                <a:latin typeface="Calibri"/>
              </a:rPr>
              <a:t>•  Band heaters, thermocouples and PTFE/silicone wiring are all chosen for ≤ 280–300 °C.</a:t>
            </a:r>
          </a:p>
          <a:p>
            <a:pPr marL="146304" indent="-146304">
              <a:spcAft>
                <a:spcPts val="300"/>
              </a:spcAft>
            </a:pPr>
            <a:r>
              <a:rPr sz="950" b="0">
                <a:solidFill>
                  <a:srgbClr val="222222"/>
                </a:solidFill>
                <a:latin typeface="Calibri"/>
              </a:rPr>
              <a:t>•  Printed parts must stay below ≈ 70 °C (PETG) – check the head plate and bearing housing with an IR thermometer on the first PET run.</a:t>
            </a:r>
          </a:p>
          <a:p>
            <a:pPr marL="146304" indent="-146304">
              <a:spcAft>
                <a:spcPts val="300"/>
              </a:spcAft>
            </a:pPr>
            <a:r>
              <a:rPr sz="950" b="0">
                <a:solidFill>
                  <a:srgbClr val="222222"/>
                </a:solidFill>
                <a:latin typeface="Calibri"/>
              </a:rPr>
              <a:t>•  PC, nylon 66, PEI and the like need ≥ 290 °C: not in scope.</a:t>
            </a:r>
          </a:p>
          <a:p>
            <a:pPr marL="146304" indent="-146304">
              <a:spcAft>
                <a:spcPts val="300"/>
              </a:spcAft>
            </a:pPr>
            <a:r>
              <a:rPr sz="950" b="0">
                <a:solidFill>
                  <a:srgbClr val="A5001E"/>
                </a:solidFill>
                <a:latin typeface="Calibri"/>
              </a:rPr>
              <a:t>•  Temperatures here are typical extrusion values, not measured on this machine – VERIFY on the first run.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222222"/>
                </a:solidFill>
                <a:latin typeface="Calibri"/>
              </a:rPr>
              <a:t>SCREW + BARREL – SECTION THROUGH THE SCREW AXIS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Calibri"/>
              </a:rPr>
              <a:t>All dimensions in mm  |  Printed parts PETG/ASA + off-the-shelf hardware, hand-tool assembly  |  Name: Ryan Boe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785"/>
                </a:solidFill>
                <a:latin typeface="Calibri"/>
              </a:rPr>
              <a:t>8</a:t>
            </a:r>
          </a:p>
        </p:txBody>
      </p:sp>
      <p:pic>
        <p:nvPicPr>
          <p:cNvPr id="5" name="Picture 4" descr="d_barr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77240"/>
            <a:ext cx="11274552" cy="36206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4471081"/>
            <a:ext cx="6949440" cy="1929718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4562521"/>
            <a:ext cx="669340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DESIGN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4836841"/>
            <a:ext cx="6693407" cy="14725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Aft>
                <a:spcPts val="300"/>
              </a:spcAft>
            </a:pPr>
            <a:r>
              <a:rPr b="1" sz="900">
                <a:solidFill>
                  <a:srgbClr val="222222"/>
                </a:solidFill>
                <a:latin typeface="Calibri"/>
              </a:rPr>
              <a:t>•  Barrel:</a:t>
            </a:r>
            <a:r>
              <a:rPr sz="900">
                <a:solidFill>
                  <a:srgbClr val="222222"/>
                </a:solidFill>
                <a:latin typeface="Calibri"/>
              </a:rPr>
              <a:t> 3/4 in Sch 40 stainless nipple (ID 20.93) over a Ø20.0 screw – 0.47 mm radial clearance; a wood-type auger wears, so plan on replacing it (M1).</a:t>
            </a:r>
          </a:p>
          <a:p>
            <a:pPr marL="146304" indent="-146304">
              <a:spcAft>
                <a:spcPts val="300"/>
              </a:spcAft>
            </a:pPr>
            <a:r>
              <a:rPr b="1" sz="900">
                <a:solidFill>
                  <a:srgbClr val="222222"/>
                </a:solidFill>
                <a:latin typeface="Calibri"/>
              </a:rPr>
              <a:t>•  Everything is threaded pipe:</a:t>
            </a:r>
            <a:r>
              <a:rPr sz="900">
                <a:solidFill>
                  <a:srgbClr val="222222"/>
                </a:solidFill>
                <a:latin typeface="Calibri"/>
              </a:rPr>
              <a:t> flange → close nipple → tee → 12 in nipple → cap. PTFE tape on the cold joints, nickel anti-seize on the hot end; re-tighten once after the first heat cycle.</a:t>
            </a:r>
          </a:p>
          <a:p>
            <a:pPr marL="146304" indent="-146304">
              <a:spcAft>
                <a:spcPts val="300"/>
              </a:spcAft>
            </a:pPr>
            <a:r>
              <a:rPr b="1" sz="900">
                <a:solidFill>
                  <a:srgbClr val="222222"/>
                </a:solidFill>
                <a:latin typeface="Calibri"/>
              </a:rPr>
              <a:t>•  Screw prep with hand tools:</a:t>
            </a:r>
            <a:r>
              <a:rPr sz="900">
                <a:solidFill>
                  <a:srgbClr val="222222"/>
                </a:solidFill>
                <a:latin typeface="Calibri"/>
              </a:rPr>
              <a:t> hacksaw ~30 mm off the lead tip, file the end round, polish the flights 400 → 2000 grit so plastic does not stick. Confirm 7/16 in hex shank and ≈ 8 mm core (VERIFY).</a:t>
            </a:r>
          </a:p>
          <a:p>
            <a:pPr marL="146304" indent="-146304">
              <a:spcAft>
                <a:spcPts val="300"/>
              </a:spcAft>
            </a:pPr>
            <a:r>
              <a:rPr b="1" sz="900">
                <a:solidFill>
                  <a:srgbClr val="222222"/>
                </a:solidFill>
                <a:latin typeface="Calibri"/>
              </a:rPr>
              <a:t>•  Heat:</a:t>
            </a:r>
            <a:r>
              <a:rPr sz="900">
                <a:solidFill>
                  <a:srgbClr val="222222"/>
                </a:solidFill>
                <a:latin typeface="Calibri"/>
              </a:rPr>
              <a:t> bands are 28 mm ID on a 26.67 mm OD barrel – wrap 0.2 mm aluminium shim for contact; clamp each thermocouple under the band edge. Cold feed zone (89 mm) + small fan keeps flakes from melting in the throat.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589520" y="4516801"/>
          <a:ext cx="4142230" cy="12801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97067"/>
                <a:gridCol w="828446"/>
                <a:gridCol w="662757"/>
                <a:gridCol w="2153960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Zone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X (mm)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Power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Calibri"/>
                        </a:rPr>
                        <a:t>Z1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413–463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200 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soften, still solid-conveying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Calibri"/>
                        </a:rPr>
                        <a:t>Z2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468–518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200 W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melt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Calibri"/>
                        </a:rPr>
                        <a:t>Z3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523–573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200 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homogenise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Calibri"/>
                        </a:rPr>
                        <a:t>Z4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578–628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200 W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die zone, sets output temp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589520" y="5888401"/>
            <a:ext cx="4114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785"/>
                </a:solidFill>
                <a:latin typeface="Calibri"/>
              </a:rPr>
              <a:t>Total heater power 800 W at 120 V = 6.7 A. Ideal warm-up 112 kJ → ≈ 2.5 min; plan on 8–12 min with losses.</a:t>
            </a:r>
          </a:p>
          <a:p>
            <a:pPr algn="l"/>
            <a:r>
              <a:rPr sz="900" b="0" i="0">
                <a:solidFill>
                  <a:srgbClr val="6B7785"/>
                </a:solidFill>
                <a:latin typeface="Calibri"/>
              </a:rPr>
              <a:t>Steady running needs only ≈ 150–250 W (melt load is 20–40 W, the rest is loss).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222222"/>
                </a:solidFill>
                <a:latin typeface="Calibri"/>
              </a:rPr>
              <a:t>DIE +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Calibri"/>
              </a:rPr>
              <a:t>All dimensions in mm  |  Printed parts PETG/ASA + off-the-shelf hardware, hand-tool assembly  |  Name: Ryan Boe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785"/>
                </a:solidFill>
                <a:latin typeface="Calibri"/>
              </a:rPr>
              <a:t>9</a:t>
            </a:r>
          </a:p>
        </p:txBody>
      </p:sp>
      <p:pic>
        <p:nvPicPr>
          <p:cNvPr id="5" name="Picture 4" descr="d_d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5852160" cy="3383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37960" y="868680"/>
            <a:ext cx="2514600" cy="100584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941832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A5001E"/>
                </a:solidFill>
                <a:latin typeface="Calibri"/>
              </a:rPr>
              <a:t>1.6 MPa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291082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estimated die pressure at 4 rpm (η = 1000 Pa·s, Ø2.2 × 14 land); ×2–3 with a loaded screen</a:t>
            </a:r>
          </a:p>
        </p:txBody>
      </p:sp>
      <p:sp>
        <p:nvSpPr>
          <p:cNvPr id="9" name="Rectangle 8"/>
          <p:cNvSpPr/>
          <p:nvPr/>
        </p:nvSpPr>
        <p:spPr>
          <a:xfrm>
            <a:off x="9189720" y="868680"/>
            <a:ext cx="2542032" cy="100584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0" y="941832"/>
            <a:ext cx="22677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A5001E"/>
                </a:solidFill>
                <a:latin typeface="Calibri"/>
              </a:rPr>
              <a:t>1.58 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291082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draw-down: puller runs 1.6× faster than the strand leaves the Ø2.2 die (plus die swell)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2011680"/>
            <a:ext cx="5193792" cy="434340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65976" y="2103120"/>
            <a:ext cx="49377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BUILDING THE DIE WITH HAND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5976" y="2377440"/>
            <a:ext cx="4937759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Aft>
                <a:spcPts val="300"/>
              </a:spcAft>
            </a:pPr>
            <a:r>
              <a:rPr b="1" sz="950">
                <a:solidFill>
                  <a:srgbClr val="222222"/>
                </a:solidFill>
                <a:latin typeface="Calibri"/>
              </a:rPr>
              <a:t>•  Die plug:</a:t>
            </a:r>
            <a:r>
              <a:rPr sz="950">
                <a:solidFill>
                  <a:srgbClr val="222222"/>
                </a:solidFill>
                <a:latin typeface="Calibri"/>
              </a:rPr>
              <a:t> M10×1.5 brass hex bolt, 16 mm long. Centre-punch the shank, clamp it in a vice, drill 2.0 mm all the way along the axis with a hand drill, then 2.2 mm. Use cutting oil.</a:t>
            </a:r>
          </a:p>
          <a:p>
            <a:pPr marL="146304" indent="-146304">
              <a:spcAft>
                <a:spcPts val="300"/>
              </a:spcAft>
            </a:pPr>
            <a:r>
              <a:rPr b="1" sz="950">
                <a:solidFill>
                  <a:srgbClr val="222222"/>
                </a:solidFill>
                <a:latin typeface="Calibri"/>
              </a:rPr>
              <a:t>•  Entry cone:</a:t>
            </a:r>
            <a:r>
              <a:rPr sz="950">
                <a:solidFill>
                  <a:srgbClr val="222222"/>
                </a:solidFill>
                <a:latin typeface="Calibri"/>
              </a:rPr>
              <a:t> a 6 mm drill, 6 mm deep, in the inside end – the plastic must funnel into the ×2.2 land.</a:t>
            </a:r>
          </a:p>
          <a:p>
            <a:pPr marL="146304" indent="-146304">
              <a:spcAft>
                <a:spcPts val="300"/>
              </a:spcAft>
            </a:pPr>
            <a:r>
              <a:rPr b="1" sz="950">
                <a:solidFill>
                  <a:srgbClr val="222222"/>
                </a:solidFill>
                <a:latin typeface="Calibri"/>
              </a:rPr>
              <a:t>•  Cap:</a:t>
            </a:r>
            <a:r>
              <a:rPr sz="950">
                <a:solidFill>
                  <a:srgbClr val="222222"/>
                </a:solidFill>
                <a:latin typeface="Calibri"/>
              </a:rPr>
              <a:t> drill 8.5 mm through the middle of a brass 3/4 NPT cap, tap M10×1.5, screw the plug in with high-temp paste. A machine shop can do the plug + cap for a few dollars if the hand-drilling wanders.</a:t>
            </a:r>
          </a:p>
          <a:p>
            <a:pPr marL="146304" indent="-146304">
              <a:spcAft>
                <a:spcPts val="300"/>
              </a:spcAft>
            </a:pPr>
            <a:r>
              <a:rPr b="1" sz="950">
                <a:solidFill>
                  <a:srgbClr val="222222"/>
                </a:solidFill>
                <a:latin typeface="Calibri"/>
              </a:rPr>
              <a:t>•  Filter:</a:t>
            </a:r>
            <a:r>
              <a:rPr sz="950">
                <a:solidFill>
                  <a:srgbClr val="222222"/>
                </a:solidFill>
                <a:latin typeface="Calibri"/>
              </a:rPr>
              <a:t> 60–100 mesh stainless disc cut with scissors, sandwiched against the cap wall – stops grit and un-melted flakes from plugging the die.</a:t>
            </a:r>
          </a:p>
          <a:p>
            <a:pPr marL="146304" indent="-146304">
              <a:spcAft>
                <a:spcPts val="300"/>
              </a:spcAft>
            </a:pPr>
            <a:r>
              <a:rPr b="1" sz="950">
                <a:solidFill>
                  <a:srgbClr val="222222"/>
                </a:solidFill>
                <a:latin typeface="Calibri"/>
              </a:rPr>
              <a:t>•  Spares:</a:t>
            </a:r>
            <a:r>
              <a:rPr sz="950">
                <a:solidFill>
                  <a:srgbClr val="222222"/>
                </a:solidFill>
                <a:latin typeface="Calibri"/>
              </a:rPr>
              <a:t> make three plugs (×2.0, 2.2, 2.5). Small die = less swell, more pressure; big die = more draw-down.</a:t>
            </a:r>
          </a:p>
          <a:p>
            <a:pPr marL="146304" indent="-146304">
              <a:spcAft>
                <a:spcPts val="300"/>
              </a:spcAft>
            </a:pPr>
            <a:r>
              <a:rPr b="1" sz="950">
                <a:solidFill>
                  <a:srgbClr val="A5001E"/>
                </a:solidFill>
                <a:latin typeface="Calibri"/>
              </a:rPr>
              <a:t>•  Safety:</a:t>
            </a:r>
            <a:r>
              <a:rPr sz="950">
                <a:solidFill>
                  <a:srgbClr val="A5001E"/>
                </a:solidFill>
                <a:latin typeface="Calibri"/>
              </a:rPr>
              <a:t> never open a hot, pressurised die. Stop the screw, let it cool until the plug can be touched, then unscrew. Clean a blocked die by drilling the plastic out with the same bit.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54880"/>
            <a:ext cx="5852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Why 14 mm of land? A longer land evens out the flow and straightens the strand. Pressure scales with L/D⁴, so shorten it (8 mm) if the motor skips steps.</a:t>
            </a:r>
          </a:p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Target diameter 1.75 ± 0.05 mm is set by the puller speed, not the die; measure with calipers every 10 cm for the first metre.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222222"/>
                </a:solidFill>
                <a:latin typeface="Calibri"/>
              </a:rPr>
              <a:t>DRIVE TRAIN + THRUST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Calibri"/>
              </a:rPr>
              <a:t>All dimensions in mm  |  Printed parts PETG/ASA + off-the-shelf hardware, hand-tool assembly  |  Name: Ryan Boe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785"/>
                </a:solidFill>
                <a:latin typeface="Calibri"/>
              </a:rPr>
              <a:t>10</a:t>
            </a:r>
          </a:p>
        </p:txBody>
      </p:sp>
      <p:pic>
        <p:nvPicPr>
          <p:cNvPr id="5" name="Picture 4" descr="d_dr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04672"/>
            <a:ext cx="11274552" cy="39415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4819334"/>
            <a:ext cx="2148840" cy="105156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892486"/>
            <a:ext cx="1874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A5001E"/>
                </a:solidFill>
                <a:latin typeface="Calibri"/>
              </a:rPr>
              <a:t>20 :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241736"/>
            <a:ext cx="1874520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planetary: 2–30 rpm at the screw for 40–600 rpm at the motor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4819334"/>
            <a:ext cx="2148840" cy="105156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4892486"/>
            <a:ext cx="1874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A5001E"/>
                </a:solidFill>
                <a:latin typeface="Calibri"/>
              </a:rPr>
              <a:t>≈ 14.6 Nm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5241736"/>
            <a:ext cx="1874520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stall limit at 1.2 A driver current = 145 MPa in the 8 mm core (Rev A: 19 Nm, 193 MPa)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4819334"/>
            <a:ext cx="2148840" cy="105156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4892486"/>
            <a:ext cx="1874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A5001E"/>
                </a:solidFill>
                <a:latin typeface="Calibri"/>
              </a:rPr>
              <a:t>1.6–3.1 kN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5241736"/>
            <a:ext cx="1874520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thrust at 5–10 MPa melt pressure, carried by the thrust bearing, not the gearbox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4819334"/>
            <a:ext cx="4416552" cy="1581465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43216" y="4910774"/>
            <a:ext cx="4160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DIRECTION + COUPLING (the one trap)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5185094"/>
            <a:ext cx="4160520" cy="11242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A drill auger pumps chips toward the shank when turned clockwise, so we spin the screw counter-clockwise (seen from the motor) to push plastic toward the die.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A5001E"/>
                </a:solidFill>
                <a:latin typeface="Calibri"/>
              </a:rPr>
              <a:t>That direction tends to unscrew the chuck from its ½-20 spindle: Loctite 638 on the thread, tighten the chuck against the collar, and fit the chuck retaining screw (left-hand) – VERIFY. Fallback: file a square drive on the spindle and use a 7/16 in socket.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222222"/>
                </a:solidFill>
                <a:latin typeface="Calibri"/>
              </a:rPr>
              <a:t>PRINTED PARTS – MOTOR WALL, BEARING HOUSING, HEAD 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Calibri"/>
              </a:rPr>
              <a:t>All dimensions in mm  |  Printed parts PETG/ASA + off-the-shelf hardware, hand-tool assembly  |  Name: Ryan Boe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785"/>
                </a:solidFill>
                <a:latin typeface="Calibri"/>
              </a:rPr>
              <a:t>11</a:t>
            </a:r>
          </a:p>
        </p:txBody>
      </p:sp>
      <p:pic>
        <p:nvPicPr>
          <p:cNvPr id="5" name="Picture 4" descr="d_prin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77240"/>
            <a:ext cx="11274552" cy="3620689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489369"/>
          <a:ext cx="6583680" cy="1371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5840"/>
                <a:gridCol w="2103120"/>
                <a:gridCol w="34747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Calibri"/>
                        </a:rPr>
                        <a:t>Material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PETG (ASA near hot parts)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PLA softens at ≈ 55 °C – do not use it for these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Calibri"/>
                        </a:rPr>
                        <a:t>Walls / infill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6 perimeters, 60 % gyroid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load goes through bolts and rods, not infill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Calibri"/>
                        </a:rPr>
                        <a:t>Layer / nozzle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0.2 mm / 0.4 mm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fine enough for bearing seats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Calibri"/>
                        </a:rPr>
                        <a:t>Orientation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plate face down (X up); wall on its side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layers lie in the thrust plate instead of across it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223760" y="4489369"/>
            <a:ext cx="4507992" cy="191143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51776" y="4580809"/>
            <a:ext cx="42519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FIT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1776" y="4855129"/>
            <a:ext cx="4251959" cy="14542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•  Bearing seats print ×28.8 for a ×28.575 R8 – test-print a 10 mm slice first and ream with a rolled sandpaper if tight.</a:t>
            </a:r>
          </a:p>
          <a:p>
            <a:pPr marL="146304" indent="-146304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•  Foot slots: M5 T-nuts into the 2020 rails, two per foot minimum.</a:t>
            </a:r>
          </a:p>
          <a:p>
            <a:pPr marL="146304" indent="-146304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•  Press the thrust washer into the ×30.4 seat, not the bearing balls.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222222"/>
                </a:solidFill>
                <a:latin typeface="Calibri"/>
              </a:rPr>
              <a:t>WATER BATH – COOLING THAT KEEPS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Calibri"/>
              </a:rPr>
              <a:t>All dimensions in mm  |  Printed parts PETG/ASA + off-the-shelf hardware, hand-tool assembly  |  Name: Ryan Boe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785"/>
                </a:solidFill>
                <a:latin typeface="Calibri"/>
              </a:rPr>
              <a:t>12</a:t>
            </a:r>
          </a:p>
        </p:txBody>
      </p:sp>
      <p:pic>
        <p:nvPicPr>
          <p:cNvPr id="5" name="Picture 4" descr="d_b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057" y="777240"/>
            <a:ext cx="10390837" cy="3291840"/>
          </a:xfrm>
          <a:prstGeom prst="rect">
            <a:avLst/>
          </a:prstGeom>
        </p:spPr>
      </p:pic>
      <p:pic>
        <p:nvPicPr>
          <p:cNvPr id="6" name="Picture 5" descr="d_bath_x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163059"/>
            <a:ext cx="2743200" cy="2235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91840" y="4160520"/>
            <a:ext cx="2103120" cy="100584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4233672"/>
            <a:ext cx="18287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A5001E"/>
                </a:solidFill>
                <a:latin typeface="Calibri"/>
              </a:rPr>
              <a:t>485 mm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4582922"/>
            <a:ext cx="18287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of strand under water vs 52 mm needed at 4 rpm (PLA 190 → 60 °C)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5303520"/>
            <a:ext cx="2103120" cy="100584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5376672"/>
            <a:ext cx="18287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A5001E"/>
                </a:solidFill>
                <a:latin typeface="Calibri"/>
              </a:rPr>
              <a:t>+7 K / kg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5725922"/>
            <a:ext cx="18287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bath warm-up over a full kilogram with the 10 L circulating reservoir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4160520"/>
            <a:ext cx="3108960" cy="224028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05855" y="4251959"/>
            <a:ext cx="2852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HOW IT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05855" y="4526280"/>
            <a:ext cx="2852928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Aft>
                <a:spcPts val="30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•  The strand enters through a 5 mm notch above the water line, dips under a 624ZZ sheave, runs straight, then rises over a second one – so it never touches a wall.</a:t>
            </a:r>
          </a:p>
          <a:p>
            <a:pPr marL="146304" indent="-146304">
              <a:spcAft>
                <a:spcPts val="30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•  A pump fills from the bucket; an overflow barb on the −Y wall sets the level at Z = −10.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23960" y="4160520"/>
            <a:ext cx="2926080" cy="224028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51976" y="4251959"/>
            <a:ext cx="2670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BUILD NOTES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1976" y="4526280"/>
            <a:ext cx="2670048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Aft>
                <a:spcPts val="30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•  Two 237 mm segments (P11, P12), joined by 4 × M3 and silicone.</a:t>
            </a:r>
          </a:p>
          <a:p>
            <a:pPr marL="146304" indent="-146304">
              <a:spcAft>
                <a:spcPts val="300"/>
              </a:spcAft>
            </a:pPr>
            <a:r>
              <a:rPr sz="850" b="0">
                <a:solidFill>
                  <a:srgbClr val="A5001E"/>
                </a:solidFill>
                <a:latin typeface="Calibri"/>
              </a:rPr>
              <a:t>•  Print with 5 walls and seal with aquarium silicone – water-test over a tray before wiring anything.</a:t>
            </a:r>
          </a:p>
          <a:p>
            <a:pPr marL="146304" indent="-146304">
              <a:spcAft>
                <a:spcPts val="30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•  The sponge wiper in the exit slot dries the strand before the puller.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222222"/>
                </a:solidFill>
                <a:latin typeface="Calibri"/>
              </a:rPr>
              <a:t>PULLER, DANCER, LEVEL-WIND + 1 KG SPOOLER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Calibri"/>
              </a:rPr>
              <a:t>All dimensions in mm  |  Printed parts PETG/ASA + off-the-shelf hardware, hand-tool assembly  |  Name: Ryan Boe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785"/>
                </a:solidFill>
                <a:latin typeface="Calibri"/>
              </a:rPr>
              <a:t>13</a:t>
            </a:r>
          </a:p>
        </p:txBody>
      </p:sp>
      <p:pic>
        <p:nvPicPr>
          <p:cNvPr id="5" name="Picture 4" descr="d_lin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786454"/>
            <a:ext cx="5852160" cy="2816211"/>
          </a:xfrm>
          <a:prstGeom prst="rect">
            <a:avLst/>
          </a:prstGeom>
        </p:spPr>
      </p:pic>
      <p:pic>
        <p:nvPicPr>
          <p:cNvPr id="6" name="Picture 5" descr="d_spool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923247"/>
            <a:ext cx="5577840" cy="25426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" y="3749039"/>
            <a:ext cx="1828800" cy="100584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822191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A5001E"/>
                </a:solidFill>
                <a:latin typeface="Calibri"/>
              </a:rPr>
              <a:t>700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03192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micro-steps of level-wind per spool turn = 1.75 mm of travel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892040"/>
            <a:ext cx="1828800" cy="100584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965192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A5001E"/>
                </a:solidFill>
                <a:latin typeface="Calibri"/>
              </a:rPr>
              <a:t>3.0–5.3 rpm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250942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spool stepper at 1.65 m/min (full → empty core)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3749039"/>
            <a:ext cx="1828800" cy="100584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79" y="3822191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A5001E"/>
                </a:solidFill>
                <a:latin typeface="Calibri"/>
              </a:rPr>
              <a:t>335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79" y="4203192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1 kg PLA reaches R 89 of the 100 mm flange, 60 mm wide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31720" y="4892040"/>
            <a:ext cx="1828800" cy="100584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4965192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A5001E"/>
                </a:solidFill>
                <a:latin typeface="Calibri"/>
              </a:rPr>
              <a:t>×3.2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79" y="5346192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cone friction margin: 0.29 Nm vs 0.09 Nm at 1 N strand tension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3749039"/>
            <a:ext cx="3657600" cy="265176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25696" y="3840479"/>
            <a:ext cx="3401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PULLER + DANCER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5696" y="4114800"/>
            <a:ext cx="3401568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Aft>
                <a:spcPts val="30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•  Two ×30 TPU rollers, drive roller on a NEMA 17 (1/16 micro-step): 0.3–4 m/min. Pressure bridge with two springs sets the nip.</a:t>
            </a:r>
          </a:p>
          <a:p>
            <a:pPr marL="146304" indent="-146304">
              <a:spcAft>
                <a:spcPts val="30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•  The strand loops under the dancer roller; a 10 kΩ pot at the pivot reads the arm angle and the Nano trims the spool speed to keep it mid-travel (swept 15–60°, nothing in the way).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2440" y="3749039"/>
            <a:ext cx="3657600" cy="265176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0456" y="3840479"/>
            <a:ext cx="3401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LEVEL-WIND + SPOOL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4114800"/>
            <a:ext cx="3401568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Aft>
                <a:spcPts val="30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•  A NEMA 17 turns a T8 lead screw; the carriage with a PTFE eyelet runs ± 28 mm inside the 60 mm winding width and reverses at each end.</a:t>
            </a:r>
          </a:p>
          <a:p>
            <a:pPr marL="146304" indent="-146304">
              <a:spcAft>
                <a:spcPts val="30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•  The spool is driven by a second NEMA 17 through a spring-loaded cone: the idler cone retracts 12 mm (68 mm tip gap vs 66 mm spool) to drop a spool in.</a:t>
            </a:r>
          </a:p>
          <a:p>
            <a:pPr marL="146304" indent="-146304">
              <a:spcAft>
                <a:spcPts val="300"/>
              </a:spcAft>
            </a:pPr>
            <a:r>
              <a:rPr sz="850" b="0">
                <a:solidFill>
                  <a:srgbClr val="222222"/>
                </a:solidFill>
                <a:latin typeface="Calibri"/>
              </a:rPr>
              <a:t>•  Because the level-wind steps follow the spool steps, the layers stay in step without a sensor.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222222"/>
                </a:solidFill>
                <a:latin typeface="Calibri"/>
              </a:rPr>
              <a:t>PRINT LIST – 28 FILES, ALL FIT THE 245 × 245 × 260 BED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Calibri"/>
              </a:rPr>
              <a:t>All dimensions in mm  |  Printed parts PETG/ASA + off-the-shelf hardware, hand-tool assembly  |  Name: Ryan Boe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785"/>
                </a:solidFill>
                <a:latin typeface="Calibri"/>
              </a:rP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822960"/>
          <a:ext cx="5669277" cy="396849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48741"/>
                <a:gridCol w="1331421"/>
                <a:gridCol w="300643"/>
                <a:gridCol w="1288472"/>
              </a:tblGrid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X × Y × Z (mm)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Qty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Material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P01_motor_wall.stl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140 × 147 × 140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PETG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P02_bearing_housing_thrust_flange.stl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137 × 140 × 95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PETG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P04_dust_slinger_on_the_screw_shank.stl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40 × 40 × 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PETG (3 walls)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P03_head_plate_barrel_anchor.stl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159 × 140 × 56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PETG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P05_hopper_lower_sleeve_cone.stl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237 × 237 × 198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PETG (3 walls)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P06_hopper_drum.stl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237 × 237 × 120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PETG (3 walls)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P07_hopper_lid_frame_agitator_mount.stl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221 × 221 × 72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PETG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P08_hopper_lid_half.stl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93 × 218 × 3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PETG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P09_hopper_stay_clamp.stl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111 × 50 × 22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PETG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P10_agitator_paddle_two_cone_sweep_arms.stl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140 × 96 × 16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PETG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P11_water_bath_segment_a_entry.stl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237 × 140 × 95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PETG, 5 walls, seal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P12_water_bath_segment_b_exit_wiper.stl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237 × 140 × 95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PETG, 5 walls, seal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P13_sheave_hanger.stl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16 × 44 × 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PETG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72200" y="822960"/>
          <a:ext cx="5669277" cy="396849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48741"/>
                <a:gridCol w="1331421"/>
                <a:gridCol w="300643"/>
                <a:gridCol w="1288472"/>
              </a:tblGrid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X × Y × Z (mm)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Qty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Material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P14_puller_frame_base_side_plates.stl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120 × 140 × 129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PETG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P15_puller_drive_roller_tpu_tyre.stl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30 × 58 × 30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TPU 95A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P16_puller_idler_roller.stl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30 × 40 × 30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TPU 95A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P17_puller_pressure_bridge.stl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68 × 100 × 6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PETG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P18_spooler_plates_base.stl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140 × 155 × 185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PETG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P19_hub_cone_drive_side.stl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63 × 11 × 63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PETG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P20_hub_cone_idler_side_spring_loaded.stl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63 × 11 × 63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PETG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P21_dancer_post_base.stl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60 × 140 × 163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PETG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P22_dancer_arm_roller.stl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85 × 22 × 68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PETG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P23_level_wind_frame_base_2_brackets.stl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60 × 140 × 80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PETG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P24_level_wind_carriage_eyelet_arm.stl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52 × 16 × 49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PETG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P25_control_box_shell.stl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240 × 170 × 110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PETG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P26_control_box_lid_top_panel.stl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240 × 170 × 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222222"/>
                          </a:solidFill>
                          <a:latin typeface="Calibri"/>
                        </a:rPr>
                        <a:t>PETG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901184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B7785"/>
                </a:solidFill>
                <a:latin typeface="Calibri"/>
              </a:rPr>
              <a:t>Total printed mass ≈ 2.4 kg of PETG (+ TPU tyres). Print order: P02, P03, P05 first – test-fit the bearings, the chuck flange and the NPT tee before printing the rest.</a:t>
            </a:r>
          </a:p>
          <a:p>
            <a:pPr algn="l"/>
            <a:r>
              <a:rPr sz="950" b="0" i="0">
                <a:solidFill>
                  <a:srgbClr val="6B7785"/>
                </a:solidFill>
                <a:latin typeface="Calibri"/>
              </a:rPr>
              <a:t>Orientation is as exported: the STL already lies the way it should print (hopper cone upside down, lid frame and drum upright).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222222"/>
                </a:solidFill>
                <a:latin typeface="Calibri"/>
              </a:rPr>
              <a:t>ELECTRICAL BLOCK DIAGRAM + SAFETY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Calibri"/>
              </a:rPr>
              <a:t>All dimensions in mm  |  Printed parts PETG/ASA + off-the-shelf hardware, hand-tool assembly  |  Name: Ryan Boe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785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POWER + E-STOP (hardware path)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554480" cy="548640"/>
          </a:xfrm>
          <a:prstGeom prst="rect">
            <a:avLst/>
          </a:prstGeom>
          <a:solidFill>
            <a:srgbClr val="FFFFFF"/>
          </a:solidFill>
          <a:ln w="1143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222222"/>
                </a:solidFill>
                <a:latin typeface="Calibri"/>
              </a:rPr>
              <a:t>Mains 120 V AC</a:t>
            </a:r>
          </a:p>
          <a:p>
            <a:pPr algn="ctr"/>
            <a:r>
              <a:rPr sz="850" b="0">
                <a:solidFill>
                  <a:srgbClr val="222222"/>
                </a:solidFill>
                <a:latin typeface="Calibri"/>
              </a:rPr>
              <a:t>15 A circuit, GFCI</a:t>
            </a:r>
          </a:p>
        </p:txBody>
      </p:sp>
      <p:sp>
        <p:nvSpPr>
          <p:cNvPr id="7" name="Rectangle 6"/>
          <p:cNvSpPr/>
          <p:nvPr/>
        </p:nvSpPr>
        <p:spPr>
          <a:xfrm>
            <a:off x="2240280" y="1097280"/>
            <a:ext cx="1554480" cy="548640"/>
          </a:xfrm>
          <a:prstGeom prst="rect">
            <a:avLst/>
          </a:prstGeom>
          <a:solidFill>
            <a:srgbClr val="FFFFFF"/>
          </a:solidFill>
          <a:ln w="1143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222222"/>
                </a:solidFill>
                <a:latin typeface="Calibri"/>
              </a:rPr>
              <a:t>Breaker / fuse</a:t>
            </a:r>
          </a:p>
          <a:p>
            <a:pPr algn="ctr"/>
            <a:r>
              <a:rPr sz="850" b="0">
                <a:solidFill>
                  <a:srgbClr val="222222"/>
                </a:solidFill>
                <a:latin typeface="Calibri"/>
              </a:rPr>
              <a:t>10 A, IEC inlet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1097280"/>
            <a:ext cx="1554480" cy="548640"/>
          </a:xfrm>
          <a:prstGeom prst="rect">
            <a:avLst/>
          </a:prstGeom>
          <a:solidFill>
            <a:srgbClr val="FFFFFF"/>
          </a:solidFill>
          <a:ln w="1143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222222"/>
                </a:solidFill>
                <a:latin typeface="Calibri"/>
              </a:rPr>
              <a:t>E-stop (NC)</a:t>
            </a:r>
          </a:p>
          <a:p>
            <a:pPr algn="ctr"/>
            <a:r>
              <a:rPr sz="850" b="0">
                <a:solidFill>
                  <a:srgbClr val="222222"/>
                </a:solidFill>
                <a:latin typeface="Calibri"/>
              </a:rPr>
              <a:t>mushroom, front panel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5806440" y="1097280"/>
            <a:ext cx="1554480" cy="548640"/>
          </a:xfrm>
          <a:prstGeom prst="rect">
            <a:avLst/>
          </a:prstGeom>
          <a:solidFill>
            <a:srgbClr val="FFFFFF"/>
          </a:solidFill>
          <a:ln w="1143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222222"/>
                </a:solidFill>
                <a:latin typeface="Calibri"/>
              </a:rPr>
              <a:t>Contactor</a:t>
            </a:r>
          </a:p>
          <a:p>
            <a:pPr algn="ctr"/>
            <a:r>
              <a:rPr sz="850" b="0">
                <a:solidFill>
                  <a:srgbClr val="222222"/>
                </a:solidFill>
                <a:latin typeface="Calibri"/>
              </a:rPr>
              <a:t>coil on the E-stop loop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11680" y="1371600"/>
            <a:ext cx="228600" cy="0"/>
          </a:xfrm>
          <a:prstGeom prst="line">
            <a:avLst/>
          </a:prstGeom>
          <a:ln w="1587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794760" y="1371600"/>
            <a:ext cx="228600" cy="0"/>
          </a:xfrm>
          <a:prstGeom prst="line">
            <a:avLst/>
          </a:prstGeom>
          <a:ln w="1587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577840" y="1371600"/>
            <a:ext cx="228600" cy="0"/>
          </a:xfrm>
          <a:prstGeom prst="line">
            <a:avLst/>
          </a:prstGeom>
          <a:ln w="1587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17647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HEATERS (120 V AC, 800 W)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40280"/>
            <a:ext cx="1554480" cy="548640"/>
          </a:xfrm>
          <a:prstGeom prst="rect">
            <a:avLst/>
          </a:prstGeom>
          <a:solidFill>
            <a:srgbClr val="FFFFFF"/>
          </a:solidFill>
          <a:ln w="11430">
            <a:solidFill>
              <a:srgbClr val="A50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222222"/>
                </a:solidFill>
                <a:latin typeface="Calibri"/>
              </a:rPr>
              <a:t>Thermal fuse 280 °C</a:t>
            </a:r>
          </a:p>
          <a:p>
            <a:pPr algn="ctr"/>
            <a:r>
              <a:rPr sz="850" b="0">
                <a:solidFill>
                  <a:srgbClr val="222222"/>
                </a:solidFill>
                <a:latin typeface="Calibri"/>
              </a:rPr>
              <a:t>in series, on barrel Z3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0280" y="2240280"/>
            <a:ext cx="1554480" cy="548640"/>
          </a:xfrm>
          <a:prstGeom prst="rect">
            <a:avLst/>
          </a:prstGeom>
          <a:solidFill>
            <a:srgbClr val="FFFFFF"/>
          </a:solidFill>
          <a:ln w="1143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222222"/>
                </a:solidFill>
                <a:latin typeface="Calibri"/>
              </a:rPr>
              <a:t>4 × SSR-25DA</a:t>
            </a:r>
          </a:p>
          <a:p>
            <a:pPr algn="ctr"/>
            <a:r>
              <a:rPr sz="850" b="0">
                <a:solidFill>
                  <a:srgbClr val="222222"/>
                </a:solidFill>
                <a:latin typeface="Calibri"/>
              </a:rPr>
              <a:t>zero-cross, heat-sinked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2240280"/>
            <a:ext cx="1554480" cy="548640"/>
          </a:xfrm>
          <a:prstGeom prst="rect">
            <a:avLst/>
          </a:prstGeom>
          <a:solidFill>
            <a:srgbClr val="FFFFFF"/>
          </a:solidFill>
          <a:ln w="1143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222222"/>
                </a:solidFill>
                <a:latin typeface="Calibri"/>
              </a:rPr>
              <a:t>4 × band heater</a:t>
            </a:r>
          </a:p>
          <a:p>
            <a:pPr algn="ctr"/>
            <a:r>
              <a:rPr sz="850" b="0">
                <a:solidFill>
                  <a:srgbClr val="222222"/>
                </a:solidFill>
                <a:latin typeface="Calibri"/>
              </a:rPr>
              <a:t>200 W each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0" y="1645920"/>
            <a:ext cx="0" cy="457200"/>
          </a:xfrm>
          <a:prstGeom prst="line">
            <a:avLst/>
          </a:prstGeom>
          <a:ln w="1587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234440" y="2103120"/>
            <a:ext cx="5349240" cy="0"/>
          </a:xfrm>
          <a:prstGeom prst="line">
            <a:avLst/>
          </a:prstGeom>
          <a:ln w="1587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34440" y="2103120"/>
            <a:ext cx="0" cy="137160"/>
          </a:xfrm>
          <a:prstGeom prst="line">
            <a:avLst/>
          </a:prstGeom>
          <a:ln w="1587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011680" y="2514600"/>
            <a:ext cx="228600" cy="0"/>
          </a:xfrm>
          <a:prstGeom prst="line">
            <a:avLst/>
          </a:prstGeom>
          <a:ln w="1587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794760" y="2514600"/>
            <a:ext cx="228600" cy="0"/>
          </a:xfrm>
          <a:prstGeom prst="line">
            <a:avLst/>
          </a:prstGeom>
          <a:ln w="1587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240280" y="2971800"/>
            <a:ext cx="1554480" cy="457200"/>
          </a:xfrm>
          <a:prstGeom prst="rect">
            <a:avLst/>
          </a:prstGeom>
          <a:solidFill>
            <a:srgbClr val="F5F5F5"/>
          </a:solidFill>
          <a:ln w="1143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222222"/>
                </a:solidFill>
                <a:latin typeface="Calibri"/>
              </a:rPr>
              <a:t>4 × REX-C100 PID</a:t>
            </a:r>
          </a:p>
          <a:p>
            <a:pPr algn="ctr"/>
            <a:r>
              <a:rPr sz="850" b="0">
                <a:solidFill>
                  <a:srgbClr val="222222"/>
                </a:solidFill>
                <a:latin typeface="Calibri"/>
              </a:rPr>
              <a:t>SSR output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2971800"/>
            <a:ext cx="1554480" cy="457200"/>
          </a:xfrm>
          <a:prstGeom prst="rect">
            <a:avLst/>
          </a:prstGeom>
          <a:solidFill>
            <a:srgbClr val="F5F5F5"/>
          </a:solidFill>
          <a:ln w="1143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222222"/>
                </a:solidFill>
                <a:latin typeface="Calibri"/>
              </a:rPr>
              <a:t>4 × K thermocouple</a:t>
            </a:r>
          </a:p>
          <a:p>
            <a:pPr algn="ctr"/>
            <a:r>
              <a:rPr sz="850" b="0">
                <a:solidFill>
                  <a:srgbClr val="222222"/>
                </a:solidFill>
                <a:latin typeface="Calibri"/>
              </a:rPr>
              <a:t>under each band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017520" y="2788920"/>
            <a:ext cx="0" cy="182880"/>
          </a:xfrm>
          <a:prstGeom prst="line">
            <a:avLst/>
          </a:prstGeom>
          <a:ln w="15875">
            <a:solidFill>
              <a:srgbClr val="2563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794760" y="3200400"/>
            <a:ext cx="228600" cy="0"/>
          </a:xfrm>
          <a:prstGeom prst="line">
            <a:avLst/>
          </a:prstGeom>
          <a:ln w="15875">
            <a:solidFill>
              <a:srgbClr val="2563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7200" y="35204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MOTION + LOGIC (24 V DC)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023360"/>
            <a:ext cx="1371600" cy="548640"/>
          </a:xfrm>
          <a:prstGeom prst="rect">
            <a:avLst/>
          </a:prstGeom>
          <a:solidFill>
            <a:srgbClr val="FFFFFF"/>
          </a:solidFill>
          <a:ln w="1143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222222"/>
                </a:solidFill>
                <a:latin typeface="Calibri"/>
              </a:rPr>
              <a:t>24 V 10 A PSU</a:t>
            </a:r>
          </a:p>
          <a:p>
            <a:pPr algn="ctr"/>
            <a:r>
              <a:rPr sz="850" b="0">
                <a:solidFill>
                  <a:srgbClr val="222222"/>
                </a:solidFill>
                <a:latin typeface="Calibri"/>
              </a:rPr>
              <a:t>after contactor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0" y="1645920"/>
            <a:ext cx="0" cy="2240280"/>
          </a:xfrm>
          <a:prstGeom prst="line">
            <a:avLst/>
          </a:prstGeom>
          <a:ln w="1587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1143000" y="3886200"/>
            <a:ext cx="5440680" cy="0"/>
          </a:xfrm>
          <a:prstGeom prst="line">
            <a:avLst/>
          </a:prstGeom>
          <a:ln w="1587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43000" y="3886200"/>
            <a:ext cx="0" cy="137160"/>
          </a:xfrm>
          <a:prstGeom prst="line">
            <a:avLst/>
          </a:prstGeom>
          <a:ln w="1587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2103120" y="3931920"/>
            <a:ext cx="1828800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222222"/>
                </a:solidFill>
                <a:latin typeface="Calibri"/>
              </a:rPr>
              <a:t>DM542T → NEMA 23</a:t>
            </a:r>
          </a:p>
          <a:p>
            <a:pPr algn="ctr"/>
            <a:r>
              <a:rPr sz="700" b="0">
                <a:solidFill>
                  <a:srgbClr val="222222"/>
                </a:solidFill>
                <a:latin typeface="Calibri"/>
              </a:rPr>
              <a:t>screw, 1.2 A limit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1828800" y="4069080"/>
            <a:ext cx="274320" cy="228600"/>
          </a:xfrm>
          <a:prstGeom prst="line">
            <a:avLst/>
          </a:prstGeom>
          <a:ln w="1270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2103120" y="4242816"/>
            <a:ext cx="1828800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222222"/>
                </a:solidFill>
                <a:latin typeface="Calibri"/>
              </a:rPr>
              <a:t>3 × TMC2209 → NEMA 17</a:t>
            </a:r>
          </a:p>
          <a:p>
            <a:pPr algn="ctr"/>
            <a:r>
              <a:rPr sz="700" b="0">
                <a:solidFill>
                  <a:srgbClr val="222222"/>
                </a:solidFill>
                <a:latin typeface="Calibri"/>
              </a:rPr>
              <a:t>puller, spool, level-wind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828800" y="4297680"/>
            <a:ext cx="274320" cy="82296"/>
          </a:xfrm>
          <a:prstGeom prst="line">
            <a:avLst/>
          </a:prstGeom>
          <a:ln w="1270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2103120" y="4553712"/>
            <a:ext cx="1828800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222222"/>
                </a:solidFill>
                <a:latin typeface="Calibri"/>
              </a:rPr>
              <a:t>MOSFET → gearmotor</a:t>
            </a:r>
          </a:p>
          <a:p>
            <a:pPr algn="ctr"/>
            <a:r>
              <a:rPr sz="700" b="0">
                <a:solidFill>
                  <a:srgbClr val="222222"/>
                </a:solidFill>
                <a:latin typeface="Calibri"/>
              </a:rPr>
              <a:t>hopper agitator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828800" y="4297680"/>
            <a:ext cx="274320" cy="393192"/>
          </a:xfrm>
          <a:prstGeom prst="line">
            <a:avLst/>
          </a:prstGeom>
          <a:ln w="1270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2103120" y="4864608"/>
            <a:ext cx="1828800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222222"/>
                </a:solidFill>
                <a:latin typeface="Calibri"/>
              </a:rPr>
              <a:t>MOSFET → pump</a:t>
            </a:r>
          </a:p>
          <a:p>
            <a:pPr algn="ctr"/>
            <a:r>
              <a:rPr sz="700" b="0">
                <a:solidFill>
                  <a:srgbClr val="222222"/>
                </a:solidFill>
                <a:latin typeface="Calibri"/>
              </a:rPr>
              <a:t>water circulation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828800" y="4297680"/>
            <a:ext cx="274320" cy="704088"/>
          </a:xfrm>
          <a:prstGeom prst="line">
            <a:avLst/>
          </a:prstGeom>
          <a:ln w="1270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2103120" y="5175504"/>
            <a:ext cx="1828800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222222"/>
                </a:solidFill>
                <a:latin typeface="Calibri"/>
              </a:rPr>
              <a:t>40 mm fan</a:t>
            </a:r>
          </a:p>
          <a:p>
            <a:pPr algn="ctr"/>
            <a:r>
              <a:rPr sz="700" b="0">
                <a:solidFill>
                  <a:srgbClr val="222222"/>
                </a:solidFill>
                <a:latin typeface="Calibri"/>
              </a:rPr>
              <a:t>feed throat, 24 V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828800" y="4297680"/>
            <a:ext cx="274320" cy="1014984"/>
          </a:xfrm>
          <a:prstGeom prst="line">
            <a:avLst/>
          </a:prstGeom>
          <a:ln w="1270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4389120" y="3977639"/>
            <a:ext cx="1554480" cy="1097280"/>
          </a:xfrm>
          <a:prstGeom prst="rect">
            <a:avLst/>
          </a:prstGeom>
          <a:solidFill>
            <a:srgbClr val="F5F5F5"/>
          </a:solidFill>
          <a:ln w="1143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222222"/>
                </a:solidFill>
                <a:latin typeface="Calibri"/>
              </a:rPr>
              <a:t>Arduino Nano</a:t>
            </a:r>
          </a:p>
          <a:p>
            <a:pPr algn="ctr"/>
            <a:r>
              <a:rPr sz="850" b="0">
                <a:solidFill>
                  <a:srgbClr val="222222"/>
                </a:solidFill>
                <a:latin typeface="Calibri"/>
              </a:rPr>
              <a:t>5 V from buck</a:t>
            </a:r>
          </a:p>
          <a:p>
            <a:pPr algn="ctr"/>
            <a:r>
              <a:rPr sz="850" b="0">
                <a:solidFill>
                  <a:srgbClr val="222222"/>
                </a:solidFill>
                <a:latin typeface="Calibri"/>
              </a:rPr>
              <a:t>STEP/DIR/EN, PWM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3931920" y="4023360"/>
            <a:ext cx="457200" cy="45720"/>
          </a:xfrm>
          <a:prstGeom prst="line">
            <a:avLst/>
          </a:prstGeom>
          <a:ln w="10160">
            <a:solidFill>
              <a:srgbClr val="2563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3931920" y="4224528"/>
            <a:ext cx="457200" cy="155448"/>
          </a:xfrm>
          <a:prstGeom prst="line">
            <a:avLst/>
          </a:prstGeom>
          <a:ln w="10160">
            <a:solidFill>
              <a:srgbClr val="2563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3931920" y="4425696"/>
            <a:ext cx="457200" cy="265176"/>
          </a:xfrm>
          <a:prstGeom prst="line">
            <a:avLst/>
          </a:prstGeom>
          <a:ln w="10160">
            <a:solidFill>
              <a:srgbClr val="2563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3931920" y="4626864"/>
            <a:ext cx="457200" cy="374904"/>
          </a:xfrm>
          <a:prstGeom prst="line">
            <a:avLst/>
          </a:prstGeom>
          <a:ln w="10160">
            <a:solidFill>
              <a:srgbClr val="2563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3931920" y="4828032"/>
            <a:ext cx="457200" cy="484632"/>
          </a:xfrm>
          <a:prstGeom prst="line">
            <a:avLst/>
          </a:prstGeom>
          <a:ln w="10160">
            <a:solidFill>
              <a:srgbClr val="2563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6126480" y="3977639"/>
            <a:ext cx="1280160" cy="1097280"/>
          </a:xfrm>
          <a:prstGeom prst="rect">
            <a:avLst/>
          </a:prstGeom>
          <a:solidFill>
            <a:srgbClr val="FFFFFF"/>
          </a:solidFill>
          <a:ln w="11430">
            <a:solidFill>
              <a:srgbClr val="6B77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50" b="1">
                <a:solidFill>
                  <a:srgbClr val="222222"/>
                </a:solidFill>
                <a:latin typeface="Calibri"/>
              </a:rPr>
              <a:t>Inputs</a:t>
            </a:r>
          </a:p>
          <a:p>
            <a:pPr algn="ctr"/>
            <a:r>
              <a:rPr sz="750" b="0">
                <a:solidFill>
                  <a:srgbClr val="222222"/>
                </a:solidFill>
                <a:latin typeface="Calibri"/>
              </a:rPr>
              <a:t>2 pots, FWD/OFF/REV,</a:t>
            </a:r>
          </a:p>
          <a:p>
            <a:pPr algn="ctr"/>
            <a:r>
              <a:rPr sz="750" b="0">
                <a:solidFill>
                  <a:srgbClr val="222222"/>
                </a:solidFill>
                <a:latin typeface="Calibri"/>
              </a:rPr>
              <a:t>dancer pot, driver ALM,</a:t>
            </a:r>
          </a:p>
          <a:p>
            <a:pPr algn="ctr"/>
            <a:r>
              <a:rPr sz="750" b="0">
                <a:solidFill>
                  <a:srgbClr val="222222"/>
                </a:solidFill>
                <a:latin typeface="Calibri"/>
              </a:rPr>
              <a:t>PID ready (AL)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5943600" y="4526280"/>
            <a:ext cx="182880" cy="0"/>
          </a:xfrm>
          <a:prstGeom prst="line">
            <a:avLst/>
          </a:prstGeom>
          <a:ln w="15875">
            <a:solidFill>
              <a:srgbClr val="2563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7680960" y="804672"/>
            <a:ext cx="4050791" cy="306324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08976" y="896112"/>
            <a:ext cx="37947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SAFETY CHAIN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08976" y="1170432"/>
            <a:ext cx="3794759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•  E-stop and contactor are pure hardware: the contactor drops both the heaters and the 24 V supply – no software in the loop.</a:t>
            </a:r>
          </a:p>
          <a:p>
            <a:pPr marL="146304" indent="-146304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•  Thermal fuse (280 °C) sits in the heater feed; it cuts power even if an SSR welds shut.</a:t>
            </a:r>
          </a:p>
          <a:p>
            <a:pPr marL="146304" indent="-146304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•  The Nano refuses to start the screw until Z3 and Z4 are within ±10 °C of setpoint (wire the PID alarm output to an input – VERIFY the REX-C100 variant has an ALM relay).</a:t>
            </a:r>
          </a:p>
          <a:p>
            <a:pPr marL="146304" indent="-146304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•  Driver current limit (1.2 A ≈ 14.6 Nm) lets the stepper skip steps on a jam instead of twisting the screw.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80960" y="3977639"/>
            <a:ext cx="4050791" cy="237744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08976" y="4069079"/>
            <a:ext cx="37947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DO THIS FIRST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08976" y="4343400"/>
            <a:ext cx="3794759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Aft>
                <a:spcPts val="300"/>
              </a:spcAft>
            </a:pPr>
            <a:r>
              <a:rPr sz="900" b="0">
                <a:solidFill>
                  <a:srgbClr val="A5001E"/>
                </a:solidFill>
                <a:latin typeface="Calibri"/>
              </a:rPr>
              <a:t>•  Have the 120 V side wired or checked by someone who does mains work. This sheet is a plan, not a certified design.</a:t>
            </a:r>
          </a:p>
          <a:p>
            <a:pPr marL="146304" indent="-146304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•  Keep mains and 24 V wiring in separate bundles; use ferrules and a ground lug on the barrel.</a:t>
            </a:r>
          </a:p>
          <a:p>
            <a:pPr marL="146304" indent="-146304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•  Never leave it heating unattended until you trust the thermal fuse and the PIDs. Water + mains: GFCI, bucket and pump away from the control box and below its level, drip loop on every cable.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532120"/>
            <a:ext cx="6949440" cy="86868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5216" y="5623559"/>
            <a:ext cx="669340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CONTROL (NANO)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5216" y="5897880"/>
            <a:ext cx="6693407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222222"/>
                </a:solidFill>
                <a:latin typeface="Calibri"/>
              </a:rPr>
              <a:t>Screw: STEP rate from knob 1 (40–600 motor rpm).  Puller: STEP rate = ratio × screw rate, knob 2 trims ±15 %.  Spool stepper: rpm = strand speed ÷ pack circumference, trimmed by the dancer pot.  Level-wind: 700 micro-steps per spool turn, reverses at ±28 mm.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222"/>
                </a:solidFill>
                <a:latin typeface="Calibri"/>
              </a:rPr>
              <a:t>Jam: driver ALM → stop, reverse 2 s, stop. Heat-not-ready → screw disabled. Pump runs whenever the line is on; keep it on a GFCI outlet.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222222"/>
                </a:solidFill>
                <a:latin typeface="Calibri"/>
              </a:rPr>
              <a:t>SPEEDS + DIAL-IN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Calibri"/>
              </a:rPr>
              <a:t>All dimensions in mm  |  Printed parts PETG/ASA + off-the-shelf hardware, hand-tool assembly  |  Name: Ryan Boe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785"/>
                </a:solidFill>
                <a:latin typeface="Calibri"/>
              </a:rPr>
              <a:t>16</a:t>
            </a:r>
          </a:p>
        </p:txBody>
      </p:sp>
      <p:pic>
        <p:nvPicPr>
          <p:cNvPr id="5" name="Picture 4" descr="d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5852160" cy="420624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0" y="868680"/>
          <a:ext cx="5148071" cy="19202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36013"/>
                <a:gridCol w="936013"/>
                <a:gridCol w="936013"/>
                <a:gridCol w="1216817"/>
                <a:gridCol w="1123215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Screw rpm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Motor rpm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Output g/h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Filament m/min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Hours per kg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148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0.82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6.8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221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1.24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4.5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295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1.65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3.4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369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2.06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2.7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2222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443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2.47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2.3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2222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590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3.30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1.7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0" y="283464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785"/>
                </a:solidFill>
                <a:latin typeface="Calibri"/>
              </a:rPr>
              <a:t>Estimate: drag flow × 0.35 for pressure back-flow and leakage, PLA density. Calibrate once: weigh 1 m of strand at a known rpm and scale.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3474720"/>
            <a:ext cx="5148072" cy="288036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11696" y="3566160"/>
            <a:ext cx="4892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DIAL-IN PROCEDURE (first run, ≈ 30 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1696" y="3840480"/>
            <a:ext cx="489204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1  Heat to the setpoints on sheet 7, soak 10 min after the PIDs settle.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2  Set screw to 3 rpm; load a handful of virgin pellets or flakes.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3  Fill the bath to the overflow barb, start the pump; pull the first strand by hand through the notches, under both sheaves, to the puller.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4  Set puller so the strand reads 1.75 mm; adjust ±5 % at a time every minute.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5  Hang the strand under the dancer, wind 3 turns on the spool core, start the spool + level-wind.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6  Log rpm, puller speed and diameter every 5 min for the first spool.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212080"/>
            <a:ext cx="5852160" cy="114300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5303520"/>
            <a:ext cx="55961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READING THE STRAND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5577840"/>
            <a:ext cx="559612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•  Bubbles / foam → wet material.  Hazy / rough → too cool or too fast.  Oval → uneven cooling, add fan time.</a:t>
            </a:r>
          </a:p>
          <a:p>
            <a:pPr marL="146304" indent="-146304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•  Diameter wave with the screw turn → feed starving (bridge in hopper) or worn flights.</a:t>
            </a:r>
          </a:p>
          <a:p>
            <a:pPr marL="146304" indent="-146304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•  Motor skipping → die too small or too cold; open the die or add 5 °C.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222222"/>
                </a:solidFill>
                <a:latin typeface="Calibri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Calibri"/>
              </a:rPr>
              <a:t>All dimensions in mm  |  Printed parts PETG/ASA + off-the-shelf hardware, hand-tool assembly  |  Name: Ryan Boe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785"/>
                </a:solidFill>
                <a:latin typeface="Calibri"/>
              </a:rPr>
              <a:t>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804672"/>
          <a:ext cx="5669278" cy="439826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57694"/>
                <a:gridCol w="2319250"/>
                <a:gridCol w="472440"/>
                <a:gridCol w="1975658"/>
                <a:gridCol w="644236"/>
              </a:tblGrid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45720" marR="45720" marT="4572" marB="4572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marL="45720" marR="45720" marT="4572" marB="4572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FFFFFF"/>
                          </a:solidFill>
                          <a:latin typeface="Calibri"/>
                        </a:rPr>
                        <a:t>Qty</a:t>
                      </a:r>
                    </a:p>
                  </a:txBody>
                  <a:tcPr marL="45720" marR="45720" marT="4572" marB="4572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FFFFFF"/>
                          </a:solidFill>
                          <a:latin typeface="Calibri"/>
                        </a:rPr>
                        <a:t>Size / note</a:t>
                      </a:r>
                    </a:p>
                  </a:txBody>
                  <a:tcPr marL="45720" marR="45720" marT="4572" marB="4572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FFFFFF"/>
                          </a:solidFill>
                          <a:latin typeface="Calibri"/>
                        </a:rPr>
                        <a:t>Est. $</a:t>
                      </a:r>
                    </a:p>
                  </a:txBody>
                  <a:tcPr marL="45720" marR="45720" marT="4572" marB="4572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4572" marB="4572" anchor="ctr">
                    <a:solidFill>
                      <a:srgbClr val="D5DBE3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222222"/>
                          </a:solidFill>
                          <a:latin typeface="Calibri"/>
                        </a:rPr>
                        <a:t>DRIVE</a:t>
                      </a:r>
                    </a:p>
                  </a:txBody>
                  <a:tcPr marL="45720" marR="45720" marT="4572" marB="4572" anchor="ctr">
                    <a:solidFill>
                      <a:srgbClr val="D5DBE3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4572" marB="4572" anchor="ctr">
                    <a:solidFill>
                      <a:srgbClr val="D5DBE3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4572" marB="4572" anchor="ctr">
                    <a:solidFill>
                      <a:srgbClr val="D5DBE3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4572" marB="4572" anchor="ctr">
                    <a:solidFill>
                      <a:srgbClr val="D5DBE3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NEMA 23 stepper, 3 Nm class, 4.2 A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57 × 57 × 112, 8 mm shaft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35–50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NEMA 23 planetary gearbox 20:1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60 mm flange, Ø14 output (VERIFY)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50–90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Stepper driver DM542T (or TB6600)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24–36 V, set to 1.2 A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15–25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Clamp coupler 14 → 12.7 mm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≈ Ø25 × 32 (VERIFY bores)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8–12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Spindle: ½ in steel rod or Gr.8 ½-20 bolt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160 mm, last 22 mm threaded ½-20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5–8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R8-2RS bearing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½ × 1⅛ × 5/16 in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8–12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Thrust bearing ½ in bore + washers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OD 28 × 9 (VERIFY)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8–15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Shaft collar ½ in (set screw)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OD 25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4–6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Keyless chuck 13 mm, ½-20 UNF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closes on 7/16 in hex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12–20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M8 threaded rod, nuts, washers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M8 × 150 + 3 nuts each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8–12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4572" marB="4572" anchor="ctr">
                    <a:solidFill>
                      <a:srgbClr val="D5DBE3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222222"/>
                          </a:solidFill>
                          <a:latin typeface="Calibri"/>
                        </a:rPr>
                        <a:t>SCREW &amp; BARREL</a:t>
                      </a:r>
                    </a:p>
                  </a:txBody>
                  <a:tcPr marL="45720" marR="45720" marT="4572" marB="4572" anchor="ctr">
                    <a:solidFill>
                      <a:srgbClr val="D5DBE3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4572" marB="4572" anchor="ctr">
                    <a:solidFill>
                      <a:srgbClr val="D5DBE3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4572" marB="4572" anchor="ctr">
                    <a:solidFill>
                      <a:srgbClr val="D5DBE3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4572" marB="4572" anchor="ctr">
                    <a:solidFill>
                      <a:srgbClr val="D5DBE3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Ship auger bit Ø20 × 460, 7/16 hex shank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solid-core / continuous flight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15–25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3/4 NPT 304 SS nipple, 12 in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Sch 40: OD 26.67, ID 20.93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20–35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3/4 NPT floor flange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4 holes (VERIFY bolt circle)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10–15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3/4 NPT pipe tee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feed port on the side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6–12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3/4 NPT nipples: close ×1, 2 in ×1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close = flange link, 2 in = feed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8–14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3/4 NPT cap, brass or SS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die body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5–10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M10×1.5 brass bolt + SS mesh 60–100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1+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die plug (spares) + filter discs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3–8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Band heater 120 V, 150–200 W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28 mm ID × 50 wide (VERIFY)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40–70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K thermocouple, ring or bayonet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M4 ring lug, 1 m lead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10–16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REX-C100 PID, SSR output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48 × 48 mm panel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40–60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SSR-25DA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DC in, AC out, with heat sink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16–28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Thermal fuse 280 °C (or 300 °C stat)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in the heater feed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3–6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Strap, aluminium angle, guard sheet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 set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support + heat guard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10–15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72200" y="804672"/>
          <a:ext cx="5669278" cy="490575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57694"/>
                <a:gridCol w="2319250"/>
                <a:gridCol w="472440"/>
                <a:gridCol w="1975658"/>
                <a:gridCol w="644236"/>
              </a:tblGrid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45720" marR="45720" marT="4572" marB="4572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marL="45720" marR="45720" marT="4572" marB="4572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FFFFFF"/>
                          </a:solidFill>
                          <a:latin typeface="Calibri"/>
                        </a:rPr>
                        <a:t>Qty</a:t>
                      </a:r>
                    </a:p>
                  </a:txBody>
                  <a:tcPr marL="45720" marR="45720" marT="4572" marB="4572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FFFFFF"/>
                          </a:solidFill>
                          <a:latin typeface="Calibri"/>
                        </a:rPr>
                        <a:t>Size / note</a:t>
                      </a:r>
                    </a:p>
                  </a:txBody>
                  <a:tcPr marL="45720" marR="45720" marT="4572" marB="4572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FFFFFF"/>
                          </a:solidFill>
                          <a:latin typeface="Calibri"/>
                        </a:rPr>
                        <a:t>Est. $</a:t>
                      </a:r>
                    </a:p>
                  </a:txBody>
                  <a:tcPr marL="45720" marR="45720" marT="4572" marB="4572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4572" marB="4572" anchor="ctr">
                    <a:solidFill>
                      <a:srgbClr val="D5DBE3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222222"/>
                          </a:solidFill>
                          <a:latin typeface="Calibri"/>
                        </a:rPr>
                        <a:t>HOPPER (1 KG)</a:t>
                      </a:r>
                    </a:p>
                  </a:txBody>
                  <a:tcPr marL="45720" marR="45720" marT="4572" marB="4572" anchor="ctr">
                    <a:solidFill>
                      <a:srgbClr val="D5DBE3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4572" marB="4572" anchor="ctr">
                    <a:solidFill>
                      <a:srgbClr val="D5DBE3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4572" marB="4572" anchor="ctr">
                    <a:solidFill>
                      <a:srgbClr val="D5DBE3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4572" marB="4572" anchor="ctr">
                    <a:solidFill>
                      <a:srgbClr val="D5DBE3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37 mm gearmotor 24 V 12 rpm, 6 mm D-shaft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agitator, ≥ 1.5 Nm (VERIFY)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12–20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6 mm steel rod 150 mm + 2 × 626ZZ bearing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 set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agitator shaft + lid bearings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5–10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M4 × 16 bolts + nuts, M4 × 30 + nuts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 set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8 drum/cone bolts, stay clamp, lid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4–8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40 mm fan 24 V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feed throat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3–6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4572" marB="4572" anchor="ctr">
                    <a:solidFill>
                      <a:srgbClr val="D5DBE3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222222"/>
                          </a:solidFill>
                          <a:latin typeface="Calibri"/>
                        </a:rPr>
                        <a:t>WATER BATH + COOLING</a:t>
                      </a:r>
                    </a:p>
                  </a:txBody>
                  <a:tcPr marL="45720" marR="45720" marT="4572" marB="4572" anchor="ctr">
                    <a:solidFill>
                      <a:srgbClr val="D5DBE3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4572" marB="4572" anchor="ctr">
                    <a:solidFill>
                      <a:srgbClr val="D5DBE3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4572" marB="4572" anchor="ctr">
                    <a:solidFill>
                      <a:srgbClr val="D5DBE3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4572" marB="4572" anchor="ctr">
                    <a:solidFill>
                      <a:srgbClr val="D5DBE3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Small 12/24 V DC pump (aquarium type)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≥ 300 L/h, 1 m head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10–20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10 L bucket + silicone tube + 2 hose barbs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 set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reservoir, inlet + overflow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12–20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624ZZ bearing + M4 × 20 bolt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sheaves under the water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3–6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Sponge, PTFE tube Ø4 / Ø2, aquarium silicone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 set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wiper, eyelet, tank joints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8–14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4572" marB="4572" anchor="ctr">
                    <a:solidFill>
                      <a:srgbClr val="D5DBE3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222222"/>
                          </a:solidFill>
                          <a:latin typeface="Calibri"/>
                        </a:rPr>
                        <a:t>PULLER, LEVEL-WIND, SPOOLER</a:t>
                      </a:r>
                    </a:p>
                  </a:txBody>
                  <a:tcPr marL="45720" marR="45720" marT="4572" marB="4572" anchor="ctr">
                    <a:solidFill>
                      <a:srgbClr val="D5DBE3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4572" marB="4572" anchor="ctr">
                    <a:solidFill>
                      <a:srgbClr val="D5DBE3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4572" marB="4572" anchor="ctr">
                    <a:solidFill>
                      <a:srgbClr val="D5DBE3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4572" marB="4572" anchor="ctr">
                    <a:solidFill>
                      <a:srgbClr val="D5DBE3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NEMA 17 stepper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puller, spool drive, level-wind (donor Vyper?)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0–45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TMC2209 (or A4988) driver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1/16 micro-step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18–30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T8 × 8 lead screw 150 mm + brass nut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level-wind, 1.75 mm per spool turn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6–10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8 mm smooth rod 100 mm + 8 mm LM8UU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carriage guide (sleeve or bronze)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4–8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M8 rod 120 mm, spring 2 N/mm, nuts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idler hub cone (spool drive)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4–8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10 kΩ linear pot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dancer sensor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2–4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Empty 1 kg spool Ø200, 54 mm bore, 66 wide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VERIFY your spool (reuse a spent one)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0–10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4572" marB="4572" anchor="ctr">
                    <a:solidFill>
                      <a:srgbClr val="D5DBE3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222222"/>
                          </a:solidFill>
                          <a:latin typeface="Calibri"/>
                        </a:rPr>
                        <a:t>ELECTRONICS &amp; FRAME</a:t>
                      </a:r>
                    </a:p>
                  </a:txBody>
                  <a:tcPr marL="45720" marR="45720" marT="4572" marB="4572" anchor="ctr">
                    <a:solidFill>
                      <a:srgbClr val="D5DBE3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4572" marB="4572" anchor="ctr">
                    <a:solidFill>
                      <a:srgbClr val="D5DBE3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4572" marB="4572" anchor="ctr">
                    <a:solidFill>
                      <a:srgbClr val="D5DBE3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4572" marB="4572" anchor="ctr">
                    <a:solidFill>
                      <a:srgbClr val="D5DBE3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Arduino Nano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5 V logic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6–15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24 V 10 A PSU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240 W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20–30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MOSFET PWM board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agitator + pump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5–10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Contactor 24 V coil + E-stop NC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 set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hardware safety chain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15–30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Breaker, IEC inlet, wire, terminals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 set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120 V side, ferrules, GFCI outlet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20–40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Knobs, toggle, lamp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 set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front panel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6–12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2020 extrusion + T-nuts + screws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6 rails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895 ×2, 540 ×2, 395 ×2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50–85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Hose clamp, PTFE tape, Ni anti-seize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1 set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hopper joint, NPT threads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8–15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Printed parts, PETG / ASA / TPU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≈ 2.4 kg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sheet 14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80">
                          <a:solidFill>
                            <a:srgbClr val="222222"/>
                          </a:solidFill>
                          <a:latin typeface="Calibri"/>
                        </a:rPr>
                        <a:t>0–40</a:t>
                      </a:r>
                    </a:p>
                  </a:txBody>
                  <a:tcPr marL="45720" marR="45720" marT="4572" marB="4572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557784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B7785"/>
                </a:solidFill>
                <a:latin typeface="Calibri"/>
              </a:rPr>
              <a:t>Estimated purchase total ≈ $560–$1,060 (typical online listings, not quotes; shipping and tax excluded). Printed parts use your own filament.</a:t>
            </a:r>
          </a:p>
          <a:p>
            <a:pPr algn="l"/>
            <a:r>
              <a:rPr sz="950" b="0" i="0">
                <a:solidFill>
                  <a:srgbClr val="6B7785"/>
                </a:solidFill>
                <a:latin typeface="Calibri"/>
              </a:rPr>
              <a:t>Rev B adds ≈ $60–160 over Rev A ($497–899): 2 steppers + drivers, lead screw, pump + bucket, agitator motor, bearings. Reuse the donor Vyper's NEMA 17 and PSU parts to cut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222222"/>
                </a:solidFill>
                <a:latin typeface="Calibri"/>
              </a:rPr>
              <a:t>TOOLS + WORKAROUNDS (no lathe, no drill press)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Calibri"/>
              </a:rPr>
              <a:t>All dimensions in mm  |  Printed parts PETG/ASA + off-the-shelf hardware, hand-tool assembly  |  Name: Ryan Boe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785"/>
                </a:solidFill>
                <a:latin typeface="Calibri"/>
              </a:rPr>
              <a:t>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868680"/>
          <a:ext cx="11274551" cy="341985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49890"/>
                <a:gridCol w="3941510"/>
                <a:gridCol w="4583151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Tool / skill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Used for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If you do not have it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22222"/>
                          </a:solidFill>
                          <a:latin typeface="Calibri"/>
                        </a:rPr>
                        <a:t>Hacksaw + files + vice or clamps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2020 rails, M8 rods, spindle, auger tip, heat-guard sheet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buy rails and rods cut to length; auger tip: Dremel cut-off wheel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22222"/>
                          </a:solidFill>
                          <a:latin typeface="Calibri"/>
                        </a:rPr>
                        <a:t>Hand drill + 2.0 / 2.2 / 6 / 8.5 mm bits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die hole + entry cone, cap pilot hole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machine shop or maker space drills the plug + cap (≈ $10–20)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22222"/>
                          </a:solidFill>
                          <a:latin typeface="Calibri"/>
                        </a:rPr>
                        <a:t>M10 × 1.5 tap + wrench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thread for the die plug in the cap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buy a cap with a threaded centre, or a ready 1.75 mm die nozzle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22222"/>
                          </a:solidFill>
                          <a:latin typeface="Calibri"/>
                        </a:rPr>
                        <a:t>½-20 UNF die + stock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thread on the spindle for the chuck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use a Grade 8 ½-20 bolt/rod cut to length – no die needed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22222"/>
                          </a:solidFill>
                          <a:latin typeface="Calibri"/>
                        </a:rPr>
                        <a:t>2 pipe wrenches (or adjustable)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NPT stack: flange, nipples, tee, cap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none – borrow; do not hammer on stainless threads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22222"/>
                          </a:solidFill>
                          <a:latin typeface="Calibri"/>
                        </a:rPr>
                        <a:t>Hex keys, spanners, screwdrivers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M5 / M8 hardware, coupler, collar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22222"/>
                          </a:solidFill>
                          <a:latin typeface="Calibri"/>
                        </a:rPr>
                        <a:t>Calipers (0.01 mm)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screw, bore, strand diameter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1.75 mm drill bit as a go/no-go gauge until you buy them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22222"/>
                          </a:solidFill>
                          <a:latin typeface="Calibri"/>
                        </a:rPr>
                        <a:t>Multimeter + IR / contact thermometer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wiring checks, calibrating the PIDs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22222"/>
                          </a:solidFill>
                          <a:latin typeface="Calibri"/>
                        </a:rPr>
                        <a:t>Soldering iron, wire stripper, crimper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pots, fans, thermocouple leads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ferrules + screw terminals avoid soldering mains wires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22222"/>
                          </a:solidFill>
                          <a:latin typeface="Calibri"/>
                        </a:rPr>
                        <a:t>Aquarium silicone + a tray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seal and water-test the bath (P11, P12)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222222"/>
                          </a:solidFill>
                          <a:latin typeface="Calibri"/>
                        </a:rPr>
                        <a:t>let it cure 24 h; test with water over a tray, away from electronics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434840"/>
            <a:ext cx="5532120" cy="192024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4526279"/>
            <a:ext cx="52760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THE PARTS THAT REALLY WANT A MACHINE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4800600"/>
            <a:ext cx="5276088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Aft>
                <a:spcPts val="300"/>
              </a:spcAft>
            </a:pPr>
            <a:r>
              <a:rPr sz="950" b="0">
                <a:solidFill>
                  <a:srgbClr val="222222"/>
                </a:solidFill>
                <a:latin typeface="Calibri"/>
              </a:rPr>
              <a:t>•  Spindle thread and die hole are the two jobs where hand tools are marginal – both have a bought-part workaround above.</a:t>
            </a:r>
          </a:p>
          <a:p>
            <a:pPr marL="146304" indent="-146304">
              <a:spcAft>
                <a:spcPts val="300"/>
              </a:spcAft>
            </a:pPr>
            <a:r>
              <a:rPr sz="950" b="0">
                <a:solidFill>
                  <a:srgbClr val="222222"/>
                </a:solidFill>
                <a:latin typeface="Calibri"/>
              </a:rPr>
              <a:t>•  A local makerspace or machine shop can drill the die plug, tap the cap, and thread the spindle in 15 minutes – bring the parts and the sheet-9 drawing.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4434840"/>
            <a:ext cx="5559552" cy="192024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216" y="4526279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PRINTING + FINISHING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216" y="4800600"/>
            <a:ext cx="53035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Aft>
                <a:spcPts val="300"/>
              </a:spcAft>
            </a:pPr>
            <a:r>
              <a:rPr sz="950" b="0">
                <a:solidFill>
                  <a:srgbClr val="222222"/>
                </a:solidFill>
                <a:latin typeface="Calibri"/>
              </a:rPr>
              <a:t>•  Printer: your Vyper (245 × 245 × 260). Print the housing and head plate first and test-fit bearings before printing the rest.</a:t>
            </a:r>
          </a:p>
          <a:p>
            <a:pPr marL="146304" indent="-146304">
              <a:spcAft>
                <a:spcPts val="300"/>
              </a:spcAft>
            </a:pPr>
            <a:r>
              <a:rPr sz="950" b="0">
                <a:solidFill>
                  <a:srgbClr val="222222"/>
                </a:solidFill>
                <a:latin typeface="Calibri"/>
              </a:rPr>
              <a:t>•  Sandpaper rolls for the bearing seats, a 8.5 mm drill to clean rod holes, heat-set M3/M5 inserts if you want the electronics box to open often.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222222"/>
                </a:solidFill>
                <a:latin typeface="Calibri"/>
              </a:rPr>
              <a:t>ASSEMBLY ORDER, DESIGN CHECKS + OPEN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Calibri"/>
              </a:rPr>
              <a:t>All dimensions in mm  |  Printed parts PETG/ASA + off-the-shelf hardware, hand-tool assembly  |  Name: Ryan Boe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785"/>
                </a:solidFill>
                <a:latin typeface="Calibri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ASSEMBLY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4572000" cy="5440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1  Cut rails to length, square the frame, drop in T-nuts for every foot.</a:t>
            </a:r>
          </a:p>
          <a:p>
            <a:pPr>
              <a:spcAft>
                <a:spcPts val="35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2  Print P02, P03, P05 first; test-fit bearings, chuck and NPT tee; clean the seats.</a:t>
            </a:r>
          </a:p>
          <a:p>
            <a:pPr>
              <a:spcAft>
                <a:spcPts val="35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3  Thread the spindle (or cut the ½-20 bolt); fit R8 bearings, thrust bearing, collar.</a:t>
            </a:r>
          </a:p>
          <a:p>
            <a:pPr>
              <a:spcAft>
                <a:spcPts val="35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4  Mount motor + gearbox on the wall; couple to the spindle; set the driver to 1.2 A.</a:t>
            </a:r>
          </a:p>
          <a:p>
            <a:pPr>
              <a:spcAft>
                <a:spcPts val="35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5  Tie the housing to the head plate with the M8 rods; check the spindle spins free by hand.</a:t>
            </a:r>
          </a:p>
          <a:p>
            <a:pPr>
              <a:spcAft>
                <a:spcPts val="35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6  Prep the screw (cut tip, polish); seat it in the chuck, tighten with threadlocker.</a:t>
            </a:r>
          </a:p>
          <a:p>
            <a:pPr>
              <a:spcAft>
                <a:spcPts val="35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7  Build the NPT stack on the floor flange; PTFE the cold joints; bolt to the head plate.</a:t>
            </a:r>
          </a:p>
          <a:p>
            <a:pPr>
              <a:spcAft>
                <a:spcPts val="35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8  Fit barrel, cap, die plug, filter; shim + bands; clamp thermocouples.</a:t>
            </a:r>
          </a:p>
          <a:p>
            <a:pPr>
              <a:spcAft>
                <a:spcPts val="35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9  Bolt the hopper cone to the sleeve and the stay; fit the drum, lid frame, agitator and gearmotor.</a:t>
            </a:r>
          </a:p>
          <a:p>
            <a:pPr>
              <a:spcAft>
                <a:spcPts val="35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10  Seal and water-test the bath; mount sheaves, pump, bucket, sponge wiper.</a:t>
            </a:r>
          </a:p>
          <a:p>
            <a:pPr>
              <a:spcAft>
                <a:spcPts val="35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11  Mount puller, dancer, level-wind and spooler; thread a test string through the notches.</a:t>
            </a:r>
          </a:p>
          <a:p>
            <a:pPr>
              <a:spcAft>
                <a:spcPts val="35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12  Wire heaters and PIDs off the machine; test each zone to 100 °C empty.</a:t>
            </a:r>
          </a:p>
          <a:p>
            <a:pPr>
              <a:spcAft>
                <a:spcPts val="35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13  Dry-run the screw at 5 rpm empty for 5 min; then first heat with PLA and dial in (sheet 16).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03520" y="868680"/>
          <a:ext cx="6428231" cy="35661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846788"/>
                <a:gridCol w="3581443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DESIGN CHECK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Calibri"/>
                        </a:rPr>
                        <a:t>Screw output at 4 rpm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0.066 cm³/s = 295 g/h (est.)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Calibri"/>
                        </a:rPr>
                        <a:t>Thrust at 5 / 10 MPa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1571 N / 3142 N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Calibri"/>
                        </a:rPr>
                        <a:t>Screw torque at 5 / 10 MPa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6.1 / 12.2 Nm (+ friction)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Calibri"/>
                        </a:rPr>
                        <a:t>Torque at the 1.2 A driver limit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14.6 Nm = 145 MPa core shear (Rev A: 193)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Calibri"/>
                        </a:rPr>
                        <a:t>Thrust bearing seat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6.5 MPa on printed PETG (limit 15)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Calibri"/>
                        </a:rPr>
                        <a:t>Warm-up to 270 °C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112 kJ → 2.5 min ideal, 8–12 real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Calibri"/>
                        </a:rPr>
                        <a:t>Heater power / mains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800 W; 7.6 A total on a 15 A circuit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Calibri"/>
                        </a:rPr>
                        <a:t>Hopper vs 1 kg of flakes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6.4 L: 1.15 kg at 0.2 g/cm³ (90 % fill)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Calibri"/>
                        </a:rPr>
                        <a:t>Cooling in the water bath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52 mm needed, 485 mm available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Calibri"/>
                        </a:rPr>
                        <a:t>Spool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1 kg PLA = 335 m, R 89 of 100 mm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Calibri"/>
                        </a:rPr>
                        <a:t>Spool speed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3.0 → 5.3 rpm at 1.65 m/min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Calibri"/>
                        </a:rPr>
                        <a:t>Draw-down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22222"/>
                          </a:solidFill>
                          <a:latin typeface="Calibri"/>
                        </a:rPr>
                        <a:t>1.58× (×2.2 die → 1.75 mm)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303520" y="4572000"/>
            <a:ext cx="6428232" cy="178308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31536" y="4663440"/>
            <a:ext cx="6172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WHAT THE CHECKS SAY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31536" y="4937760"/>
            <a:ext cx="61722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•  Mechanically comfortable: bearings and rods have large margin; the screw core is the weak link, so the driver current is the fuse.</a:t>
            </a:r>
          </a:p>
          <a:p>
            <a:pPr marL="146304" indent="-146304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•  Water bath and 1 kg hopper both have ≥ 3× margin on the numbers that matter.</a:t>
            </a:r>
          </a:p>
          <a:p>
            <a:pPr marL="146304" indent="-146304"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Calibri"/>
              </a:rPr>
              <a:t>•  The one WARN is screw sag on the barrel floor (wear, not failure).</a:t>
            </a:r>
          </a:p>
          <a:p>
            <a:pPr marL="146304" indent="-146304">
              <a:spcAft>
                <a:spcPts val="300"/>
              </a:spcAft>
            </a:pPr>
            <a:r>
              <a:rPr sz="900" b="0">
                <a:solidFill>
                  <a:srgbClr val="A5001E"/>
                </a:solidFill>
                <a:latin typeface="Calibri"/>
              </a:rPr>
              <a:t>•  Throughput numbers are estimates until calibrated with a weighed metre.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222222"/>
                </a:solidFill>
                <a:latin typeface="Calibri"/>
              </a:rPr>
              <a:t>OPEN ITEMS (VERIFY) + MODIFICATION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Calibri"/>
              </a:rPr>
              <a:t>All dimensions in mm  |  Printed parts PETG/ASA + off-the-shelf hardware, hand-tool assembly  |  Name: Ryan Boe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785"/>
                </a:solidFill>
                <a:latin typeface="Calibri"/>
              </a:rPr>
              <a:t>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868680"/>
          <a:ext cx="5943600" cy="362102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4320"/>
                <a:gridCol w="3474720"/>
                <a:gridCol w="219456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VERIFY before ordering / printing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Auger bit: 20 mm OD, ≈ 8 mm core, 7/16 in hex, continuous flights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sets clearance, torque limit, screw length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Gearbox output shaft (12 vs 14 mm), flange PCD, pilot Ø38.1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coupler bores, wall holes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Chuck thread ½-20 UNF and retaining screw; spindle thread fit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reverse rotation can loosen it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Thrust bearing ½ in bore, OD ≤ 28; floor flange bolt circle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housing seat, head-plate holes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Band heater ID (27–28 mm) and watt rating; REX-C100 alarm relay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contact, warm-up, heat-ready interlock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Agitator gearmotor ≥ 1.5 Nm and 6 mm D-shaft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needs ≈ 0.2 Nm to sweep the cone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Pump flow / head, hose barb size, silicone sealing of P11/P12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printed tank must not leak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Your spool: Ø200, 54 mm bore, 66 wide; T8 nut size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hub cones, winding width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Printed-part temperatures near Z1 / head plate on PET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creep above 70 °C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Real throughput (weigh 1 m) and yield per kg of scrap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sets puller ratio table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92240" y="80467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ROADMAP (M2, M3, M5 are now in the foundation)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1097280"/>
          <a:ext cx="5330950" cy="32918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651"/>
                <a:gridCol w="1470607"/>
                <a:gridCol w="3492692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Mod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What it adds</a:t>
                      </a:r>
                    </a:p>
                  </a:txBody>
                  <a:tcPr marL="45720" marR="45720" marT="18288" marB="18288" anchor="ctr">
                    <a:solidFill>
                      <a:srgbClr val="36454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Compression screw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ground screw + hardened barrel liner; fixes wear, sag and surge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Level-wind  ✔ Rev B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done: NEMA 17 + T8 on the spooler base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Water bath  ✔ Rev 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done; next: air knife + chiller for hot days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Calibri"/>
                        </a:rPr>
                        <a:t>M4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Closed-loop diameter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optical or Hall gauge after the bath drives the puller (PID)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Calibri"/>
                        </a:rPr>
                        <a:t>M5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Hopper agitator  ✔ Rev 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done; next: heated drying hopper, side feeder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Calibri"/>
                        </a:rPr>
                        <a:t>M6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Melt sensing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die pressure transducer + melt thermocouple; auto-stop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Calibri"/>
                        </a:rPr>
                        <a:t>M7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Folded drive + enclosure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belt drive saves ≈ 250 mm, fan-cooled housing, quieter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Calibri"/>
                        </a:rPr>
                        <a:t>M8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Shredder hand-off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222222"/>
                          </a:solidFill>
                          <a:latin typeface="Calibri"/>
                        </a:rPr>
                        <a:t>chute from the DIY shredder, pellet cutter option</a:t>
                      </a:r>
                    </a:p>
                  </a:txBody>
                  <a:tcPr marL="45720" marR="45720" marT="18288" marB="18288" anchor="ctr">
                    <a:solidFill>
                      <a:srgbClr val="F5F5F5"/>
                    </a:solidFill>
                    <a:lnL w="6350">
                      <a:solidFill>
                        <a:srgbClr val="D5DBE3"/>
                      </a:solidFill>
                    </a:lnL>
                    <a:lnR w="6350">
                      <a:solidFill>
                        <a:srgbClr val="D5DBE3"/>
                      </a:solidFill>
                    </a:lnR>
                    <a:lnT w="6350">
                      <a:solidFill>
                        <a:srgbClr val="D5DBE3"/>
                      </a:solidFill>
                    </a:lnT>
                    <a:lnB w="6350">
                      <a:solidFill>
                        <a:srgbClr val="D5DB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4617720"/>
            <a:ext cx="5943600" cy="1783080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4709159"/>
            <a:ext cx="5687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4983480"/>
            <a:ext cx="5687568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spcAft>
                <a:spcPts val="300"/>
              </a:spcAft>
            </a:pPr>
            <a:r>
              <a:rPr sz="950" b="0">
                <a:solidFill>
                  <a:srgbClr val="222222"/>
                </a:solidFill>
                <a:latin typeface="Calibri"/>
              </a:rPr>
              <a:t>•  Confirm the auger bit and gearbox listings (items 1–2) – they fix the most dimensions.</a:t>
            </a:r>
          </a:p>
          <a:p>
            <a:pPr marL="146304" indent="-146304">
              <a:spcAft>
                <a:spcPts val="300"/>
              </a:spcAft>
            </a:pPr>
            <a:r>
              <a:rPr sz="950" b="0">
                <a:solidFill>
                  <a:srgbClr val="222222"/>
                </a:solidFill>
                <a:latin typeface="Calibri"/>
              </a:rPr>
              <a:t>•  Print P02, P03 and P05 first; test-fit bearings, chuck and the hopper sleeve on the tee.</a:t>
            </a:r>
          </a:p>
          <a:p>
            <a:pPr marL="146304" indent="-146304">
              <a:spcAft>
                <a:spcPts val="300"/>
              </a:spcAft>
            </a:pPr>
            <a:r>
              <a:rPr sz="950" b="0">
                <a:solidFill>
                  <a:srgbClr val="222222"/>
                </a:solidFill>
                <a:latin typeface="Calibri"/>
              </a:rPr>
              <a:t>•  Tell me what changes (your parts, bed size, scrap type) and I will re-run the generator and the checker: every drawing and file follows fm_params.py.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4526280"/>
            <a:ext cx="5330952" cy="1874519"/>
          </a:xfrm>
          <a:prstGeom prst="rect">
            <a:avLst/>
          </a:prstGeom>
          <a:solidFill>
            <a:srgbClr val="F5F5F5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0255" y="4617720"/>
            <a:ext cx="5074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SAFETY IN ONE PARAGRAPH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0255" y="4892040"/>
            <a:ext cx="5074920" cy="1417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50" b="0">
                <a:solidFill>
                  <a:srgbClr val="222222"/>
                </a:solidFill>
                <a:latin typeface="Calibri"/>
              </a:rPr>
              <a:t>Hot barrel (up to 280 °C), pressurised melt, mains wiring next to water, and two rotating parts (screw, agitator). Use the guard, the E-stop, the thermal fuse and a GFCI; never reach into the hopper while the screw or paddle turns; ventilate for ABS/PET fumes; wear glasses when clearing a die.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