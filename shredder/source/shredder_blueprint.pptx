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a0747fb6-1ade-5eb4-9f7f-1a91e44a2ee3}">
          <p14:sldIdLst>
            <p14:sldId id="256"/>
          </p14:sldIdLst>
        </p14:section>
        <p14:section name="Machine" id="{6b56199e-4eb3-3a43-26cf-94a07d6f4ab5}">
          <p14:sldIdLst>
            <p14:sldId id="257"/>
            <p14:sldId id="258"/>
          </p14:sldIdLst>
        </p14:section>
        <p14:section name="Cutter" id="{608addc9-2355-8e85-2a20-5c8cee06b2ab}">
          <p14:sldIdLst>
            <p14:sldId id="259"/>
            <p14:sldId id="260"/>
            <p14:sldId id="261"/>
          </p14:sldIdLst>
        </p14:section>
        <p14:section name="Frame" id="{f085446b-61cc-6ac9-8b10-0deffe3e7a3b}">
          <p14:sldIdLst>
            <p14:sldId id="262"/>
          </p14:sldIdLst>
        </p14:section>
        <p14:section name="Drive and safety" id="{44e2277a-623e-f981-59e9-fb7a85eb6c8c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Build" id="{8983a002-26a2-4c3f-02cc-2eb8631fadbf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EE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All dimensions in mm  |  Steel plate, laser / waterjet cut  |  Name: Ryan Boe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DIY DUAL-SHAFT SHREDDER – BLUEPRINT SET</a:t>
            </a:r>
            <a:endParaRPr lang="en-US" sz="2600" dirty="0"/>
          </a:p>
        </p:txBody>
      </p:sp>
      <p:pic>
        <p:nvPicPr>
          <p:cNvPr id="3" name="hero 1" descr="Render: h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7223760" cy="4517136"/>
          </a:xfrm>
          <a:prstGeom prst="rect">
            <a:avLst/>
          </a:prstGeom>
        </p:spPr>
      </p:pic>
      <p:sp>
        <p:nvSpPr>
          <p:cNvPr id="4" name="text 2"/>
          <p:cNvSpPr txBox="1"/>
          <p:nvPr/>
        </p:nvSpPr>
        <p:spPr>
          <a:xfrm>
            <a:off x="457200" y="868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ASSEMBLY – lid open, controller box on base plate</a:t>
            </a:r>
            <a:endParaRPr lang="en-US" sz="1200" dirty="0"/>
          </a:p>
        </p:txBody>
      </p:sp>
      <p:sp>
        <p:nvSpPr>
          <p:cNvPr id="5" name="stat card 3"/>
          <p:cNvSpPr/>
          <p:nvPr/>
        </p:nvSpPr>
        <p:spPr>
          <a:xfrm>
            <a:off x="7909560" y="914400"/>
            <a:ext cx="1828800" cy="10058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0" y="9875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26 + 26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40817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blades + spacers (Ø76 / Ø58)</a:t>
            </a:r>
            <a:endParaRPr lang="en-US" sz="1000" dirty="0"/>
          </a:p>
        </p:txBody>
      </p:sp>
      <p:sp>
        <p:nvSpPr>
          <p:cNvPr id="8" name="stat card 6"/>
          <p:cNvSpPr/>
          <p:nvPr/>
        </p:nvSpPr>
        <p:spPr>
          <a:xfrm>
            <a:off x="9875520" y="914400"/>
            <a:ext cx="1874520" cy="10058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12680" y="9875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18 teeth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012680" y="14081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hooked, per blade – fine strips, not chunks</a:t>
            </a:r>
            <a:endParaRPr lang="en-US" sz="1000" dirty="0"/>
          </a:p>
        </p:txBody>
      </p:sp>
      <p:sp>
        <p:nvSpPr>
          <p:cNvPr id="11" name="stat card 9"/>
          <p:cNvSpPr/>
          <p:nvPr/>
        </p:nvSpPr>
        <p:spPr>
          <a:xfrm>
            <a:off x="7909560" y="2057400"/>
            <a:ext cx="1828800" cy="10058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21305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68 mm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55117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shaft spacing; 1:1 gears sync the shafts</a:t>
            </a:r>
            <a:endParaRPr lang="en-US" sz="1000" dirty="0"/>
          </a:p>
        </p:txBody>
      </p:sp>
      <p:sp>
        <p:nvSpPr>
          <p:cNvPr id="14" name="stat card 12"/>
          <p:cNvSpPr/>
          <p:nvPr/>
        </p:nvSpPr>
        <p:spPr>
          <a:xfrm>
            <a:off x="9875520" y="2057400"/>
            <a:ext cx="1874520" cy="10058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12680" y="21305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70 Nm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0012680" y="255117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jam torque cap (driver set to 3.7 A); gearbox 45 Nm nominal</a:t>
            </a:r>
            <a:endParaRPr lang="en-US" sz="1000" dirty="0"/>
          </a:p>
        </p:txBody>
      </p:sp>
      <p:sp>
        <p:nvSpPr>
          <p:cNvPr id="17" name="notes box 15"/>
          <p:cNvSpPr/>
          <p:nvPr/>
        </p:nvSpPr>
        <p:spPr>
          <a:xfrm>
            <a:off x="7909560" y="3200400"/>
            <a:ext cx="3840480" cy="3108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notes text 16"/>
          <p:cNvSpPr txBox="1"/>
          <p:nvPr/>
        </p:nvSpPr>
        <p:spPr>
          <a:xfrm>
            <a:off x="8019288" y="3273552"/>
            <a:ext cx="362102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SHEET INDEX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1  Overview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2  Assembly views + overall size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3  Exploded view + part numbers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4  Cutter blade + spacer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5  Cutter stack (section)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6  Comb, wall + top plate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7  End plates (far / drive / motor)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8  Gear sync + drive chain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9  Drive-train stack-up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10  Motor cradle + plywood base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11  Calculations 1: torque, speed, cutting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12  Calculations 2: gears, bearings, mass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13  Safety + electrical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14  Bill of materials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15  Print / cut / buy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16  Assembly order + checks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5961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Models: shredder_assembly.fbx (Blender) · Cut files: shredder_dxf.zip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8704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Dimensions marked VERIFY come from listings or photos, not drawings – see sheet 16.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ASSEMBLY VIEWS – OVERALL SIZE</a:t>
            </a:r>
            <a:endParaRPr lang="en-US" sz="2600" dirty="0"/>
          </a:p>
        </p:txBody>
      </p:sp>
      <p:sp>
        <p:nvSpPr>
          <p:cNvPr id="3" name="text 19"/>
          <p:cNvSpPr txBox="1"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SIDE (from +X) – lid closed</a:t>
            </a:r>
            <a:endParaRPr lang="en-US" sz="1200" dirty="0"/>
          </a:p>
        </p:txBody>
      </p:sp>
      <p:pic>
        <p:nvPicPr>
          <p:cNvPr id="4" name="side 20" descr="Render: s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6858000" cy="4288536"/>
          </a:xfrm>
          <a:prstGeom prst="rect">
            <a:avLst/>
          </a:prstGeom>
        </p:spPr>
      </p:pic>
      <p:sp>
        <p:nvSpPr>
          <p:cNvPr id="5" name="line 21"/>
          <p:cNvSpPr/>
          <p:nvPr/>
        </p:nvSpPr>
        <p:spPr>
          <a:xfrm>
            <a:off x="5692142" y="5078886"/>
            <a:ext cx="0" cy="248413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6" name="line 22"/>
          <p:cNvSpPr/>
          <p:nvPr/>
        </p:nvSpPr>
        <p:spPr>
          <a:xfrm>
            <a:off x="1743409" y="5078886"/>
            <a:ext cx="0" cy="248413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7" name="line 23"/>
          <p:cNvSpPr/>
          <p:nvPr/>
        </p:nvSpPr>
        <p:spPr>
          <a:xfrm>
            <a:off x="1743409" y="5281579"/>
            <a:ext cx="3948733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8" name="text 24"/>
          <p:cNvSpPr txBox="1"/>
          <p:nvPr/>
        </p:nvSpPr>
        <p:spPr>
          <a:xfrm>
            <a:off x="2894816" y="5318155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518 overall length</a:t>
            </a:r>
            <a:endParaRPr lang="en-US" sz="1000" dirty="0"/>
          </a:p>
        </p:txBody>
      </p:sp>
      <p:sp>
        <p:nvSpPr>
          <p:cNvPr id="9" name="line 25"/>
          <p:cNvSpPr/>
          <p:nvPr/>
        </p:nvSpPr>
        <p:spPr>
          <a:xfrm>
            <a:off x="4366246" y="2081236"/>
            <a:ext cx="1435628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10" name="line 26"/>
          <p:cNvSpPr/>
          <p:nvPr/>
        </p:nvSpPr>
        <p:spPr>
          <a:xfrm>
            <a:off x="5801873" y="2081236"/>
            <a:ext cx="0" cy="2999176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1" name="text 27"/>
          <p:cNvSpPr txBox="1"/>
          <p:nvPr/>
        </p:nvSpPr>
        <p:spPr>
          <a:xfrm>
            <a:off x="5856737" y="3489383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393 height</a:t>
            </a:r>
            <a:endParaRPr lang="en-US" sz="1000" dirty="0"/>
          </a:p>
        </p:txBody>
      </p:sp>
      <p:sp>
        <p:nvSpPr>
          <p:cNvPr id="12" name="text 28"/>
          <p:cNvSpPr txBox="1"/>
          <p:nvPr/>
        </p:nvSpPr>
        <p:spPr>
          <a:xfrm>
            <a:off x="745236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FRONT (far end)</a:t>
            </a:r>
            <a:endParaRPr lang="en-US" sz="1200" dirty="0"/>
          </a:p>
        </p:txBody>
      </p:sp>
      <p:pic>
        <p:nvPicPr>
          <p:cNvPr id="13" name="front 29" descr="Render: fro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097280"/>
            <a:ext cx="4389120" cy="2743200"/>
          </a:xfrm>
          <a:prstGeom prst="rect">
            <a:avLst/>
          </a:prstGeom>
        </p:spPr>
      </p:pic>
      <p:sp>
        <p:nvSpPr>
          <p:cNvPr id="14" name="line 30"/>
          <p:cNvSpPr/>
          <p:nvPr/>
        </p:nvSpPr>
        <p:spPr>
          <a:xfrm>
            <a:off x="10590732" y="3399159"/>
            <a:ext cx="0" cy="249034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15" name="line 31"/>
          <p:cNvSpPr/>
          <p:nvPr/>
        </p:nvSpPr>
        <p:spPr>
          <a:xfrm>
            <a:off x="8520248" y="3399159"/>
            <a:ext cx="0" cy="249034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16" name="line 32"/>
          <p:cNvSpPr/>
          <p:nvPr/>
        </p:nvSpPr>
        <p:spPr>
          <a:xfrm>
            <a:off x="8520248" y="3611618"/>
            <a:ext cx="2070483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7" name="text 33"/>
          <p:cNvSpPr txBox="1"/>
          <p:nvPr/>
        </p:nvSpPr>
        <p:spPr>
          <a:xfrm>
            <a:off x="8732530" y="364819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434 base plate</a:t>
            </a:r>
            <a:endParaRPr lang="en-US" sz="1000" dirty="0"/>
          </a:p>
        </p:txBody>
      </p:sp>
      <p:sp>
        <p:nvSpPr>
          <p:cNvPr id="18" name="text 34"/>
          <p:cNvSpPr txBox="1"/>
          <p:nvPr/>
        </p:nvSpPr>
        <p:spPr>
          <a:xfrm>
            <a:off x="7452360" y="3913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TOP – 434 × 546 base plate</a:t>
            </a:r>
            <a:endParaRPr lang="en-US" sz="1200" dirty="0"/>
          </a:p>
        </p:txBody>
      </p:sp>
      <p:pic>
        <p:nvPicPr>
          <p:cNvPr id="19" name="top 35" descr="Render: 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4160520"/>
            <a:ext cx="4389120" cy="2139696"/>
          </a:xfrm>
          <a:prstGeom prst="rect">
            <a:avLst/>
          </a:prstGeom>
        </p:spPr>
      </p:pic>
      <p:sp>
        <p:nvSpPr>
          <p:cNvPr id="20" name="notes box 36"/>
          <p:cNvSpPr/>
          <p:nvPr/>
        </p:nvSpPr>
        <p:spPr>
          <a:xfrm>
            <a:off x="457200" y="5486400"/>
            <a:ext cx="6766560" cy="868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1" name="notes text 37"/>
          <p:cNvSpPr txBox="1"/>
          <p:nvPr/>
        </p:nvSpPr>
        <p:spPr>
          <a:xfrm>
            <a:off x="566928" y="5559552"/>
            <a:ext cx="65471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DESIGN NOTES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Base plate 434 × 546 carries the machine, the motor cradle and the controller box; a cut-out lets the discharge chute drop through.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Funnel overhangs the end plates by ≈ 33 mm each way – the 140 mm throat keeps hands away from the blades.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EXPLODED VIEW – PART NUMBERS</a:t>
            </a:r>
            <a:endParaRPr lang="en-US" sz="2600" dirty="0"/>
          </a:p>
        </p:txBody>
      </p:sp>
      <p:pic>
        <p:nvPicPr>
          <p:cNvPr id="3" name="exploded 38" descr="Render: explod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7680960" cy="4800600"/>
          </a:xfrm>
          <a:prstGeom prst="rect">
            <a:avLst/>
          </a:prstGeom>
        </p:spPr>
      </p:pic>
      <p:sp>
        <p:nvSpPr>
          <p:cNvPr id="4" name="bubble 39"/>
          <p:cNvSpPr/>
          <p:nvPr/>
        </p:nvSpPr>
        <p:spPr>
          <a:xfrm>
            <a:off x="5554431" y="4692415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bubble 40"/>
          <p:cNvSpPr/>
          <p:nvPr/>
        </p:nvSpPr>
        <p:spPr>
          <a:xfrm>
            <a:off x="5722980" y="4179423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bubble 41"/>
          <p:cNvSpPr/>
          <p:nvPr/>
        </p:nvSpPr>
        <p:spPr>
          <a:xfrm>
            <a:off x="5261835" y="4198001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7" name="bubble 42"/>
          <p:cNvSpPr/>
          <p:nvPr/>
        </p:nvSpPr>
        <p:spPr>
          <a:xfrm>
            <a:off x="5452035" y="419003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8" name="bubble 43"/>
          <p:cNvSpPr/>
          <p:nvPr/>
        </p:nvSpPr>
        <p:spPr>
          <a:xfrm>
            <a:off x="4841638" y="4177599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9" name="bubble 44"/>
          <p:cNvSpPr/>
          <p:nvPr/>
        </p:nvSpPr>
        <p:spPr>
          <a:xfrm>
            <a:off x="4782063" y="3894123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10" name="bubble 45"/>
          <p:cNvSpPr/>
          <p:nvPr/>
        </p:nvSpPr>
        <p:spPr>
          <a:xfrm>
            <a:off x="4505644" y="385394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11" name="bubble 46"/>
          <p:cNvSpPr/>
          <p:nvPr/>
        </p:nvSpPr>
        <p:spPr>
          <a:xfrm>
            <a:off x="4375068" y="364497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8</a:t>
            </a:r>
            <a:endParaRPr lang="en-US" sz="1000" dirty="0"/>
          </a:p>
        </p:txBody>
      </p:sp>
      <p:sp>
        <p:nvSpPr>
          <p:cNvPr id="12" name="bubble 47"/>
          <p:cNvSpPr/>
          <p:nvPr/>
        </p:nvSpPr>
        <p:spPr>
          <a:xfrm>
            <a:off x="4533680" y="3727494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9</a:t>
            </a:r>
            <a:endParaRPr lang="en-US" sz="1000" dirty="0"/>
          </a:p>
        </p:txBody>
      </p:sp>
      <p:sp>
        <p:nvSpPr>
          <p:cNvPr id="13" name="bubble 48"/>
          <p:cNvSpPr/>
          <p:nvPr/>
        </p:nvSpPr>
        <p:spPr>
          <a:xfrm>
            <a:off x="4086792" y="367315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14" name="bubble 49"/>
          <p:cNvSpPr/>
          <p:nvPr/>
        </p:nvSpPr>
        <p:spPr>
          <a:xfrm>
            <a:off x="3889967" y="3329141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11</a:t>
            </a:r>
            <a:endParaRPr lang="en-US" sz="1000" dirty="0"/>
          </a:p>
        </p:txBody>
      </p:sp>
      <p:sp>
        <p:nvSpPr>
          <p:cNvPr id="15" name="bubble 50"/>
          <p:cNvSpPr/>
          <p:nvPr/>
        </p:nvSpPr>
        <p:spPr>
          <a:xfrm>
            <a:off x="3295605" y="2924066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12</a:t>
            </a:r>
            <a:endParaRPr lang="en-US" sz="1000" dirty="0"/>
          </a:p>
        </p:txBody>
      </p:sp>
      <p:sp>
        <p:nvSpPr>
          <p:cNvPr id="16" name="bubble 51"/>
          <p:cNvSpPr/>
          <p:nvPr/>
        </p:nvSpPr>
        <p:spPr>
          <a:xfrm>
            <a:off x="3340299" y="3171153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13</a:t>
            </a:r>
            <a:endParaRPr lang="en-US" sz="1000" dirty="0"/>
          </a:p>
        </p:txBody>
      </p:sp>
      <p:sp>
        <p:nvSpPr>
          <p:cNvPr id="17" name="bubble 52"/>
          <p:cNvSpPr/>
          <p:nvPr/>
        </p:nvSpPr>
        <p:spPr>
          <a:xfrm>
            <a:off x="5172640" y="2883981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14</a:t>
            </a:r>
            <a:endParaRPr lang="en-US" sz="1000" dirty="0"/>
          </a:p>
        </p:txBody>
      </p:sp>
      <p:sp>
        <p:nvSpPr>
          <p:cNvPr id="18" name="bubble 53"/>
          <p:cNvSpPr/>
          <p:nvPr/>
        </p:nvSpPr>
        <p:spPr>
          <a:xfrm>
            <a:off x="5131595" y="3712853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15</a:t>
            </a:r>
            <a:endParaRPr lang="en-US" sz="1000" dirty="0"/>
          </a:p>
        </p:txBody>
      </p:sp>
      <p:sp>
        <p:nvSpPr>
          <p:cNvPr id="19" name="bubble 54"/>
          <p:cNvSpPr/>
          <p:nvPr/>
        </p:nvSpPr>
        <p:spPr>
          <a:xfrm>
            <a:off x="5063570" y="5086736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16</a:t>
            </a:r>
            <a:endParaRPr lang="en-US" sz="1000" dirty="0"/>
          </a:p>
        </p:txBody>
      </p:sp>
      <p:sp>
        <p:nvSpPr>
          <p:cNvPr id="20" name="legend box 55"/>
          <p:cNvSpPr/>
          <p:nvPr/>
        </p:nvSpPr>
        <p:spPr>
          <a:xfrm>
            <a:off x="8321040" y="914400"/>
            <a:ext cx="3429000" cy="45720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1" name="text 56"/>
          <p:cNvSpPr txBox="1"/>
          <p:nvPr/>
        </p:nvSpPr>
        <p:spPr>
          <a:xfrm>
            <a:off x="845820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PARTS</a:t>
            </a:r>
            <a:endParaRPr lang="en-US" sz="1200" dirty="0"/>
          </a:p>
        </p:txBody>
      </p:sp>
      <p:sp>
        <p:nvSpPr>
          <p:cNvPr id="22" name="legend text 57"/>
          <p:cNvSpPr txBox="1"/>
          <p:nvPr/>
        </p:nvSpPr>
        <p:spPr>
          <a:xfrm>
            <a:off x="8458200" y="1325880"/>
            <a:ext cx="31546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1   Far end plate (16 mm)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  Tie rods M8 × 110 (4)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3   Cutter stack: 26 blades, 26 spacers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4   Combs + wall plates (52)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5   Drive end plate (16 mm)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6   Sync gears m2 × 34 T × 20 (2)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7   Gear guard (printed PETG)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8   Standoffs Ø12 × 106 (4)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9   XL2 jaw coupler D54 × 78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10   Motor mount plate (12 mm)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11   10:1 planetary gearbox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12   NEMA 34 closed-loop motor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13   Motor cradle (12 mm)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14   Throat + funnel + lid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15   Top plate (inlet 70 × 81)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16   Discharge chute</a:t>
            </a:r>
            <a:endParaRPr lang="en-US" sz="1050" dirty="0"/>
          </a:p>
        </p:txBody>
      </p:sp>
      <p:sp>
        <p:nvSpPr>
          <p:cNvPr id="23" name="text 58"/>
          <p:cNvSpPr txBox="1"/>
          <p:nvPr/>
        </p:nvSpPr>
        <p:spPr>
          <a:xfrm>
            <a:off x="8321040" y="56235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Not shown: bearings (4 × 6205), M6/M8 hardware, plywood base, controller box.</a:t>
            </a:r>
            <a:endParaRPr lang="en-US" sz="1050" dirty="0"/>
          </a:p>
        </p:txBody>
      </p:sp>
      <p:sp>
        <p:nvSpPr>
          <p:cNvPr id="24" name="text 59"/>
          <p:cNvSpPr txBox="1"/>
          <p:nvPr/>
        </p:nvSpPr>
        <p:spPr>
          <a:xfrm>
            <a:off x="457200" y="5806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Exploded along the shaft axis; the hopper and top / bottom plates are also lifted / dropped for clarity.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CUTTER BLADE + SPACER – 3.0 AND 3.4 MM STEEL</a:t>
            </a:r>
            <a:endParaRPr lang="en-US" sz="2600" dirty="0"/>
          </a:p>
        </p:txBody>
      </p:sp>
      <p:sp>
        <p:nvSpPr>
          <p:cNvPr id="3" name="text 60"/>
          <p:cNvSpPr txBox="1"/>
          <p:nvPr/>
        </p:nvSpPr>
        <p:spPr>
          <a:xfrm>
            <a:off x="457200" y="868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BLADE (×26, 3.0 mm) – shaft A orientation</a:t>
            </a:r>
            <a:endParaRPr lang="en-US" sz="1200" dirty="0"/>
          </a:p>
        </p:txBody>
      </p:sp>
      <p:sp>
        <p:nvSpPr>
          <p:cNvPr id="4" name="blade 61"/>
          <p:cNvSpPr/>
          <p:nvPr/>
        </p:nvSpPr>
        <p:spPr>
          <a:xfrm>
            <a:off x="866047" y="1760486"/>
            <a:ext cx="3571427" cy="3519909"/>
          </a:xfrm>
          <a:custGeom>
            <a:avLst/>
            <a:gdLst/>
            <a:ahLst/>
            <a:cxnLst/>
            <a:rect l="l" t="t" r="r" b="b"/>
            <a:pathLst>
              <a:path w="3571427" h="3519909">
                <a:moveTo>
                  <a:pt x="3564034" y="1763015"/>
                </a:moveTo>
                <a:lnTo>
                  <a:pt x="3552967" y="1763769"/>
                </a:lnTo>
                <a:lnTo>
                  <a:pt x="3540394" y="1761508"/>
                </a:lnTo>
                <a:lnTo>
                  <a:pt x="3464152" y="1736220"/>
                </a:lnTo>
                <a:lnTo>
                  <a:pt x="3436462" y="1730805"/>
                </a:lnTo>
                <a:lnTo>
                  <a:pt x="3421958" y="1730145"/>
                </a:lnTo>
                <a:lnTo>
                  <a:pt x="3393327" y="1733583"/>
                </a:lnTo>
                <a:lnTo>
                  <a:pt x="3367897" y="1741918"/>
                </a:lnTo>
                <a:lnTo>
                  <a:pt x="3357396" y="1747711"/>
                </a:lnTo>
                <a:lnTo>
                  <a:pt x="3349202" y="1754727"/>
                </a:lnTo>
                <a:lnTo>
                  <a:pt x="3343645" y="1762639"/>
                </a:lnTo>
                <a:lnTo>
                  <a:pt x="3340584" y="1771068"/>
                </a:lnTo>
                <a:lnTo>
                  <a:pt x="3340160" y="1788492"/>
                </a:lnTo>
                <a:lnTo>
                  <a:pt x="3355418" y="1867088"/>
                </a:lnTo>
                <a:lnTo>
                  <a:pt x="3366343" y="1910647"/>
                </a:lnTo>
                <a:lnTo>
                  <a:pt x="3372277" y="1945448"/>
                </a:lnTo>
                <a:lnTo>
                  <a:pt x="3380094" y="1971584"/>
                </a:lnTo>
                <a:lnTo>
                  <a:pt x="3386451" y="2006338"/>
                </a:lnTo>
                <a:lnTo>
                  <a:pt x="3394504" y="2032473"/>
                </a:lnTo>
                <a:lnTo>
                  <a:pt x="3401144" y="2067180"/>
                </a:lnTo>
                <a:lnTo>
                  <a:pt x="3439052" y="2224278"/>
                </a:lnTo>
                <a:lnTo>
                  <a:pt x="3460338" y="2320297"/>
                </a:lnTo>
                <a:lnTo>
                  <a:pt x="3466318" y="2354957"/>
                </a:lnTo>
                <a:lnTo>
                  <a:pt x="3466460" y="2363104"/>
                </a:lnTo>
                <a:lnTo>
                  <a:pt x="3463446" y="2369225"/>
                </a:lnTo>
                <a:lnTo>
                  <a:pt x="3455723" y="2371062"/>
                </a:lnTo>
                <a:lnTo>
                  <a:pt x="3445080" y="2368001"/>
                </a:lnTo>
                <a:lnTo>
                  <a:pt x="3434014" y="2361550"/>
                </a:lnTo>
                <a:lnTo>
                  <a:pt x="3393044" y="2328067"/>
                </a:lnTo>
                <a:lnTo>
                  <a:pt x="3359373" y="2304004"/>
                </a:lnTo>
                <a:lnTo>
                  <a:pt x="3333473" y="2291571"/>
                </a:lnTo>
                <a:lnTo>
                  <a:pt x="3319487" y="2287522"/>
                </a:lnTo>
                <a:lnTo>
                  <a:pt x="3291656" y="2283943"/>
                </a:lnTo>
                <a:lnTo>
                  <a:pt x="3266791" y="2285968"/>
                </a:lnTo>
                <a:lnTo>
                  <a:pt x="3256714" y="2289782"/>
                </a:lnTo>
                <a:lnTo>
                  <a:pt x="3248755" y="2295339"/>
                </a:lnTo>
                <a:lnTo>
                  <a:pt x="3243010" y="2302214"/>
                </a:lnTo>
                <a:lnTo>
                  <a:pt x="3236653" y="2318414"/>
                </a:lnTo>
                <a:lnTo>
                  <a:pt x="3224079" y="2397480"/>
                </a:lnTo>
                <a:lnTo>
                  <a:pt x="3219511" y="2442170"/>
                </a:lnTo>
                <a:lnTo>
                  <a:pt x="3213107" y="2476924"/>
                </a:lnTo>
                <a:lnTo>
                  <a:pt x="3211553" y="2504143"/>
                </a:lnTo>
                <a:lnTo>
                  <a:pt x="3205666" y="2538991"/>
                </a:lnTo>
                <a:lnTo>
                  <a:pt x="3204254" y="2566257"/>
                </a:lnTo>
                <a:lnTo>
                  <a:pt x="3198650" y="2601152"/>
                </a:lnTo>
                <a:lnTo>
                  <a:pt x="3180567" y="2761734"/>
                </a:lnTo>
                <a:lnTo>
                  <a:pt x="3167664" y="2859261"/>
                </a:lnTo>
                <a:lnTo>
                  <a:pt x="3161495" y="2893873"/>
                </a:lnTo>
                <a:lnTo>
                  <a:pt x="3158810" y="2901596"/>
                </a:lnTo>
                <a:lnTo>
                  <a:pt x="3153866" y="2906305"/>
                </a:lnTo>
                <a:lnTo>
                  <a:pt x="3146001" y="2905363"/>
                </a:lnTo>
                <a:lnTo>
                  <a:pt x="3137054" y="2898865"/>
                </a:lnTo>
                <a:lnTo>
                  <a:pt x="3128860" y="2889023"/>
                </a:lnTo>
                <a:lnTo>
                  <a:pt x="3101782" y="2843532"/>
                </a:lnTo>
                <a:lnTo>
                  <a:pt x="3078425" y="2809438"/>
                </a:lnTo>
                <a:lnTo>
                  <a:pt x="3058317" y="2788906"/>
                </a:lnTo>
                <a:lnTo>
                  <a:pt x="3046544" y="2780288"/>
                </a:lnTo>
                <a:lnTo>
                  <a:pt x="3021633" y="2767385"/>
                </a:lnTo>
                <a:lnTo>
                  <a:pt x="2997569" y="2760792"/>
                </a:lnTo>
                <a:lnTo>
                  <a:pt x="2986785" y="2760933"/>
                </a:lnTo>
                <a:lnTo>
                  <a:pt x="2977414" y="2763429"/>
                </a:lnTo>
                <a:lnTo>
                  <a:pt x="2969643" y="2767903"/>
                </a:lnTo>
                <a:lnTo>
                  <a:pt x="2958153" y="2780994"/>
                </a:lnTo>
                <a:lnTo>
                  <a:pt x="2919302" y="2850973"/>
                </a:lnTo>
                <a:lnTo>
                  <a:pt x="2899712" y="2891424"/>
                </a:lnTo>
                <a:lnTo>
                  <a:pt x="2881818" y="2921893"/>
                </a:lnTo>
                <a:lnTo>
                  <a:pt x="2871081" y="2946945"/>
                </a:lnTo>
                <a:lnTo>
                  <a:pt x="2853563" y="2977649"/>
                </a:lnTo>
                <a:lnTo>
                  <a:pt x="2842967" y="3002796"/>
                </a:lnTo>
                <a:lnTo>
                  <a:pt x="2825731" y="3033688"/>
                </a:lnTo>
                <a:lnTo>
                  <a:pt x="2753823" y="3178400"/>
                </a:lnTo>
                <a:lnTo>
                  <a:pt x="2708332" y="3265661"/>
                </a:lnTo>
                <a:lnTo>
                  <a:pt x="2690673" y="3296035"/>
                </a:lnTo>
                <a:lnTo>
                  <a:pt x="2685540" y="3302393"/>
                </a:lnTo>
                <a:lnTo>
                  <a:pt x="2679277" y="3305124"/>
                </a:lnTo>
                <a:lnTo>
                  <a:pt x="2672213" y="3301545"/>
                </a:lnTo>
                <a:lnTo>
                  <a:pt x="2666044" y="3292362"/>
                </a:lnTo>
                <a:lnTo>
                  <a:pt x="2661711" y="3280307"/>
                </a:lnTo>
                <a:lnTo>
                  <a:pt x="2651822" y="3228318"/>
                </a:lnTo>
                <a:lnTo>
                  <a:pt x="2641509" y="3188243"/>
                </a:lnTo>
                <a:lnTo>
                  <a:pt x="2629642" y="3162107"/>
                </a:lnTo>
                <a:lnTo>
                  <a:pt x="2621542" y="3150004"/>
                </a:lnTo>
                <a:lnTo>
                  <a:pt x="2602517" y="3129378"/>
                </a:lnTo>
                <a:lnTo>
                  <a:pt x="2582174" y="3114921"/>
                </a:lnTo>
                <a:lnTo>
                  <a:pt x="2572002" y="3111342"/>
                </a:lnTo>
                <a:lnTo>
                  <a:pt x="2562348" y="3110494"/>
                </a:lnTo>
                <a:lnTo>
                  <a:pt x="2553495" y="3112048"/>
                </a:lnTo>
                <a:lnTo>
                  <a:pt x="2538237" y="3120384"/>
                </a:lnTo>
                <a:lnTo>
                  <a:pt x="2477772" y="3172891"/>
                </a:lnTo>
                <a:lnTo>
                  <a:pt x="2445561" y="3204160"/>
                </a:lnTo>
                <a:lnTo>
                  <a:pt x="2418342" y="3226716"/>
                </a:lnTo>
                <a:lnTo>
                  <a:pt x="2399647" y="3246542"/>
                </a:lnTo>
                <a:lnTo>
                  <a:pt x="2372710" y="3269429"/>
                </a:lnTo>
                <a:lnTo>
                  <a:pt x="2354109" y="3289442"/>
                </a:lnTo>
                <a:lnTo>
                  <a:pt x="2327361" y="3312564"/>
                </a:lnTo>
                <a:lnTo>
                  <a:pt x="2210291" y="3423936"/>
                </a:lnTo>
                <a:lnTo>
                  <a:pt x="2137723" y="3490382"/>
                </a:lnTo>
                <a:lnTo>
                  <a:pt x="2110740" y="3512892"/>
                </a:lnTo>
                <a:lnTo>
                  <a:pt x="2103770" y="3517130"/>
                </a:lnTo>
                <a:lnTo>
                  <a:pt x="2096942" y="3517554"/>
                </a:lnTo>
                <a:lnTo>
                  <a:pt x="2091479" y="3511762"/>
                </a:lnTo>
                <a:lnTo>
                  <a:pt x="2088842" y="3501025"/>
                </a:lnTo>
                <a:lnTo>
                  <a:pt x="2088889" y="3488216"/>
                </a:lnTo>
                <a:lnTo>
                  <a:pt x="2097366" y="3435992"/>
                </a:lnTo>
                <a:lnTo>
                  <a:pt x="2101368" y="3394833"/>
                </a:lnTo>
                <a:lnTo>
                  <a:pt x="2099202" y="3366202"/>
                </a:lnTo>
                <a:lnTo>
                  <a:pt x="2095717" y="3352027"/>
                </a:lnTo>
                <a:lnTo>
                  <a:pt x="2084933" y="3326127"/>
                </a:lnTo>
                <a:lnTo>
                  <a:pt x="2070712" y="3305642"/>
                </a:lnTo>
                <a:lnTo>
                  <a:pt x="2062377" y="3298767"/>
                </a:lnTo>
                <a:lnTo>
                  <a:pt x="2053618" y="3294670"/>
                </a:lnTo>
                <a:lnTo>
                  <a:pt x="2044764" y="3293116"/>
                </a:lnTo>
                <a:lnTo>
                  <a:pt x="2027529" y="3295706"/>
                </a:lnTo>
                <a:lnTo>
                  <a:pt x="1952794" y="3324384"/>
                </a:lnTo>
                <a:lnTo>
                  <a:pt x="1911778" y="3342750"/>
                </a:lnTo>
                <a:lnTo>
                  <a:pt x="1878531" y="3354617"/>
                </a:lnTo>
                <a:lnTo>
                  <a:pt x="1854185" y="3366861"/>
                </a:lnTo>
                <a:lnTo>
                  <a:pt x="1821032" y="3379152"/>
                </a:lnTo>
                <a:lnTo>
                  <a:pt x="1796733" y="3391584"/>
                </a:lnTo>
                <a:lnTo>
                  <a:pt x="1763675" y="3404158"/>
                </a:lnTo>
                <a:lnTo>
                  <a:pt x="1615572" y="3468814"/>
                </a:lnTo>
                <a:lnTo>
                  <a:pt x="1524685" y="3506441"/>
                </a:lnTo>
                <a:lnTo>
                  <a:pt x="1491579" y="3518355"/>
                </a:lnTo>
                <a:lnTo>
                  <a:pt x="1483574" y="3519909"/>
                </a:lnTo>
                <a:lnTo>
                  <a:pt x="1477028" y="3517978"/>
                </a:lnTo>
                <a:lnTo>
                  <a:pt x="1473920" y="3510726"/>
                </a:lnTo>
                <a:lnTo>
                  <a:pt x="1475050" y="3499706"/>
                </a:lnTo>
                <a:lnTo>
                  <a:pt x="1479477" y="3487698"/>
                </a:lnTo>
                <a:lnTo>
                  <a:pt x="1505330" y="3441501"/>
                </a:lnTo>
                <a:lnTo>
                  <a:pt x="1523178" y="3404205"/>
                </a:lnTo>
                <a:lnTo>
                  <a:pt x="1530948" y="3376515"/>
                </a:lnTo>
                <a:lnTo>
                  <a:pt x="1532502" y="3362058"/>
                </a:lnTo>
                <a:lnTo>
                  <a:pt x="1531183" y="3334038"/>
                </a:lnTo>
                <a:lnTo>
                  <a:pt x="1524873" y="3309880"/>
                </a:lnTo>
                <a:lnTo>
                  <a:pt x="1519363" y="3300603"/>
                </a:lnTo>
                <a:lnTo>
                  <a:pt x="1512535" y="3293728"/>
                </a:lnTo>
                <a:lnTo>
                  <a:pt x="1504765" y="3289254"/>
                </a:lnTo>
                <a:lnTo>
                  <a:pt x="1487718" y="3285816"/>
                </a:lnTo>
                <a:lnTo>
                  <a:pt x="1407662" y="3287182"/>
                </a:lnTo>
                <a:lnTo>
                  <a:pt x="1362831" y="3290431"/>
                </a:lnTo>
                <a:lnTo>
                  <a:pt x="1327512" y="3290196"/>
                </a:lnTo>
                <a:lnTo>
                  <a:pt x="1300435" y="3293398"/>
                </a:lnTo>
                <a:lnTo>
                  <a:pt x="1265069" y="3293587"/>
                </a:lnTo>
                <a:lnTo>
                  <a:pt x="1237991" y="3296977"/>
                </a:lnTo>
                <a:lnTo>
                  <a:pt x="1202625" y="3297495"/>
                </a:lnTo>
                <a:lnTo>
                  <a:pt x="1041337" y="3307573"/>
                </a:lnTo>
                <a:lnTo>
                  <a:pt x="943056" y="3311811"/>
                </a:lnTo>
                <a:lnTo>
                  <a:pt x="907926" y="3311717"/>
                </a:lnTo>
                <a:lnTo>
                  <a:pt x="899873" y="3310445"/>
                </a:lnTo>
                <a:lnTo>
                  <a:pt x="894364" y="3306395"/>
                </a:lnTo>
                <a:lnTo>
                  <a:pt x="893893" y="3298484"/>
                </a:lnTo>
                <a:lnTo>
                  <a:pt x="898743" y="3288548"/>
                </a:lnTo>
                <a:lnTo>
                  <a:pt x="907031" y="3278753"/>
                </a:lnTo>
                <a:lnTo>
                  <a:pt x="947106" y="3244235"/>
                </a:lnTo>
                <a:lnTo>
                  <a:pt x="976680" y="3215273"/>
                </a:lnTo>
                <a:lnTo>
                  <a:pt x="993397" y="3191916"/>
                </a:lnTo>
                <a:lnTo>
                  <a:pt x="999802" y="3178824"/>
                </a:lnTo>
                <a:lnTo>
                  <a:pt x="1008184" y="3152029"/>
                </a:lnTo>
                <a:lnTo>
                  <a:pt x="1010492" y="3127212"/>
                </a:lnTo>
                <a:lnTo>
                  <a:pt x="1008514" y="3116616"/>
                </a:lnTo>
                <a:lnTo>
                  <a:pt x="1004417" y="3107810"/>
                </a:lnTo>
                <a:lnTo>
                  <a:pt x="998624" y="3100935"/>
                </a:lnTo>
                <a:lnTo>
                  <a:pt x="983791" y="3091846"/>
                </a:lnTo>
                <a:lnTo>
                  <a:pt x="908114" y="3065757"/>
                </a:lnTo>
                <a:lnTo>
                  <a:pt x="864884" y="3053514"/>
                </a:lnTo>
                <a:lnTo>
                  <a:pt x="831779" y="3041176"/>
                </a:lnTo>
                <a:lnTo>
                  <a:pt x="805219" y="3034912"/>
                </a:lnTo>
                <a:lnTo>
                  <a:pt x="771926" y="3023045"/>
                </a:lnTo>
                <a:lnTo>
                  <a:pt x="745319" y="3016923"/>
                </a:lnTo>
                <a:lnTo>
                  <a:pt x="711931" y="3005339"/>
                </a:lnTo>
                <a:lnTo>
                  <a:pt x="556952" y="2959660"/>
                </a:lnTo>
                <a:lnTo>
                  <a:pt x="463099" y="2930039"/>
                </a:lnTo>
                <a:lnTo>
                  <a:pt x="430135" y="2917890"/>
                </a:lnTo>
                <a:lnTo>
                  <a:pt x="422977" y="2913981"/>
                </a:lnTo>
                <a:lnTo>
                  <a:pt x="419209" y="2908283"/>
                </a:lnTo>
                <a:lnTo>
                  <a:pt x="421470" y="2900701"/>
                </a:lnTo>
                <a:lnTo>
                  <a:pt x="429428" y="2892978"/>
                </a:lnTo>
                <a:lnTo>
                  <a:pt x="440542" y="2886621"/>
                </a:lnTo>
                <a:lnTo>
                  <a:pt x="490035" y="2867878"/>
                </a:lnTo>
                <a:lnTo>
                  <a:pt x="527708" y="2850784"/>
                </a:lnTo>
                <a:lnTo>
                  <a:pt x="551443" y="2834538"/>
                </a:lnTo>
                <a:lnTo>
                  <a:pt x="561944" y="2824460"/>
                </a:lnTo>
                <a:lnTo>
                  <a:pt x="578944" y="2802186"/>
                </a:lnTo>
                <a:lnTo>
                  <a:pt x="589634" y="2779582"/>
                </a:lnTo>
                <a:lnTo>
                  <a:pt x="591376" y="2768986"/>
                </a:lnTo>
                <a:lnTo>
                  <a:pt x="590529" y="2759332"/>
                </a:lnTo>
                <a:lnTo>
                  <a:pt x="587468" y="2750856"/>
                </a:lnTo>
                <a:lnTo>
                  <a:pt x="576637" y="2737293"/>
                </a:lnTo>
                <a:lnTo>
                  <a:pt x="514382" y="2686858"/>
                </a:lnTo>
                <a:lnTo>
                  <a:pt x="478027" y="2660534"/>
                </a:lnTo>
                <a:lnTo>
                  <a:pt x="451090" y="2637648"/>
                </a:lnTo>
                <a:lnTo>
                  <a:pt x="428298" y="2622720"/>
                </a:lnTo>
                <a:lnTo>
                  <a:pt x="401079" y="2600116"/>
                </a:lnTo>
                <a:lnTo>
                  <a:pt x="378146" y="2585329"/>
                </a:lnTo>
                <a:lnTo>
                  <a:pt x="350738" y="2562960"/>
                </a:lnTo>
                <a:lnTo>
                  <a:pt x="220718" y="2467035"/>
                </a:lnTo>
                <a:lnTo>
                  <a:pt x="142688" y="2407134"/>
                </a:lnTo>
                <a:lnTo>
                  <a:pt x="115845" y="2384436"/>
                </a:lnTo>
                <a:lnTo>
                  <a:pt x="110477" y="2378267"/>
                </a:lnTo>
                <a:lnTo>
                  <a:pt x="108876" y="2371627"/>
                </a:lnTo>
                <a:lnTo>
                  <a:pt x="113585" y="2365270"/>
                </a:lnTo>
                <a:lnTo>
                  <a:pt x="123710" y="2360796"/>
                </a:lnTo>
                <a:lnTo>
                  <a:pt x="136330" y="2358630"/>
                </a:lnTo>
                <a:lnTo>
                  <a:pt x="189261" y="2357924"/>
                </a:lnTo>
                <a:lnTo>
                  <a:pt x="230513" y="2354721"/>
                </a:lnTo>
                <a:lnTo>
                  <a:pt x="258345" y="2347610"/>
                </a:lnTo>
                <a:lnTo>
                  <a:pt x="271671" y="2341724"/>
                </a:lnTo>
                <a:lnTo>
                  <a:pt x="295264" y="2326560"/>
                </a:lnTo>
                <a:lnTo>
                  <a:pt x="313018" y="2309042"/>
                </a:lnTo>
                <a:lnTo>
                  <a:pt x="318292" y="2299624"/>
                </a:lnTo>
                <a:lnTo>
                  <a:pt x="320835" y="2290253"/>
                </a:lnTo>
                <a:lnTo>
                  <a:pt x="320835" y="2281305"/>
                </a:lnTo>
                <a:lnTo>
                  <a:pt x="315278" y="2264776"/>
                </a:lnTo>
                <a:lnTo>
                  <a:pt x="274073" y="2196164"/>
                </a:lnTo>
                <a:lnTo>
                  <a:pt x="248832" y="2158961"/>
                </a:lnTo>
                <a:lnTo>
                  <a:pt x="231408" y="2128258"/>
                </a:lnTo>
                <a:lnTo>
                  <a:pt x="215067" y="2106407"/>
                </a:lnTo>
                <a:lnTo>
                  <a:pt x="197220" y="2075892"/>
                </a:lnTo>
                <a:lnTo>
                  <a:pt x="180738" y="2054136"/>
                </a:lnTo>
                <a:lnTo>
                  <a:pt x="162654" y="2023762"/>
                </a:lnTo>
                <a:lnTo>
                  <a:pt x="73275" y="1889127"/>
                </a:lnTo>
                <a:lnTo>
                  <a:pt x="20438" y="1806151"/>
                </a:lnTo>
                <a:lnTo>
                  <a:pt x="2967" y="1775636"/>
                </a:lnTo>
                <a:lnTo>
                  <a:pt x="0" y="1768007"/>
                </a:lnTo>
                <a:lnTo>
                  <a:pt x="801" y="1761226"/>
                </a:lnTo>
                <a:lnTo>
                  <a:pt x="7393" y="1756893"/>
                </a:lnTo>
                <a:lnTo>
                  <a:pt x="18460" y="1756140"/>
                </a:lnTo>
                <a:lnTo>
                  <a:pt x="31033" y="1758400"/>
                </a:lnTo>
                <a:lnTo>
                  <a:pt x="80998" y="1775824"/>
                </a:lnTo>
                <a:lnTo>
                  <a:pt x="120884" y="1786938"/>
                </a:lnTo>
                <a:lnTo>
                  <a:pt x="149469" y="1789763"/>
                </a:lnTo>
                <a:lnTo>
                  <a:pt x="163973" y="1788774"/>
                </a:lnTo>
                <a:lnTo>
                  <a:pt x="191380" y="1782653"/>
                </a:lnTo>
                <a:lnTo>
                  <a:pt x="214031" y="1772198"/>
                </a:lnTo>
                <a:lnTo>
                  <a:pt x="222225" y="1765182"/>
                </a:lnTo>
                <a:lnTo>
                  <a:pt x="227782" y="1757270"/>
                </a:lnTo>
                <a:lnTo>
                  <a:pt x="230843" y="1748841"/>
                </a:lnTo>
                <a:lnTo>
                  <a:pt x="231267" y="1731417"/>
                </a:lnTo>
                <a:lnTo>
                  <a:pt x="216009" y="1652821"/>
                </a:lnTo>
                <a:lnTo>
                  <a:pt x="205084" y="1609261"/>
                </a:lnTo>
                <a:lnTo>
                  <a:pt x="199150" y="1574461"/>
                </a:lnTo>
                <a:lnTo>
                  <a:pt x="191333" y="1548325"/>
                </a:lnTo>
                <a:lnTo>
                  <a:pt x="184976" y="1513571"/>
                </a:lnTo>
                <a:lnTo>
                  <a:pt x="176923" y="1487435"/>
                </a:lnTo>
                <a:lnTo>
                  <a:pt x="170283" y="1452729"/>
                </a:lnTo>
                <a:lnTo>
                  <a:pt x="132374" y="1295631"/>
                </a:lnTo>
                <a:lnTo>
                  <a:pt x="111089" y="1199611"/>
                </a:lnTo>
                <a:lnTo>
                  <a:pt x="105108" y="1164952"/>
                </a:lnTo>
                <a:lnTo>
                  <a:pt x="104967" y="1156805"/>
                </a:lnTo>
                <a:lnTo>
                  <a:pt x="107981" y="1150683"/>
                </a:lnTo>
                <a:lnTo>
                  <a:pt x="115704" y="1148847"/>
                </a:lnTo>
                <a:lnTo>
                  <a:pt x="126347" y="1151908"/>
                </a:lnTo>
                <a:lnTo>
                  <a:pt x="137413" y="1158359"/>
                </a:lnTo>
                <a:lnTo>
                  <a:pt x="178383" y="1191841"/>
                </a:lnTo>
                <a:lnTo>
                  <a:pt x="212053" y="1215905"/>
                </a:lnTo>
                <a:lnTo>
                  <a:pt x="237954" y="1228337"/>
                </a:lnTo>
                <a:lnTo>
                  <a:pt x="251940" y="1232387"/>
                </a:lnTo>
                <a:lnTo>
                  <a:pt x="279771" y="1235966"/>
                </a:lnTo>
                <a:lnTo>
                  <a:pt x="304636" y="1233941"/>
                </a:lnTo>
                <a:lnTo>
                  <a:pt x="314713" y="1230127"/>
                </a:lnTo>
                <a:lnTo>
                  <a:pt x="322672" y="1224570"/>
                </a:lnTo>
                <a:lnTo>
                  <a:pt x="328417" y="1217695"/>
                </a:lnTo>
                <a:lnTo>
                  <a:pt x="332278" y="1209877"/>
                </a:lnTo>
                <a:lnTo>
                  <a:pt x="336469" y="1192830"/>
                </a:lnTo>
                <a:lnTo>
                  <a:pt x="347348" y="1122428"/>
                </a:lnTo>
                <a:lnTo>
                  <a:pt x="351916" y="1077738"/>
                </a:lnTo>
                <a:lnTo>
                  <a:pt x="358320" y="1042985"/>
                </a:lnTo>
                <a:lnTo>
                  <a:pt x="359874" y="1015766"/>
                </a:lnTo>
                <a:lnTo>
                  <a:pt x="365760" y="980918"/>
                </a:lnTo>
                <a:lnTo>
                  <a:pt x="367173" y="953652"/>
                </a:lnTo>
                <a:lnTo>
                  <a:pt x="372777" y="918757"/>
                </a:lnTo>
                <a:lnTo>
                  <a:pt x="383043" y="820194"/>
                </a:lnTo>
                <a:lnTo>
                  <a:pt x="396464" y="723139"/>
                </a:lnTo>
                <a:lnTo>
                  <a:pt x="402398" y="669407"/>
                </a:lnTo>
                <a:lnTo>
                  <a:pt x="409932" y="626036"/>
                </a:lnTo>
                <a:lnTo>
                  <a:pt x="412617" y="618313"/>
                </a:lnTo>
                <a:lnTo>
                  <a:pt x="417561" y="613604"/>
                </a:lnTo>
                <a:lnTo>
                  <a:pt x="425426" y="614545"/>
                </a:lnTo>
                <a:lnTo>
                  <a:pt x="434373" y="621044"/>
                </a:lnTo>
                <a:lnTo>
                  <a:pt x="442567" y="630886"/>
                </a:lnTo>
                <a:lnTo>
                  <a:pt x="484714" y="699263"/>
                </a:lnTo>
                <a:lnTo>
                  <a:pt x="502420" y="721208"/>
                </a:lnTo>
                <a:lnTo>
                  <a:pt x="513110" y="731003"/>
                </a:lnTo>
                <a:lnTo>
                  <a:pt x="537268" y="746779"/>
                </a:lnTo>
                <a:lnTo>
                  <a:pt x="562085" y="756762"/>
                </a:lnTo>
                <a:lnTo>
                  <a:pt x="573858" y="759117"/>
                </a:lnTo>
                <a:lnTo>
                  <a:pt x="584642" y="758975"/>
                </a:lnTo>
                <a:lnTo>
                  <a:pt x="594013" y="756479"/>
                </a:lnTo>
                <a:lnTo>
                  <a:pt x="601784" y="752006"/>
                </a:lnTo>
                <a:lnTo>
                  <a:pt x="613274" y="738914"/>
                </a:lnTo>
                <a:lnTo>
                  <a:pt x="652124" y="668936"/>
                </a:lnTo>
                <a:lnTo>
                  <a:pt x="671715" y="628484"/>
                </a:lnTo>
                <a:lnTo>
                  <a:pt x="689609" y="598016"/>
                </a:lnTo>
                <a:lnTo>
                  <a:pt x="700346" y="572963"/>
                </a:lnTo>
                <a:lnTo>
                  <a:pt x="717864" y="542260"/>
                </a:lnTo>
                <a:lnTo>
                  <a:pt x="728460" y="517113"/>
                </a:lnTo>
                <a:lnTo>
                  <a:pt x="745695" y="486221"/>
                </a:lnTo>
                <a:lnTo>
                  <a:pt x="817604" y="341508"/>
                </a:lnTo>
                <a:lnTo>
                  <a:pt x="863095" y="254248"/>
                </a:lnTo>
                <a:lnTo>
                  <a:pt x="880754" y="223873"/>
                </a:lnTo>
                <a:lnTo>
                  <a:pt x="885887" y="217516"/>
                </a:lnTo>
                <a:lnTo>
                  <a:pt x="892150" y="214785"/>
                </a:lnTo>
                <a:lnTo>
                  <a:pt x="899214" y="218364"/>
                </a:lnTo>
                <a:lnTo>
                  <a:pt x="905383" y="227547"/>
                </a:lnTo>
                <a:lnTo>
                  <a:pt x="909716" y="239602"/>
                </a:lnTo>
                <a:lnTo>
                  <a:pt x="919605" y="291591"/>
                </a:lnTo>
                <a:lnTo>
                  <a:pt x="929918" y="331666"/>
                </a:lnTo>
                <a:lnTo>
                  <a:pt x="941785" y="357802"/>
                </a:lnTo>
                <a:lnTo>
                  <a:pt x="949885" y="369905"/>
                </a:lnTo>
                <a:lnTo>
                  <a:pt x="968910" y="390531"/>
                </a:lnTo>
                <a:lnTo>
                  <a:pt x="989253" y="404988"/>
                </a:lnTo>
                <a:lnTo>
                  <a:pt x="999425" y="408567"/>
                </a:lnTo>
                <a:lnTo>
                  <a:pt x="1009079" y="409414"/>
                </a:lnTo>
                <a:lnTo>
                  <a:pt x="1017932" y="407860"/>
                </a:lnTo>
                <a:lnTo>
                  <a:pt x="1033190" y="399525"/>
                </a:lnTo>
                <a:lnTo>
                  <a:pt x="1093655" y="347018"/>
                </a:lnTo>
                <a:lnTo>
                  <a:pt x="1125866" y="315749"/>
                </a:lnTo>
                <a:lnTo>
                  <a:pt x="1153085" y="293192"/>
                </a:lnTo>
                <a:lnTo>
                  <a:pt x="1171780" y="273367"/>
                </a:lnTo>
                <a:lnTo>
                  <a:pt x="1198717" y="250480"/>
                </a:lnTo>
                <a:lnTo>
                  <a:pt x="1217318" y="230466"/>
                </a:lnTo>
                <a:lnTo>
                  <a:pt x="1244066" y="207344"/>
                </a:lnTo>
                <a:lnTo>
                  <a:pt x="1361136" y="95973"/>
                </a:lnTo>
                <a:lnTo>
                  <a:pt x="1433704" y="29526"/>
                </a:lnTo>
                <a:lnTo>
                  <a:pt x="1460687" y="7017"/>
                </a:lnTo>
                <a:lnTo>
                  <a:pt x="1467657" y="2778"/>
                </a:lnTo>
                <a:lnTo>
                  <a:pt x="1474485" y="2355"/>
                </a:lnTo>
                <a:lnTo>
                  <a:pt x="1479948" y="8147"/>
                </a:lnTo>
                <a:lnTo>
                  <a:pt x="1482585" y="18884"/>
                </a:lnTo>
                <a:lnTo>
                  <a:pt x="1482538" y="31693"/>
                </a:lnTo>
                <a:lnTo>
                  <a:pt x="1474061" y="83917"/>
                </a:lnTo>
                <a:lnTo>
                  <a:pt x="1470058" y="125075"/>
                </a:lnTo>
                <a:lnTo>
                  <a:pt x="1472225" y="153707"/>
                </a:lnTo>
                <a:lnTo>
                  <a:pt x="1475709" y="167882"/>
                </a:lnTo>
                <a:lnTo>
                  <a:pt x="1486493" y="193782"/>
                </a:lnTo>
                <a:lnTo>
                  <a:pt x="1500715" y="214267"/>
                </a:lnTo>
                <a:lnTo>
                  <a:pt x="1509050" y="221142"/>
                </a:lnTo>
                <a:lnTo>
                  <a:pt x="1517809" y="225239"/>
                </a:lnTo>
                <a:lnTo>
                  <a:pt x="1526663" y="226793"/>
                </a:lnTo>
                <a:lnTo>
                  <a:pt x="1543898" y="224203"/>
                </a:lnTo>
                <a:lnTo>
                  <a:pt x="1618632" y="195524"/>
                </a:lnTo>
                <a:lnTo>
                  <a:pt x="1659649" y="177159"/>
                </a:lnTo>
                <a:lnTo>
                  <a:pt x="1692896" y="165292"/>
                </a:lnTo>
                <a:lnTo>
                  <a:pt x="1717242" y="153048"/>
                </a:lnTo>
                <a:lnTo>
                  <a:pt x="1750395" y="140757"/>
                </a:lnTo>
                <a:lnTo>
                  <a:pt x="1774694" y="128325"/>
                </a:lnTo>
                <a:lnTo>
                  <a:pt x="1807752" y="115751"/>
                </a:lnTo>
                <a:lnTo>
                  <a:pt x="1955855" y="51094"/>
                </a:lnTo>
                <a:lnTo>
                  <a:pt x="2046742" y="13468"/>
                </a:lnTo>
                <a:lnTo>
                  <a:pt x="2079848" y="1554"/>
                </a:lnTo>
                <a:lnTo>
                  <a:pt x="2087853" y="0"/>
                </a:lnTo>
                <a:lnTo>
                  <a:pt x="2094399" y="1931"/>
                </a:lnTo>
                <a:lnTo>
                  <a:pt x="2097507" y="9183"/>
                </a:lnTo>
                <a:lnTo>
                  <a:pt x="2096377" y="20202"/>
                </a:lnTo>
                <a:lnTo>
                  <a:pt x="2091950" y="32211"/>
                </a:lnTo>
                <a:lnTo>
                  <a:pt x="2066097" y="78408"/>
                </a:lnTo>
                <a:lnTo>
                  <a:pt x="2048249" y="115704"/>
                </a:lnTo>
                <a:lnTo>
                  <a:pt x="2040479" y="143394"/>
                </a:lnTo>
                <a:lnTo>
                  <a:pt x="2038925" y="157851"/>
                </a:lnTo>
                <a:lnTo>
                  <a:pt x="2040244" y="185871"/>
                </a:lnTo>
                <a:lnTo>
                  <a:pt x="2046554" y="210029"/>
                </a:lnTo>
                <a:lnTo>
                  <a:pt x="2052064" y="219306"/>
                </a:lnTo>
                <a:lnTo>
                  <a:pt x="2058892" y="226181"/>
                </a:lnTo>
                <a:lnTo>
                  <a:pt x="2066662" y="230655"/>
                </a:lnTo>
                <a:lnTo>
                  <a:pt x="2083709" y="234092"/>
                </a:lnTo>
                <a:lnTo>
                  <a:pt x="2163765" y="232727"/>
                </a:lnTo>
                <a:lnTo>
                  <a:pt x="2208596" y="229477"/>
                </a:lnTo>
                <a:lnTo>
                  <a:pt x="2243915" y="229713"/>
                </a:lnTo>
                <a:lnTo>
                  <a:pt x="2270992" y="226511"/>
                </a:lnTo>
                <a:lnTo>
                  <a:pt x="2306358" y="226322"/>
                </a:lnTo>
                <a:lnTo>
                  <a:pt x="2333436" y="222932"/>
                </a:lnTo>
                <a:lnTo>
                  <a:pt x="2368802" y="222414"/>
                </a:lnTo>
                <a:lnTo>
                  <a:pt x="2530090" y="212336"/>
                </a:lnTo>
                <a:lnTo>
                  <a:pt x="2628371" y="208098"/>
                </a:lnTo>
                <a:lnTo>
                  <a:pt x="2663501" y="208192"/>
                </a:lnTo>
                <a:lnTo>
                  <a:pt x="2671554" y="209463"/>
                </a:lnTo>
                <a:lnTo>
                  <a:pt x="2677063" y="213513"/>
                </a:lnTo>
                <a:lnTo>
                  <a:pt x="2677534" y="221425"/>
                </a:lnTo>
                <a:lnTo>
                  <a:pt x="2672684" y="231361"/>
                </a:lnTo>
                <a:lnTo>
                  <a:pt x="2664396" y="241156"/>
                </a:lnTo>
                <a:lnTo>
                  <a:pt x="2624321" y="275674"/>
                </a:lnTo>
                <a:lnTo>
                  <a:pt x="2594747" y="304636"/>
                </a:lnTo>
                <a:lnTo>
                  <a:pt x="2578030" y="327993"/>
                </a:lnTo>
                <a:lnTo>
                  <a:pt x="2571625" y="341084"/>
                </a:lnTo>
                <a:lnTo>
                  <a:pt x="2563243" y="367880"/>
                </a:lnTo>
                <a:lnTo>
                  <a:pt x="2560935" y="392697"/>
                </a:lnTo>
                <a:lnTo>
                  <a:pt x="2562913" y="403292"/>
                </a:lnTo>
                <a:lnTo>
                  <a:pt x="2567010" y="412099"/>
                </a:lnTo>
                <a:lnTo>
                  <a:pt x="2572802" y="418974"/>
                </a:lnTo>
                <a:lnTo>
                  <a:pt x="2587636" y="428063"/>
                </a:lnTo>
                <a:lnTo>
                  <a:pt x="2663313" y="454151"/>
                </a:lnTo>
                <a:lnTo>
                  <a:pt x="2706543" y="466395"/>
                </a:lnTo>
                <a:lnTo>
                  <a:pt x="2739648" y="478733"/>
                </a:lnTo>
                <a:lnTo>
                  <a:pt x="2766208" y="484996"/>
                </a:lnTo>
                <a:lnTo>
                  <a:pt x="2799501" y="496863"/>
                </a:lnTo>
                <a:lnTo>
                  <a:pt x="2826108" y="502985"/>
                </a:lnTo>
                <a:lnTo>
                  <a:pt x="2859496" y="514570"/>
                </a:lnTo>
                <a:lnTo>
                  <a:pt x="3014475" y="560249"/>
                </a:lnTo>
                <a:lnTo>
                  <a:pt x="3108328" y="589869"/>
                </a:lnTo>
                <a:lnTo>
                  <a:pt x="3141292" y="602019"/>
                </a:lnTo>
                <a:lnTo>
                  <a:pt x="3148450" y="605928"/>
                </a:lnTo>
                <a:lnTo>
                  <a:pt x="3152218" y="611626"/>
                </a:lnTo>
                <a:lnTo>
                  <a:pt x="3149957" y="619207"/>
                </a:lnTo>
                <a:lnTo>
                  <a:pt x="3141999" y="626930"/>
                </a:lnTo>
                <a:lnTo>
                  <a:pt x="3130885" y="633288"/>
                </a:lnTo>
                <a:lnTo>
                  <a:pt x="3081392" y="652030"/>
                </a:lnTo>
                <a:lnTo>
                  <a:pt x="3043718" y="669125"/>
                </a:lnTo>
                <a:lnTo>
                  <a:pt x="3019984" y="685371"/>
                </a:lnTo>
                <a:lnTo>
                  <a:pt x="3009483" y="695449"/>
                </a:lnTo>
                <a:lnTo>
                  <a:pt x="2992483" y="717723"/>
                </a:lnTo>
                <a:lnTo>
                  <a:pt x="2981793" y="740327"/>
                </a:lnTo>
                <a:lnTo>
                  <a:pt x="2980051" y="750923"/>
                </a:lnTo>
                <a:lnTo>
                  <a:pt x="2980898" y="760576"/>
                </a:lnTo>
                <a:lnTo>
                  <a:pt x="2983959" y="769053"/>
                </a:lnTo>
                <a:lnTo>
                  <a:pt x="2994790" y="782615"/>
                </a:lnTo>
                <a:lnTo>
                  <a:pt x="3057045" y="833050"/>
                </a:lnTo>
                <a:lnTo>
                  <a:pt x="3093400" y="859375"/>
                </a:lnTo>
                <a:lnTo>
                  <a:pt x="3120337" y="882261"/>
                </a:lnTo>
                <a:lnTo>
                  <a:pt x="3143129" y="897189"/>
                </a:lnTo>
                <a:lnTo>
                  <a:pt x="3170348" y="919793"/>
                </a:lnTo>
                <a:lnTo>
                  <a:pt x="3193281" y="934580"/>
                </a:lnTo>
                <a:lnTo>
                  <a:pt x="3220689" y="956948"/>
                </a:lnTo>
                <a:lnTo>
                  <a:pt x="3350709" y="1052874"/>
                </a:lnTo>
                <a:lnTo>
                  <a:pt x="3428739" y="1112775"/>
                </a:lnTo>
                <a:lnTo>
                  <a:pt x="3455582" y="1135473"/>
                </a:lnTo>
                <a:lnTo>
                  <a:pt x="3460950" y="1141642"/>
                </a:lnTo>
                <a:lnTo>
                  <a:pt x="3462551" y="1148282"/>
                </a:lnTo>
                <a:lnTo>
                  <a:pt x="3457842" y="1154639"/>
                </a:lnTo>
                <a:lnTo>
                  <a:pt x="3447717" y="1159113"/>
                </a:lnTo>
                <a:lnTo>
                  <a:pt x="3435097" y="1161279"/>
                </a:lnTo>
                <a:lnTo>
                  <a:pt x="3382166" y="1161985"/>
                </a:lnTo>
                <a:lnTo>
                  <a:pt x="3340914" y="1165187"/>
                </a:lnTo>
                <a:lnTo>
                  <a:pt x="3313082" y="1172298"/>
                </a:lnTo>
                <a:lnTo>
                  <a:pt x="3299756" y="1178185"/>
                </a:lnTo>
                <a:lnTo>
                  <a:pt x="3276163" y="1193348"/>
                </a:lnTo>
                <a:lnTo>
                  <a:pt x="3258409" y="1210866"/>
                </a:lnTo>
                <a:lnTo>
                  <a:pt x="3253135" y="1220285"/>
                </a:lnTo>
                <a:lnTo>
                  <a:pt x="3250592" y="1229656"/>
                </a:lnTo>
                <a:lnTo>
                  <a:pt x="3250592" y="1238603"/>
                </a:lnTo>
                <a:lnTo>
                  <a:pt x="3252664" y="1247080"/>
                </a:lnTo>
                <a:lnTo>
                  <a:pt x="3260434" y="1262855"/>
                </a:lnTo>
                <a:lnTo>
                  <a:pt x="3297354" y="1323745"/>
                </a:lnTo>
                <a:lnTo>
                  <a:pt x="3322595" y="1360947"/>
                </a:lnTo>
                <a:lnTo>
                  <a:pt x="3340019" y="1391651"/>
                </a:lnTo>
                <a:lnTo>
                  <a:pt x="3356360" y="1413501"/>
                </a:lnTo>
                <a:lnTo>
                  <a:pt x="3374207" y="1444017"/>
                </a:lnTo>
                <a:lnTo>
                  <a:pt x="3390689" y="1465773"/>
                </a:lnTo>
                <a:lnTo>
                  <a:pt x="3408773" y="1496147"/>
                </a:lnTo>
                <a:lnTo>
                  <a:pt x="3464294" y="1578228"/>
                </a:lnTo>
                <a:lnTo>
                  <a:pt x="3516424" y="1661203"/>
                </a:lnTo>
                <a:lnTo>
                  <a:pt x="3546421" y="1706176"/>
                </a:lnTo>
                <a:lnTo>
                  <a:pt x="3568460" y="1744273"/>
                </a:lnTo>
                <a:lnTo>
                  <a:pt x="3571427" y="1751902"/>
                </a:lnTo>
                <a:lnTo>
                  <a:pt x="3570626" y="1758683"/>
                </a:ln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hole 62"/>
          <p:cNvSpPr/>
          <p:nvPr/>
        </p:nvSpPr>
        <p:spPr>
          <a:xfrm>
            <a:off x="1954380" y="2916490"/>
            <a:ext cx="1394759" cy="1207900"/>
          </a:xfrm>
          <a:custGeom>
            <a:avLst/>
            <a:gdLst/>
            <a:ahLst/>
            <a:cxnLst/>
            <a:rect l="l" t="t" r="r" b="b"/>
            <a:pathLst>
              <a:path w="1394759" h="1207900">
                <a:moveTo>
                  <a:pt x="1046093" y="0"/>
                </a:moveTo>
                <a:lnTo>
                  <a:pt x="348666" y="0"/>
                </a:lnTo>
                <a:lnTo>
                  <a:pt x="0" y="603950"/>
                </a:lnTo>
                <a:lnTo>
                  <a:pt x="348666" y="1207900"/>
                </a:lnTo>
                <a:lnTo>
                  <a:pt x="1046093" y="1207900"/>
                </a:lnTo>
                <a:lnTo>
                  <a:pt x="1394759" y="60395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hole 63"/>
          <p:cNvSpPr/>
          <p:nvPr/>
        </p:nvSpPr>
        <p:spPr>
          <a:xfrm>
            <a:off x="1097737" y="1966417"/>
            <a:ext cx="3108046" cy="3108046"/>
          </a:xfrm>
          <a:prstGeom prst="ellipse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7" name="line 64"/>
          <p:cNvSpPr/>
          <p:nvPr/>
        </p:nvSpPr>
        <p:spPr>
          <a:xfrm>
            <a:off x="862279" y="3878336"/>
            <a:ext cx="0" cy="1608064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8" name="line 65"/>
          <p:cNvSpPr/>
          <p:nvPr/>
        </p:nvSpPr>
        <p:spPr>
          <a:xfrm>
            <a:off x="4441241" y="3878336"/>
            <a:ext cx="0" cy="1608064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9" name="line 66"/>
          <p:cNvSpPr/>
          <p:nvPr/>
        </p:nvSpPr>
        <p:spPr>
          <a:xfrm>
            <a:off x="862279" y="5440680"/>
            <a:ext cx="357896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0" name="text 67"/>
          <p:cNvSpPr txBox="1"/>
          <p:nvPr/>
        </p:nvSpPr>
        <p:spPr>
          <a:xfrm>
            <a:off x="1828800" y="54772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Ø76 (tooth tips)</a:t>
            </a:r>
            <a:endParaRPr lang="en-US" sz="1000" dirty="0"/>
          </a:p>
        </p:txBody>
      </p:sp>
      <p:sp>
        <p:nvSpPr>
          <p:cNvPr id="11" name="line 68"/>
          <p:cNvSpPr/>
          <p:nvPr/>
        </p:nvSpPr>
        <p:spPr>
          <a:xfrm>
            <a:off x="3770656" y="2401544"/>
            <a:ext cx="389864" cy="2261896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text 69"/>
          <p:cNvSpPr txBox="1"/>
          <p:nvPr/>
        </p:nvSpPr>
        <p:spPr>
          <a:xfrm>
            <a:off x="4206240" y="45628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Ø66 root circle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(tooth depth 5.0)</a:t>
            </a:r>
            <a:endParaRPr lang="en-US" sz="1000" dirty="0"/>
          </a:p>
        </p:txBody>
      </p:sp>
      <p:sp>
        <p:nvSpPr>
          <p:cNvPr id="13" name="line 70"/>
          <p:cNvSpPr/>
          <p:nvPr/>
        </p:nvSpPr>
        <p:spPr>
          <a:xfrm flipV="1">
            <a:off x="2743200" y="1965960"/>
            <a:ext cx="1280160" cy="160020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text 71"/>
          <p:cNvSpPr txBox="1"/>
          <p:nvPr/>
        </p:nvSpPr>
        <p:spPr>
          <a:xfrm>
            <a:off x="4069080" y="186537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hex bore 25.65 AF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(1 in bar + 0.25)</a:t>
            </a:r>
            <a:endParaRPr lang="en-US" sz="1000" dirty="0"/>
          </a:p>
        </p:txBody>
      </p:sp>
      <p:sp>
        <p:nvSpPr>
          <p:cNvPr id="15" name="line 72"/>
          <p:cNvSpPr/>
          <p:nvPr/>
        </p:nvSpPr>
        <p:spPr>
          <a:xfrm>
            <a:off x="411480" y="2057400"/>
            <a:ext cx="504484" cy="1353312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text 73"/>
          <p:cNvSpPr txBox="1"/>
          <p:nvPr/>
        </p:nvSpPr>
        <p:spPr>
          <a:xfrm>
            <a:off x="457200" y="19568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steep face leads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(shaft A turns CW)</a:t>
            </a:r>
            <a:endParaRPr lang="en-US" sz="1000" dirty="0"/>
          </a:p>
        </p:txBody>
      </p:sp>
      <p:sp>
        <p:nvSpPr>
          <p:cNvPr id="17" name="text 74"/>
          <p:cNvSpPr txBox="1"/>
          <p:nvPr/>
        </p:nvSpPr>
        <p:spPr>
          <a:xfrm>
            <a:off x="5760720" y="868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SPACER (×26, 3.4 mm)</a:t>
            </a:r>
            <a:endParaRPr lang="en-US" sz="1200" dirty="0"/>
          </a:p>
        </p:txBody>
      </p:sp>
      <p:sp>
        <p:nvSpPr>
          <p:cNvPr id="18" name="spacer 75"/>
          <p:cNvSpPr/>
          <p:nvPr/>
        </p:nvSpPr>
        <p:spPr>
          <a:xfrm>
            <a:off x="5446624" y="1286104"/>
            <a:ext cx="2731313" cy="2731313"/>
          </a:xfrm>
          <a:custGeom>
            <a:avLst/>
            <a:gdLst/>
            <a:ahLst/>
            <a:cxnLst/>
            <a:rect l="l" t="t" r="r" b="b"/>
            <a:pathLst>
              <a:path w="2731313" h="2731313">
                <a:moveTo>
                  <a:pt x="2729665" y="1432668"/>
                </a:moveTo>
                <a:lnTo>
                  <a:pt x="2724720" y="1499491"/>
                </a:lnTo>
                <a:lnTo>
                  <a:pt x="2716526" y="1566031"/>
                </a:lnTo>
                <a:lnTo>
                  <a:pt x="2705083" y="1632101"/>
                </a:lnTo>
                <a:lnTo>
                  <a:pt x="2690390" y="1697464"/>
                </a:lnTo>
                <a:lnTo>
                  <a:pt x="2672495" y="1762073"/>
                </a:lnTo>
                <a:lnTo>
                  <a:pt x="2651493" y="1825741"/>
                </a:lnTo>
                <a:lnTo>
                  <a:pt x="2627382" y="1888279"/>
                </a:lnTo>
                <a:lnTo>
                  <a:pt x="2600210" y="1949545"/>
                </a:lnTo>
                <a:lnTo>
                  <a:pt x="2570071" y="2009446"/>
                </a:lnTo>
                <a:lnTo>
                  <a:pt x="2537013" y="2067745"/>
                </a:lnTo>
                <a:lnTo>
                  <a:pt x="2501176" y="2124396"/>
                </a:lnTo>
                <a:lnTo>
                  <a:pt x="2462561" y="2179164"/>
                </a:lnTo>
                <a:lnTo>
                  <a:pt x="2421309" y="2232001"/>
                </a:lnTo>
                <a:lnTo>
                  <a:pt x="2377561" y="2282765"/>
                </a:lnTo>
                <a:lnTo>
                  <a:pt x="2331317" y="2331317"/>
                </a:lnTo>
                <a:lnTo>
                  <a:pt x="2282765" y="2377561"/>
                </a:lnTo>
                <a:lnTo>
                  <a:pt x="2232001" y="2421309"/>
                </a:lnTo>
                <a:lnTo>
                  <a:pt x="2179164" y="2462561"/>
                </a:lnTo>
                <a:lnTo>
                  <a:pt x="2124396" y="2501176"/>
                </a:lnTo>
                <a:lnTo>
                  <a:pt x="2067745" y="2537013"/>
                </a:lnTo>
                <a:lnTo>
                  <a:pt x="2009446" y="2570071"/>
                </a:lnTo>
                <a:lnTo>
                  <a:pt x="1949545" y="2600210"/>
                </a:lnTo>
                <a:lnTo>
                  <a:pt x="1888279" y="2627382"/>
                </a:lnTo>
                <a:lnTo>
                  <a:pt x="1825741" y="2651493"/>
                </a:lnTo>
                <a:lnTo>
                  <a:pt x="1762073" y="2672495"/>
                </a:lnTo>
                <a:lnTo>
                  <a:pt x="1697464" y="2690390"/>
                </a:lnTo>
                <a:lnTo>
                  <a:pt x="1632101" y="2705083"/>
                </a:lnTo>
                <a:lnTo>
                  <a:pt x="1566031" y="2716526"/>
                </a:lnTo>
                <a:lnTo>
                  <a:pt x="1499491" y="2724720"/>
                </a:lnTo>
                <a:lnTo>
                  <a:pt x="1432668" y="2729665"/>
                </a:lnTo>
                <a:lnTo>
                  <a:pt x="1365656" y="2731313"/>
                </a:lnTo>
                <a:lnTo>
                  <a:pt x="1298645" y="2729665"/>
                </a:lnTo>
                <a:lnTo>
                  <a:pt x="1231822" y="2724720"/>
                </a:lnTo>
                <a:lnTo>
                  <a:pt x="1165282" y="2716526"/>
                </a:lnTo>
                <a:lnTo>
                  <a:pt x="1099212" y="2705083"/>
                </a:lnTo>
                <a:lnTo>
                  <a:pt x="1033849" y="2690390"/>
                </a:lnTo>
                <a:lnTo>
                  <a:pt x="969239" y="2672495"/>
                </a:lnTo>
                <a:lnTo>
                  <a:pt x="905571" y="2651493"/>
                </a:lnTo>
                <a:lnTo>
                  <a:pt x="843034" y="2627382"/>
                </a:lnTo>
                <a:lnTo>
                  <a:pt x="781768" y="2600210"/>
                </a:lnTo>
                <a:lnTo>
                  <a:pt x="721867" y="2570071"/>
                </a:lnTo>
                <a:lnTo>
                  <a:pt x="663568" y="2537013"/>
                </a:lnTo>
                <a:lnTo>
                  <a:pt x="606917" y="2501176"/>
                </a:lnTo>
                <a:lnTo>
                  <a:pt x="552149" y="2462561"/>
                </a:lnTo>
                <a:lnTo>
                  <a:pt x="499312" y="2421309"/>
                </a:lnTo>
                <a:lnTo>
                  <a:pt x="448547" y="2377561"/>
                </a:lnTo>
                <a:lnTo>
                  <a:pt x="399996" y="2331317"/>
                </a:lnTo>
                <a:lnTo>
                  <a:pt x="353752" y="2282765"/>
                </a:lnTo>
                <a:lnTo>
                  <a:pt x="310004" y="2232001"/>
                </a:lnTo>
                <a:lnTo>
                  <a:pt x="268752" y="2179164"/>
                </a:lnTo>
                <a:lnTo>
                  <a:pt x="230137" y="2124396"/>
                </a:lnTo>
                <a:lnTo>
                  <a:pt x="194300" y="2067745"/>
                </a:lnTo>
                <a:lnTo>
                  <a:pt x="161242" y="2009446"/>
                </a:lnTo>
                <a:lnTo>
                  <a:pt x="131103" y="1949545"/>
                </a:lnTo>
                <a:lnTo>
                  <a:pt x="103931" y="1888279"/>
                </a:lnTo>
                <a:lnTo>
                  <a:pt x="79820" y="1825741"/>
                </a:lnTo>
                <a:lnTo>
                  <a:pt x="58817" y="1762073"/>
                </a:lnTo>
                <a:lnTo>
                  <a:pt x="40923" y="1697464"/>
                </a:lnTo>
                <a:lnTo>
                  <a:pt x="26230" y="1632101"/>
                </a:lnTo>
                <a:lnTo>
                  <a:pt x="14787" y="1566031"/>
                </a:lnTo>
                <a:lnTo>
                  <a:pt x="6593" y="1499491"/>
                </a:lnTo>
                <a:lnTo>
                  <a:pt x="1648" y="1432668"/>
                </a:lnTo>
                <a:lnTo>
                  <a:pt x="0" y="1365656"/>
                </a:lnTo>
                <a:lnTo>
                  <a:pt x="1648" y="1298645"/>
                </a:lnTo>
                <a:lnTo>
                  <a:pt x="6593" y="1231822"/>
                </a:lnTo>
                <a:lnTo>
                  <a:pt x="14787" y="1165282"/>
                </a:lnTo>
                <a:lnTo>
                  <a:pt x="26230" y="1099212"/>
                </a:lnTo>
                <a:lnTo>
                  <a:pt x="40923" y="1033849"/>
                </a:lnTo>
                <a:lnTo>
                  <a:pt x="58817" y="969239"/>
                </a:lnTo>
                <a:lnTo>
                  <a:pt x="79820" y="905571"/>
                </a:lnTo>
                <a:lnTo>
                  <a:pt x="103931" y="843034"/>
                </a:lnTo>
                <a:lnTo>
                  <a:pt x="131103" y="781768"/>
                </a:lnTo>
                <a:lnTo>
                  <a:pt x="161242" y="721867"/>
                </a:lnTo>
                <a:lnTo>
                  <a:pt x="194300" y="663568"/>
                </a:lnTo>
                <a:lnTo>
                  <a:pt x="230137" y="606917"/>
                </a:lnTo>
                <a:lnTo>
                  <a:pt x="268752" y="552149"/>
                </a:lnTo>
                <a:lnTo>
                  <a:pt x="310004" y="499312"/>
                </a:lnTo>
                <a:lnTo>
                  <a:pt x="353752" y="448547"/>
                </a:lnTo>
                <a:lnTo>
                  <a:pt x="399996" y="399996"/>
                </a:lnTo>
                <a:lnTo>
                  <a:pt x="448547" y="353752"/>
                </a:lnTo>
                <a:lnTo>
                  <a:pt x="499312" y="310004"/>
                </a:lnTo>
                <a:lnTo>
                  <a:pt x="552149" y="268752"/>
                </a:lnTo>
                <a:lnTo>
                  <a:pt x="606917" y="230137"/>
                </a:lnTo>
                <a:lnTo>
                  <a:pt x="663568" y="194300"/>
                </a:lnTo>
                <a:lnTo>
                  <a:pt x="721867" y="161242"/>
                </a:lnTo>
                <a:lnTo>
                  <a:pt x="781768" y="131103"/>
                </a:lnTo>
                <a:lnTo>
                  <a:pt x="843034" y="103931"/>
                </a:lnTo>
                <a:lnTo>
                  <a:pt x="905571" y="79820"/>
                </a:lnTo>
                <a:lnTo>
                  <a:pt x="969239" y="58817"/>
                </a:lnTo>
                <a:lnTo>
                  <a:pt x="1033849" y="40923"/>
                </a:lnTo>
                <a:lnTo>
                  <a:pt x="1099212" y="26230"/>
                </a:lnTo>
                <a:lnTo>
                  <a:pt x="1165282" y="14787"/>
                </a:lnTo>
                <a:lnTo>
                  <a:pt x="1231822" y="6593"/>
                </a:lnTo>
                <a:lnTo>
                  <a:pt x="1298645" y="1648"/>
                </a:lnTo>
                <a:lnTo>
                  <a:pt x="1365656" y="0"/>
                </a:lnTo>
                <a:lnTo>
                  <a:pt x="1432668" y="1648"/>
                </a:lnTo>
                <a:lnTo>
                  <a:pt x="1499491" y="6593"/>
                </a:lnTo>
                <a:lnTo>
                  <a:pt x="1566031" y="14787"/>
                </a:lnTo>
                <a:lnTo>
                  <a:pt x="1632101" y="26230"/>
                </a:lnTo>
                <a:lnTo>
                  <a:pt x="1697464" y="40923"/>
                </a:lnTo>
                <a:lnTo>
                  <a:pt x="1762073" y="58817"/>
                </a:lnTo>
                <a:lnTo>
                  <a:pt x="1825741" y="79820"/>
                </a:lnTo>
                <a:lnTo>
                  <a:pt x="1888279" y="103931"/>
                </a:lnTo>
                <a:lnTo>
                  <a:pt x="1949545" y="131103"/>
                </a:lnTo>
                <a:lnTo>
                  <a:pt x="2009446" y="161242"/>
                </a:lnTo>
                <a:lnTo>
                  <a:pt x="2067745" y="194300"/>
                </a:lnTo>
                <a:lnTo>
                  <a:pt x="2124396" y="230137"/>
                </a:lnTo>
                <a:lnTo>
                  <a:pt x="2179164" y="268752"/>
                </a:lnTo>
                <a:lnTo>
                  <a:pt x="2232001" y="310004"/>
                </a:lnTo>
                <a:lnTo>
                  <a:pt x="2282765" y="353752"/>
                </a:lnTo>
                <a:lnTo>
                  <a:pt x="2331317" y="399996"/>
                </a:lnTo>
                <a:lnTo>
                  <a:pt x="2377561" y="448547"/>
                </a:lnTo>
                <a:lnTo>
                  <a:pt x="2421309" y="499312"/>
                </a:lnTo>
                <a:lnTo>
                  <a:pt x="2462561" y="552149"/>
                </a:lnTo>
                <a:lnTo>
                  <a:pt x="2501176" y="606917"/>
                </a:lnTo>
                <a:lnTo>
                  <a:pt x="2537013" y="663568"/>
                </a:lnTo>
                <a:lnTo>
                  <a:pt x="2570071" y="721867"/>
                </a:lnTo>
                <a:lnTo>
                  <a:pt x="2600210" y="781768"/>
                </a:lnTo>
                <a:lnTo>
                  <a:pt x="2627382" y="843034"/>
                </a:lnTo>
                <a:lnTo>
                  <a:pt x="2651493" y="905571"/>
                </a:lnTo>
                <a:lnTo>
                  <a:pt x="2672495" y="969239"/>
                </a:lnTo>
                <a:lnTo>
                  <a:pt x="2690390" y="1033849"/>
                </a:lnTo>
                <a:lnTo>
                  <a:pt x="2705083" y="1099212"/>
                </a:lnTo>
                <a:lnTo>
                  <a:pt x="2716526" y="1165282"/>
                </a:lnTo>
                <a:lnTo>
                  <a:pt x="2724720" y="1231822"/>
                </a:lnTo>
                <a:lnTo>
                  <a:pt x="2729665" y="1298645"/>
                </a:lnTo>
                <a:lnTo>
                  <a:pt x="2731313" y="1365656"/>
                </a:ln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" name="hole 76"/>
          <p:cNvSpPr/>
          <p:nvPr/>
        </p:nvSpPr>
        <p:spPr>
          <a:xfrm>
            <a:off x="6114900" y="2047810"/>
            <a:ext cx="1394759" cy="1207900"/>
          </a:xfrm>
          <a:custGeom>
            <a:avLst/>
            <a:gdLst/>
            <a:ahLst/>
            <a:cxnLst/>
            <a:rect l="l" t="t" r="r" b="b"/>
            <a:pathLst>
              <a:path w="1394759" h="1207900">
                <a:moveTo>
                  <a:pt x="1046093" y="0"/>
                </a:moveTo>
                <a:lnTo>
                  <a:pt x="348666" y="0"/>
                </a:lnTo>
                <a:lnTo>
                  <a:pt x="0" y="603950"/>
                </a:lnTo>
                <a:lnTo>
                  <a:pt x="348666" y="1207900"/>
                </a:lnTo>
                <a:lnTo>
                  <a:pt x="1046093" y="1207900"/>
                </a:lnTo>
                <a:lnTo>
                  <a:pt x="1394759" y="60395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line 77"/>
          <p:cNvSpPr/>
          <p:nvPr/>
        </p:nvSpPr>
        <p:spPr>
          <a:xfrm>
            <a:off x="5446624" y="4200296"/>
            <a:ext cx="2731313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21" name="text 78"/>
          <p:cNvSpPr txBox="1"/>
          <p:nvPr/>
        </p:nvSpPr>
        <p:spPr>
          <a:xfrm>
            <a:off x="5989320" y="42368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Ø58</a:t>
            </a:r>
            <a:endParaRPr lang="en-US" sz="1000" dirty="0"/>
          </a:p>
        </p:txBody>
      </p:sp>
      <p:sp>
        <p:nvSpPr>
          <p:cNvPr id="22" name="line 79"/>
          <p:cNvSpPr/>
          <p:nvPr/>
        </p:nvSpPr>
        <p:spPr>
          <a:xfrm flipV="1">
            <a:off x="5760720" y="2697480"/>
            <a:ext cx="1097280" cy="201168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text 80"/>
          <p:cNvSpPr txBox="1"/>
          <p:nvPr/>
        </p:nvSpPr>
        <p:spPr>
          <a:xfrm>
            <a:off x="5806440" y="46085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hex bore 25.65 AF (same as blade)</a:t>
            </a:r>
            <a:endParaRPr lang="en-US" sz="1000" dirty="0"/>
          </a:p>
        </p:txBody>
      </p:sp>
      <p:sp>
        <p:nvSpPr>
          <p:cNvPr id="24" name="text 81"/>
          <p:cNvSpPr txBox="1"/>
          <p:nvPr/>
        </p:nvSpPr>
        <p:spPr>
          <a:xfrm>
            <a:off x="576072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Blade tip clears the opposing spacer by 1.08 mm</a:t>
            </a:r>
            <a:endParaRPr lang="en-US" sz="1100" dirty="0"/>
          </a:p>
        </p:txBody>
      </p:sp>
      <p:sp>
        <p:nvSpPr>
          <p:cNvPr id="25" name="notes box 82"/>
          <p:cNvSpPr/>
          <p:nvPr/>
        </p:nvSpPr>
        <p:spPr>
          <a:xfrm>
            <a:off x="8732520" y="914400"/>
            <a:ext cx="3017520" cy="5349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notes text 83"/>
          <p:cNvSpPr txBox="1"/>
          <p:nvPr/>
        </p:nvSpPr>
        <p:spPr>
          <a:xfrm>
            <a:off x="8842248" y="987552"/>
            <a:ext cx="2798064" cy="5202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DESIGN NOTES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Hook shape is traced from your Fusion “Shredi V2” blade and compressed to 18 fine teeth.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Tooth pitch at the tips ≈ 13.3 mm; each blade shears a 3.2 mm wide strip (estimate of bit size).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One blade file: cut 26, then turn 13 over so the hooks mirror on shaft B.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Cheapest start: mild steel plate. Move to 3 mm AR400 / AR500 only if the teeth dull on abrasive scrap.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Hex bore = 1 in hex bar (25.4 AF) + 0.25 mm slip fit.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Spacers are 0.4 mm thicker than blades – this leaves 0.1 mm each side for the stationary plates.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CUTTER STACK – SECTION THROUGH BOTH SHAFT AXES</a:t>
            </a:r>
            <a:endParaRPr lang="en-US" sz="2600" dirty="0"/>
          </a:p>
        </p:txBody>
      </p:sp>
      <p:sp>
        <p:nvSpPr>
          <p:cNvPr id="3" name="blade A 84"/>
          <p:cNvSpPr/>
          <p:nvPr/>
        </p:nvSpPr>
        <p:spPr>
          <a:xfrm>
            <a:off x="1261872" y="1466698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" name="spacer B 85"/>
          <p:cNvSpPr/>
          <p:nvPr/>
        </p:nvSpPr>
        <p:spPr>
          <a:xfrm>
            <a:off x="4078224" y="1463040"/>
            <a:ext cx="2121408" cy="120701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wall L 86"/>
          <p:cNvSpPr/>
          <p:nvPr/>
        </p:nvSpPr>
        <p:spPr>
          <a:xfrm>
            <a:off x="640080" y="1463040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" name="comb R 87"/>
          <p:cNvSpPr/>
          <p:nvPr/>
        </p:nvSpPr>
        <p:spPr>
          <a:xfrm>
            <a:off x="6221578" y="1463040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" name="spacer A 88"/>
          <p:cNvSpPr/>
          <p:nvPr/>
        </p:nvSpPr>
        <p:spPr>
          <a:xfrm>
            <a:off x="1591056" y="1576426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" name="blade B 89"/>
          <p:cNvSpPr/>
          <p:nvPr/>
        </p:nvSpPr>
        <p:spPr>
          <a:xfrm>
            <a:off x="3749040" y="1583741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" name="comb L 90"/>
          <p:cNvSpPr/>
          <p:nvPr/>
        </p:nvSpPr>
        <p:spPr>
          <a:xfrm>
            <a:off x="640080" y="1580083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" name="wall R 91"/>
          <p:cNvSpPr/>
          <p:nvPr/>
        </p:nvSpPr>
        <p:spPr>
          <a:xfrm>
            <a:off x="6583680" y="1580083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1" name="blade A 92"/>
          <p:cNvSpPr/>
          <p:nvPr/>
        </p:nvSpPr>
        <p:spPr>
          <a:xfrm>
            <a:off x="1261872" y="1700784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2" name="spacer B 93"/>
          <p:cNvSpPr/>
          <p:nvPr/>
        </p:nvSpPr>
        <p:spPr>
          <a:xfrm>
            <a:off x="4078224" y="1693469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3" name="wall L 94"/>
          <p:cNvSpPr/>
          <p:nvPr/>
        </p:nvSpPr>
        <p:spPr>
          <a:xfrm>
            <a:off x="640080" y="1697126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4" name="comb R 95"/>
          <p:cNvSpPr/>
          <p:nvPr/>
        </p:nvSpPr>
        <p:spPr>
          <a:xfrm>
            <a:off x="6221578" y="1697126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spacer A 96"/>
          <p:cNvSpPr/>
          <p:nvPr/>
        </p:nvSpPr>
        <p:spPr>
          <a:xfrm>
            <a:off x="1591056" y="1810512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6" name="blade B 97"/>
          <p:cNvSpPr/>
          <p:nvPr/>
        </p:nvSpPr>
        <p:spPr>
          <a:xfrm>
            <a:off x="3749040" y="1817827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7" name="comb L 98"/>
          <p:cNvSpPr/>
          <p:nvPr/>
        </p:nvSpPr>
        <p:spPr>
          <a:xfrm>
            <a:off x="640080" y="1814170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8" name="wall R 99"/>
          <p:cNvSpPr/>
          <p:nvPr/>
        </p:nvSpPr>
        <p:spPr>
          <a:xfrm>
            <a:off x="6583680" y="1814170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9" name="blade A 100"/>
          <p:cNvSpPr/>
          <p:nvPr/>
        </p:nvSpPr>
        <p:spPr>
          <a:xfrm>
            <a:off x="1261872" y="1934870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0" name="spacer B 101"/>
          <p:cNvSpPr/>
          <p:nvPr/>
        </p:nvSpPr>
        <p:spPr>
          <a:xfrm>
            <a:off x="4078224" y="1927555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1" name="wall L 102"/>
          <p:cNvSpPr/>
          <p:nvPr/>
        </p:nvSpPr>
        <p:spPr>
          <a:xfrm>
            <a:off x="640080" y="1931213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2" name="comb R 103"/>
          <p:cNvSpPr/>
          <p:nvPr/>
        </p:nvSpPr>
        <p:spPr>
          <a:xfrm>
            <a:off x="6221578" y="1931213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3" name="spacer A 104"/>
          <p:cNvSpPr/>
          <p:nvPr/>
        </p:nvSpPr>
        <p:spPr>
          <a:xfrm>
            <a:off x="1591056" y="2044598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4" name="blade B 105"/>
          <p:cNvSpPr/>
          <p:nvPr/>
        </p:nvSpPr>
        <p:spPr>
          <a:xfrm>
            <a:off x="3749040" y="2051914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5" name="comb L 106"/>
          <p:cNvSpPr/>
          <p:nvPr/>
        </p:nvSpPr>
        <p:spPr>
          <a:xfrm>
            <a:off x="640080" y="2048256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6" name="wall R 107"/>
          <p:cNvSpPr/>
          <p:nvPr/>
        </p:nvSpPr>
        <p:spPr>
          <a:xfrm>
            <a:off x="6583680" y="2048256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7" name="blade A 108"/>
          <p:cNvSpPr/>
          <p:nvPr/>
        </p:nvSpPr>
        <p:spPr>
          <a:xfrm>
            <a:off x="1261872" y="2168957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8" name="spacer B 109"/>
          <p:cNvSpPr/>
          <p:nvPr/>
        </p:nvSpPr>
        <p:spPr>
          <a:xfrm>
            <a:off x="4078224" y="2161642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9" name="wall L 110"/>
          <p:cNvSpPr/>
          <p:nvPr/>
        </p:nvSpPr>
        <p:spPr>
          <a:xfrm>
            <a:off x="640080" y="2165299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0" name="comb R 111"/>
          <p:cNvSpPr/>
          <p:nvPr/>
        </p:nvSpPr>
        <p:spPr>
          <a:xfrm>
            <a:off x="6221578" y="2165299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1" name="spacer A 112"/>
          <p:cNvSpPr/>
          <p:nvPr/>
        </p:nvSpPr>
        <p:spPr>
          <a:xfrm>
            <a:off x="1591056" y="2278685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2" name="blade B 113"/>
          <p:cNvSpPr/>
          <p:nvPr/>
        </p:nvSpPr>
        <p:spPr>
          <a:xfrm>
            <a:off x="3749040" y="2286000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3" name="comb L 114"/>
          <p:cNvSpPr/>
          <p:nvPr/>
        </p:nvSpPr>
        <p:spPr>
          <a:xfrm>
            <a:off x="640080" y="2282342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4" name="wall R 115"/>
          <p:cNvSpPr/>
          <p:nvPr/>
        </p:nvSpPr>
        <p:spPr>
          <a:xfrm>
            <a:off x="6583680" y="2282342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5" name="blade A 116"/>
          <p:cNvSpPr/>
          <p:nvPr/>
        </p:nvSpPr>
        <p:spPr>
          <a:xfrm>
            <a:off x="1261872" y="2403043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6" name="spacer B 117"/>
          <p:cNvSpPr/>
          <p:nvPr/>
        </p:nvSpPr>
        <p:spPr>
          <a:xfrm>
            <a:off x="4078224" y="2395728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7" name="wall L 118"/>
          <p:cNvSpPr/>
          <p:nvPr/>
        </p:nvSpPr>
        <p:spPr>
          <a:xfrm>
            <a:off x="640080" y="2399386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8" name="comb R 119"/>
          <p:cNvSpPr/>
          <p:nvPr/>
        </p:nvSpPr>
        <p:spPr>
          <a:xfrm>
            <a:off x="6221578" y="2399386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39" name="spacer A 120"/>
          <p:cNvSpPr/>
          <p:nvPr/>
        </p:nvSpPr>
        <p:spPr>
          <a:xfrm>
            <a:off x="1591056" y="2512771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0" name="blade B 121"/>
          <p:cNvSpPr/>
          <p:nvPr/>
        </p:nvSpPr>
        <p:spPr>
          <a:xfrm>
            <a:off x="3749040" y="2520086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1" name="comb L 122"/>
          <p:cNvSpPr/>
          <p:nvPr/>
        </p:nvSpPr>
        <p:spPr>
          <a:xfrm>
            <a:off x="640080" y="2516429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2" name="wall R 123"/>
          <p:cNvSpPr/>
          <p:nvPr/>
        </p:nvSpPr>
        <p:spPr>
          <a:xfrm>
            <a:off x="6583680" y="2516429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3" name="blade A 124"/>
          <p:cNvSpPr/>
          <p:nvPr/>
        </p:nvSpPr>
        <p:spPr>
          <a:xfrm>
            <a:off x="1261872" y="2637130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4" name="spacer B 125"/>
          <p:cNvSpPr/>
          <p:nvPr/>
        </p:nvSpPr>
        <p:spPr>
          <a:xfrm>
            <a:off x="4078224" y="2629814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5" name="wall L 126"/>
          <p:cNvSpPr/>
          <p:nvPr/>
        </p:nvSpPr>
        <p:spPr>
          <a:xfrm>
            <a:off x="640080" y="2633472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6" name="comb R 127"/>
          <p:cNvSpPr/>
          <p:nvPr/>
        </p:nvSpPr>
        <p:spPr>
          <a:xfrm>
            <a:off x="6221578" y="2633472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7" name="spacer A 128"/>
          <p:cNvSpPr/>
          <p:nvPr/>
        </p:nvSpPr>
        <p:spPr>
          <a:xfrm>
            <a:off x="1591056" y="2746858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8" name="blade B 129"/>
          <p:cNvSpPr/>
          <p:nvPr/>
        </p:nvSpPr>
        <p:spPr>
          <a:xfrm>
            <a:off x="3749040" y="2754173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9" name="comb L 130"/>
          <p:cNvSpPr/>
          <p:nvPr/>
        </p:nvSpPr>
        <p:spPr>
          <a:xfrm>
            <a:off x="640080" y="2750515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0" name="wall R 131"/>
          <p:cNvSpPr/>
          <p:nvPr/>
        </p:nvSpPr>
        <p:spPr>
          <a:xfrm>
            <a:off x="6583680" y="2750515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1" name="blade A 132"/>
          <p:cNvSpPr/>
          <p:nvPr/>
        </p:nvSpPr>
        <p:spPr>
          <a:xfrm>
            <a:off x="1261872" y="2871216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2" name="spacer B 133"/>
          <p:cNvSpPr/>
          <p:nvPr/>
        </p:nvSpPr>
        <p:spPr>
          <a:xfrm>
            <a:off x="4078224" y="2863901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3" name="wall L 134"/>
          <p:cNvSpPr/>
          <p:nvPr/>
        </p:nvSpPr>
        <p:spPr>
          <a:xfrm>
            <a:off x="640080" y="2867558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4" name="comb R 135"/>
          <p:cNvSpPr/>
          <p:nvPr/>
        </p:nvSpPr>
        <p:spPr>
          <a:xfrm>
            <a:off x="6221578" y="2867558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5" name="spacer A 136"/>
          <p:cNvSpPr/>
          <p:nvPr/>
        </p:nvSpPr>
        <p:spPr>
          <a:xfrm>
            <a:off x="1591056" y="2980944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6" name="blade B 137"/>
          <p:cNvSpPr/>
          <p:nvPr/>
        </p:nvSpPr>
        <p:spPr>
          <a:xfrm>
            <a:off x="3749040" y="2988259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7" name="comb L 138"/>
          <p:cNvSpPr/>
          <p:nvPr/>
        </p:nvSpPr>
        <p:spPr>
          <a:xfrm>
            <a:off x="640080" y="2984602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8" name="wall R 139"/>
          <p:cNvSpPr/>
          <p:nvPr/>
        </p:nvSpPr>
        <p:spPr>
          <a:xfrm>
            <a:off x="6583680" y="2984602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9" name="blade A 140"/>
          <p:cNvSpPr/>
          <p:nvPr/>
        </p:nvSpPr>
        <p:spPr>
          <a:xfrm>
            <a:off x="1261872" y="3105302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0" name="spacer B 141"/>
          <p:cNvSpPr/>
          <p:nvPr/>
        </p:nvSpPr>
        <p:spPr>
          <a:xfrm>
            <a:off x="4078224" y="3097987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1" name="wall L 142"/>
          <p:cNvSpPr/>
          <p:nvPr/>
        </p:nvSpPr>
        <p:spPr>
          <a:xfrm>
            <a:off x="640080" y="3101645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2" name="comb R 143"/>
          <p:cNvSpPr/>
          <p:nvPr/>
        </p:nvSpPr>
        <p:spPr>
          <a:xfrm>
            <a:off x="6221578" y="3101645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3" name="spacer A 144"/>
          <p:cNvSpPr/>
          <p:nvPr/>
        </p:nvSpPr>
        <p:spPr>
          <a:xfrm>
            <a:off x="1591056" y="3215030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4" name="blade B 145"/>
          <p:cNvSpPr/>
          <p:nvPr/>
        </p:nvSpPr>
        <p:spPr>
          <a:xfrm>
            <a:off x="3749040" y="3222346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5" name="comb L 146"/>
          <p:cNvSpPr/>
          <p:nvPr/>
        </p:nvSpPr>
        <p:spPr>
          <a:xfrm>
            <a:off x="640080" y="3218688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6" name="wall R 147"/>
          <p:cNvSpPr/>
          <p:nvPr/>
        </p:nvSpPr>
        <p:spPr>
          <a:xfrm>
            <a:off x="6583680" y="3218688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7" name="blade A 148"/>
          <p:cNvSpPr/>
          <p:nvPr/>
        </p:nvSpPr>
        <p:spPr>
          <a:xfrm>
            <a:off x="1261872" y="3339389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8" name="spacer B 149"/>
          <p:cNvSpPr/>
          <p:nvPr/>
        </p:nvSpPr>
        <p:spPr>
          <a:xfrm>
            <a:off x="4078224" y="3332074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9" name="wall L 150"/>
          <p:cNvSpPr/>
          <p:nvPr/>
        </p:nvSpPr>
        <p:spPr>
          <a:xfrm>
            <a:off x="640080" y="3335731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0" name="comb R 151"/>
          <p:cNvSpPr/>
          <p:nvPr/>
        </p:nvSpPr>
        <p:spPr>
          <a:xfrm>
            <a:off x="6221578" y="3335731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1" name="spacer A 152"/>
          <p:cNvSpPr/>
          <p:nvPr/>
        </p:nvSpPr>
        <p:spPr>
          <a:xfrm>
            <a:off x="1591056" y="3449117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2" name="blade B 153"/>
          <p:cNvSpPr/>
          <p:nvPr/>
        </p:nvSpPr>
        <p:spPr>
          <a:xfrm>
            <a:off x="3749040" y="3456432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3" name="comb L 154"/>
          <p:cNvSpPr/>
          <p:nvPr/>
        </p:nvSpPr>
        <p:spPr>
          <a:xfrm>
            <a:off x="640080" y="3452774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4" name="wall R 155"/>
          <p:cNvSpPr/>
          <p:nvPr/>
        </p:nvSpPr>
        <p:spPr>
          <a:xfrm>
            <a:off x="6583680" y="3452774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5" name="blade A 156"/>
          <p:cNvSpPr/>
          <p:nvPr/>
        </p:nvSpPr>
        <p:spPr>
          <a:xfrm>
            <a:off x="1261872" y="3573475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6" name="spacer B 157"/>
          <p:cNvSpPr/>
          <p:nvPr/>
        </p:nvSpPr>
        <p:spPr>
          <a:xfrm>
            <a:off x="4078224" y="3566160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7" name="wall L 158"/>
          <p:cNvSpPr/>
          <p:nvPr/>
        </p:nvSpPr>
        <p:spPr>
          <a:xfrm>
            <a:off x="640080" y="3569818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8" name="comb R 159"/>
          <p:cNvSpPr/>
          <p:nvPr/>
        </p:nvSpPr>
        <p:spPr>
          <a:xfrm>
            <a:off x="6221578" y="3569818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9" name="spacer A 160"/>
          <p:cNvSpPr/>
          <p:nvPr/>
        </p:nvSpPr>
        <p:spPr>
          <a:xfrm>
            <a:off x="1591056" y="3683203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0" name="blade B 161"/>
          <p:cNvSpPr/>
          <p:nvPr/>
        </p:nvSpPr>
        <p:spPr>
          <a:xfrm>
            <a:off x="3749040" y="3690518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1" name="comb L 162"/>
          <p:cNvSpPr/>
          <p:nvPr/>
        </p:nvSpPr>
        <p:spPr>
          <a:xfrm>
            <a:off x="640080" y="3686861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2" name="wall R 163"/>
          <p:cNvSpPr/>
          <p:nvPr/>
        </p:nvSpPr>
        <p:spPr>
          <a:xfrm>
            <a:off x="6583680" y="3686861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3" name="blade A 164"/>
          <p:cNvSpPr/>
          <p:nvPr/>
        </p:nvSpPr>
        <p:spPr>
          <a:xfrm>
            <a:off x="1261872" y="3807562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4" name="spacer B 165"/>
          <p:cNvSpPr/>
          <p:nvPr/>
        </p:nvSpPr>
        <p:spPr>
          <a:xfrm>
            <a:off x="4078224" y="3800246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5" name="wall L 166"/>
          <p:cNvSpPr/>
          <p:nvPr/>
        </p:nvSpPr>
        <p:spPr>
          <a:xfrm>
            <a:off x="640080" y="3803904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6" name="comb R 167"/>
          <p:cNvSpPr/>
          <p:nvPr/>
        </p:nvSpPr>
        <p:spPr>
          <a:xfrm>
            <a:off x="6221578" y="3803904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7" name="spacer A 168"/>
          <p:cNvSpPr/>
          <p:nvPr/>
        </p:nvSpPr>
        <p:spPr>
          <a:xfrm>
            <a:off x="1591056" y="3917290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8" name="blade B 169"/>
          <p:cNvSpPr/>
          <p:nvPr/>
        </p:nvSpPr>
        <p:spPr>
          <a:xfrm>
            <a:off x="3749040" y="3924605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89" name="comb L 170"/>
          <p:cNvSpPr/>
          <p:nvPr/>
        </p:nvSpPr>
        <p:spPr>
          <a:xfrm>
            <a:off x="640080" y="3920947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0" name="wall R 171"/>
          <p:cNvSpPr/>
          <p:nvPr/>
        </p:nvSpPr>
        <p:spPr>
          <a:xfrm>
            <a:off x="6583680" y="3920947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1" name="blade A 172"/>
          <p:cNvSpPr/>
          <p:nvPr/>
        </p:nvSpPr>
        <p:spPr>
          <a:xfrm>
            <a:off x="1261872" y="4041648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2" name="spacer B 173"/>
          <p:cNvSpPr/>
          <p:nvPr/>
        </p:nvSpPr>
        <p:spPr>
          <a:xfrm>
            <a:off x="4078224" y="4034333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3" name="wall L 174"/>
          <p:cNvSpPr/>
          <p:nvPr/>
        </p:nvSpPr>
        <p:spPr>
          <a:xfrm>
            <a:off x="640080" y="4037990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4" name="comb R 175"/>
          <p:cNvSpPr/>
          <p:nvPr/>
        </p:nvSpPr>
        <p:spPr>
          <a:xfrm>
            <a:off x="6221578" y="4037990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5" name="spacer A 176"/>
          <p:cNvSpPr/>
          <p:nvPr/>
        </p:nvSpPr>
        <p:spPr>
          <a:xfrm>
            <a:off x="1591056" y="4151376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6" name="blade B 177"/>
          <p:cNvSpPr/>
          <p:nvPr/>
        </p:nvSpPr>
        <p:spPr>
          <a:xfrm>
            <a:off x="3749040" y="4158691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7" name="comb L 178"/>
          <p:cNvSpPr/>
          <p:nvPr/>
        </p:nvSpPr>
        <p:spPr>
          <a:xfrm>
            <a:off x="640080" y="4155034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8" name="wall R 179"/>
          <p:cNvSpPr/>
          <p:nvPr/>
        </p:nvSpPr>
        <p:spPr>
          <a:xfrm>
            <a:off x="6583680" y="4155034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99" name="blade A 180"/>
          <p:cNvSpPr/>
          <p:nvPr/>
        </p:nvSpPr>
        <p:spPr>
          <a:xfrm>
            <a:off x="1261872" y="4275734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0" name="spacer B 181"/>
          <p:cNvSpPr/>
          <p:nvPr/>
        </p:nvSpPr>
        <p:spPr>
          <a:xfrm>
            <a:off x="4078224" y="4268419"/>
            <a:ext cx="2121408" cy="124358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1" name="wall L 182"/>
          <p:cNvSpPr/>
          <p:nvPr/>
        </p:nvSpPr>
        <p:spPr>
          <a:xfrm>
            <a:off x="640080" y="4272077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2" name="comb R 183"/>
          <p:cNvSpPr/>
          <p:nvPr/>
        </p:nvSpPr>
        <p:spPr>
          <a:xfrm>
            <a:off x="6221578" y="4272077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3" name="spacer A 184"/>
          <p:cNvSpPr/>
          <p:nvPr/>
        </p:nvSpPr>
        <p:spPr>
          <a:xfrm>
            <a:off x="1591056" y="4385462"/>
            <a:ext cx="2121408" cy="120701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4" name="blade B 185"/>
          <p:cNvSpPr/>
          <p:nvPr/>
        </p:nvSpPr>
        <p:spPr>
          <a:xfrm>
            <a:off x="3749040" y="4392778"/>
            <a:ext cx="2779776" cy="10972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5" name="comb L 186"/>
          <p:cNvSpPr/>
          <p:nvPr/>
        </p:nvSpPr>
        <p:spPr>
          <a:xfrm>
            <a:off x="640080" y="4389120"/>
            <a:ext cx="929030" cy="11704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6" name="wall R 187"/>
          <p:cNvSpPr/>
          <p:nvPr/>
        </p:nvSpPr>
        <p:spPr>
          <a:xfrm>
            <a:off x="6583680" y="4389120"/>
            <a:ext cx="566928" cy="117043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07" name="hex shaft 188"/>
          <p:cNvSpPr/>
          <p:nvPr/>
        </p:nvSpPr>
        <p:spPr>
          <a:xfrm>
            <a:off x="2187245" y="1463040"/>
            <a:ext cx="929030" cy="30431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8" name="hex shaft 189"/>
          <p:cNvSpPr/>
          <p:nvPr/>
        </p:nvSpPr>
        <p:spPr>
          <a:xfrm>
            <a:off x="4674413" y="1463040"/>
            <a:ext cx="929030" cy="30431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9" name="line 190"/>
          <p:cNvSpPr/>
          <p:nvPr/>
        </p:nvSpPr>
        <p:spPr>
          <a:xfrm>
            <a:off x="2651760" y="1243584"/>
            <a:ext cx="0" cy="3482035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110" name="line 191"/>
          <p:cNvSpPr/>
          <p:nvPr/>
        </p:nvSpPr>
        <p:spPr>
          <a:xfrm>
            <a:off x="5138928" y="1243584"/>
            <a:ext cx="0" cy="3482035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111" name="far plate 192"/>
          <p:cNvSpPr/>
          <p:nvPr/>
        </p:nvSpPr>
        <p:spPr>
          <a:xfrm>
            <a:off x="640080" y="1280160"/>
            <a:ext cx="6510528" cy="18288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12" name="drive plate 193"/>
          <p:cNvSpPr/>
          <p:nvPr/>
        </p:nvSpPr>
        <p:spPr>
          <a:xfrm>
            <a:off x="640080" y="4506163"/>
            <a:ext cx="6510528" cy="182880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13" name="text 194"/>
          <p:cNvSpPr txBox="1"/>
          <p:nvPr/>
        </p:nvSpPr>
        <p:spPr>
          <a:xfrm>
            <a:off x="685800" y="1078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far end plate</a:t>
            </a:r>
            <a:endParaRPr lang="en-US" sz="1000" dirty="0"/>
          </a:p>
        </p:txBody>
      </p:sp>
      <p:sp>
        <p:nvSpPr>
          <p:cNvPr id="114" name="text 195"/>
          <p:cNvSpPr txBox="1"/>
          <p:nvPr/>
        </p:nvSpPr>
        <p:spPr>
          <a:xfrm>
            <a:off x="685800" y="4707331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drive end plate</a:t>
            </a:r>
            <a:endParaRPr lang="en-US" sz="1000" dirty="0"/>
          </a:p>
        </p:txBody>
      </p:sp>
      <p:sp>
        <p:nvSpPr>
          <p:cNvPr id="115" name="text 196"/>
          <p:cNvSpPr txBox="1"/>
          <p:nvPr/>
        </p:nvSpPr>
        <p:spPr>
          <a:xfrm>
            <a:off x="2194560" y="8321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SHAFT A</a:t>
            </a:r>
            <a:endParaRPr lang="en-US" sz="1100" dirty="0"/>
          </a:p>
        </p:txBody>
      </p:sp>
      <p:sp>
        <p:nvSpPr>
          <p:cNvPr id="116" name="text 197"/>
          <p:cNvSpPr txBox="1"/>
          <p:nvPr/>
        </p:nvSpPr>
        <p:spPr>
          <a:xfrm>
            <a:off x="4681728" y="8321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SHAFT B</a:t>
            </a:r>
            <a:endParaRPr lang="en-US" sz="1100" dirty="0"/>
          </a:p>
        </p:txBody>
      </p:sp>
      <p:sp>
        <p:nvSpPr>
          <p:cNvPr id="117" name="line 198"/>
          <p:cNvSpPr/>
          <p:nvPr/>
        </p:nvSpPr>
        <p:spPr>
          <a:xfrm>
            <a:off x="2651760" y="1133856"/>
            <a:ext cx="248716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18" name="text 199"/>
          <p:cNvSpPr txBox="1"/>
          <p:nvPr/>
        </p:nvSpPr>
        <p:spPr>
          <a:xfrm>
            <a:off x="3072384" y="914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68 shaft spacing</a:t>
            </a:r>
            <a:endParaRPr lang="en-US" sz="1000" dirty="0"/>
          </a:p>
        </p:txBody>
      </p:sp>
      <p:sp>
        <p:nvSpPr>
          <p:cNvPr id="119" name="line 200"/>
          <p:cNvSpPr/>
          <p:nvPr/>
        </p:nvSpPr>
        <p:spPr>
          <a:xfrm>
            <a:off x="7516368" y="1463040"/>
            <a:ext cx="0" cy="3043123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20" name="text 201"/>
          <p:cNvSpPr txBox="1"/>
          <p:nvPr/>
        </p:nvSpPr>
        <p:spPr>
          <a:xfrm>
            <a:off x="7571232" y="289316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83.2</a:t>
            </a:r>
            <a:endParaRPr lang="en-US" sz="1000" dirty="0"/>
          </a:p>
        </p:txBody>
      </p:sp>
      <p:sp>
        <p:nvSpPr>
          <p:cNvPr id="121" name="line 202"/>
          <p:cNvSpPr/>
          <p:nvPr/>
        </p:nvSpPr>
        <p:spPr>
          <a:xfrm>
            <a:off x="7150608" y="1463040"/>
            <a:ext cx="411480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122" name="line 203"/>
          <p:cNvSpPr/>
          <p:nvPr/>
        </p:nvSpPr>
        <p:spPr>
          <a:xfrm>
            <a:off x="7150608" y="4506163"/>
            <a:ext cx="411480" cy="0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olid"/>
          </a:ln>
        </p:spPr>
      </p:sp>
      <p:sp>
        <p:nvSpPr>
          <p:cNvPr id="123" name="legend swatch 204"/>
          <p:cNvSpPr/>
          <p:nvPr/>
        </p:nvSpPr>
        <p:spPr>
          <a:xfrm>
            <a:off x="5120640" y="5074920"/>
            <a:ext cx="256032" cy="164592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24" name="text 205"/>
          <p:cNvSpPr txBox="1"/>
          <p:nvPr/>
        </p:nvSpPr>
        <p:spPr>
          <a:xfrm>
            <a:off x="5468112" y="5056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blade (3.0)</a:t>
            </a:r>
            <a:endParaRPr lang="en-US" sz="1050" dirty="0"/>
          </a:p>
        </p:txBody>
      </p:sp>
      <p:sp>
        <p:nvSpPr>
          <p:cNvPr id="125" name="legend swatch 206"/>
          <p:cNvSpPr/>
          <p:nvPr/>
        </p:nvSpPr>
        <p:spPr>
          <a:xfrm>
            <a:off x="5120640" y="5330952"/>
            <a:ext cx="256032" cy="164592"/>
          </a:xfrm>
          <a:prstGeom prst="rect">
            <a:avLst/>
          </a:prstGeom>
          <a:solidFill>
            <a:srgbClr val="A9B3BF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26" name="text 207"/>
          <p:cNvSpPr txBox="1"/>
          <p:nvPr/>
        </p:nvSpPr>
        <p:spPr>
          <a:xfrm>
            <a:off x="5468112" y="5312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spacer (3.4)</a:t>
            </a:r>
            <a:endParaRPr lang="en-US" sz="1050" dirty="0"/>
          </a:p>
        </p:txBody>
      </p:sp>
      <p:sp>
        <p:nvSpPr>
          <p:cNvPr id="127" name="legend swatch 208"/>
          <p:cNvSpPr/>
          <p:nvPr/>
        </p:nvSpPr>
        <p:spPr>
          <a:xfrm>
            <a:off x="5120640" y="5586984"/>
            <a:ext cx="256032" cy="164592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28" name="text 209"/>
          <p:cNvSpPr txBox="1"/>
          <p:nvPr/>
        </p:nvSpPr>
        <p:spPr>
          <a:xfrm>
            <a:off x="5468112" y="55686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comb (3.2)</a:t>
            </a:r>
            <a:endParaRPr lang="en-US" sz="1050" dirty="0"/>
          </a:p>
        </p:txBody>
      </p:sp>
      <p:sp>
        <p:nvSpPr>
          <p:cNvPr id="129" name="legend swatch 210"/>
          <p:cNvSpPr/>
          <p:nvPr/>
        </p:nvSpPr>
        <p:spPr>
          <a:xfrm>
            <a:off x="5120640" y="5843016"/>
            <a:ext cx="256032" cy="164592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30" name="text 211"/>
          <p:cNvSpPr txBox="1"/>
          <p:nvPr/>
        </p:nvSpPr>
        <p:spPr>
          <a:xfrm>
            <a:off x="5468112" y="5824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wall plate (3.2)</a:t>
            </a:r>
            <a:endParaRPr lang="en-US" sz="1050" dirty="0"/>
          </a:p>
        </p:txBody>
      </p:sp>
      <p:sp>
        <p:nvSpPr>
          <p:cNvPr id="131" name="legend swatch 212"/>
          <p:cNvSpPr/>
          <p:nvPr/>
        </p:nvSpPr>
        <p:spPr>
          <a:xfrm>
            <a:off x="5120640" y="6099048"/>
            <a:ext cx="256032" cy="16459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32" name="text 213"/>
          <p:cNvSpPr txBox="1"/>
          <p:nvPr/>
        </p:nvSpPr>
        <p:spPr>
          <a:xfrm>
            <a:off x="5468112" y="6080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hex shaft</a:t>
            </a:r>
            <a:endParaRPr lang="en-US" sz="1050" dirty="0"/>
          </a:p>
        </p:txBody>
      </p:sp>
      <p:pic>
        <p:nvPicPr>
          <p:cNvPr id="133" name="cutter_end 214" descr="Render: cutter 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914400"/>
            <a:ext cx="3520440" cy="2203704"/>
          </a:xfrm>
          <a:prstGeom prst="rect">
            <a:avLst/>
          </a:prstGeom>
        </p:spPr>
      </p:pic>
      <p:sp>
        <p:nvSpPr>
          <p:cNvPr id="134" name="text 215"/>
          <p:cNvSpPr txBox="1"/>
          <p:nvPr/>
        </p:nvSpPr>
        <p:spPr>
          <a:xfrm>
            <a:off x="8229600" y="31546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Blade hooks meshing – view from the far end</a:t>
            </a:r>
            <a:endParaRPr lang="en-US" sz="1000" dirty="0"/>
          </a:p>
        </p:txBody>
      </p:sp>
      <p:sp>
        <p:nvSpPr>
          <p:cNvPr id="135" name="notes box 216"/>
          <p:cNvSpPr/>
          <p:nvPr/>
        </p:nvSpPr>
        <p:spPr>
          <a:xfrm>
            <a:off x="8229600" y="3520440"/>
            <a:ext cx="3520440" cy="2743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6" name="notes text 217"/>
          <p:cNvSpPr txBox="1"/>
          <p:nvPr/>
        </p:nvSpPr>
        <p:spPr>
          <a:xfrm>
            <a:off x="8339328" y="3593592"/>
            <a:ext cx="330098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DESIGN NOTES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Every layer is 3.2 mm: A and B blades alternate, 13 each = 26 layers = 83.2 mm.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Each blade sits in the other shaft’s spacer layer and shears against its neighbours (0.2 mm axial).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Stationary combs touch the spacer zone; wall plates close the blade layers.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Gaps: 0.1 mm blade ↔ plate, 1.0 mm tip ↔ spacer, 1.5 mm tip ↔ wall.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STATIONARY PLATES – COMB, WALL AND TOP PLATE</a:t>
            </a:r>
            <a:endParaRPr lang="en-US" sz="2600" dirty="0"/>
          </a:p>
        </p:txBody>
      </p:sp>
      <p:sp>
        <p:nvSpPr>
          <p:cNvPr id="3" name="text 218"/>
          <p:cNvSpPr txBox="1"/>
          <p:nvPr/>
        </p:nvSpPr>
        <p:spPr>
          <a:xfrm>
            <a:off x="548640" y="868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COMB (×26, 3.2 mm)</a:t>
            </a:r>
            <a:endParaRPr lang="en-US" sz="1200" dirty="0"/>
          </a:p>
        </p:txBody>
      </p:sp>
      <p:sp>
        <p:nvSpPr>
          <p:cNvPr id="4" name="comb 219"/>
          <p:cNvSpPr/>
          <p:nvPr/>
        </p:nvSpPr>
        <p:spPr>
          <a:xfrm>
            <a:off x="848388" y="1451705"/>
            <a:ext cx="1777945" cy="3863150"/>
          </a:xfrm>
          <a:custGeom>
            <a:avLst/>
            <a:gdLst/>
            <a:ahLst/>
            <a:cxnLst/>
            <a:rect l="l" t="t" r="r" b="b"/>
            <a:pathLst>
              <a:path w="1777945" h="3863150">
                <a:moveTo>
                  <a:pt x="1753588" y="896604"/>
                </a:moveTo>
                <a:lnTo>
                  <a:pt x="1729374" y="901775"/>
                </a:lnTo>
                <a:lnTo>
                  <a:pt x="1705266" y="907481"/>
                </a:lnTo>
                <a:lnTo>
                  <a:pt x="1681302" y="913793"/>
                </a:lnTo>
                <a:lnTo>
                  <a:pt x="1657516" y="920640"/>
                </a:lnTo>
                <a:lnTo>
                  <a:pt x="1633872" y="928022"/>
                </a:lnTo>
                <a:lnTo>
                  <a:pt x="1610407" y="936010"/>
                </a:lnTo>
                <a:lnTo>
                  <a:pt x="1587155" y="944497"/>
                </a:lnTo>
                <a:lnTo>
                  <a:pt x="1564082" y="953556"/>
                </a:lnTo>
                <a:lnTo>
                  <a:pt x="1541259" y="963148"/>
                </a:lnTo>
                <a:lnTo>
                  <a:pt x="1518649" y="973276"/>
                </a:lnTo>
                <a:lnTo>
                  <a:pt x="1496289" y="983904"/>
                </a:lnTo>
                <a:lnTo>
                  <a:pt x="1474179" y="995066"/>
                </a:lnTo>
                <a:lnTo>
                  <a:pt x="1452319" y="1006763"/>
                </a:lnTo>
                <a:lnTo>
                  <a:pt x="1430779" y="1018959"/>
                </a:lnTo>
                <a:lnTo>
                  <a:pt x="1409489" y="1031654"/>
                </a:lnTo>
                <a:lnTo>
                  <a:pt x="1388556" y="1044849"/>
                </a:lnTo>
                <a:lnTo>
                  <a:pt x="1367908" y="1058543"/>
                </a:lnTo>
                <a:lnTo>
                  <a:pt x="1347581" y="1072701"/>
                </a:lnTo>
                <a:lnTo>
                  <a:pt x="1327574" y="1087322"/>
                </a:lnTo>
                <a:lnTo>
                  <a:pt x="1307961" y="1102443"/>
                </a:lnTo>
                <a:lnTo>
                  <a:pt x="1288668" y="1117991"/>
                </a:lnTo>
                <a:lnTo>
                  <a:pt x="1269767" y="1134003"/>
                </a:lnTo>
                <a:lnTo>
                  <a:pt x="1251259" y="1150443"/>
                </a:lnTo>
                <a:lnTo>
                  <a:pt x="1233107" y="1167311"/>
                </a:lnTo>
                <a:lnTo>
                  <a:pt x="1215383" y="1184607"/>
                </a:lnTo>
                <a:lnTo>
                  <a:pt x="1198051" y="1202331"/>
                </a:lnTo>
                <a:lnTo>
                  <a:pt x="1181148" y="1220447"/>
                </a:lnTo>
                <a:lnTo>
                  <a:pt x="1164672" y="1238920"/>
                </a:lnTo>
                <a:lnTo>
                  <a:pt x="1148660" y="1257820"/>
                </a:lnTo>
                <a:lnTo>
                  <a:pt x="1133076" y="1277078"/>
                </a:lnTo>
                <a:lnTo>
                  <a:pt x="1117955" y="1296691"/>
                </a:lnTo>
                <a:lnTo>
                  <a:pt x="1103263" y="1316626"/>
                </a:lnTo>
                <a:lnTo>
                  <a:pt x="1089070" y="1336953"/>
                </a:lnTo>
                <a:lnTo>
                  <a:pt x="1075376" y="1357566"/>
                </a:lnTo>
                <a:lnTo>
                  <a:pt x="1062145" y="1378499"/>
                </a:lnTo>
                <a:lnTo>
                  <a:pt x="1049414" y="1399753"/>
                </a:lnTo>
                <a:lnTo>
                  <a:pt x="1037182" y="1421293"/>
                </a:lnTo>
                <a:lnTo>
                  <a:pt x="1025485" y="1443118"/>
                </a:lnTo>
                <a:lnTo>
                  <a:pt x="1014252" y="1465228"/>
                </a:lnTo>
                <a:lnTo>
                  <a:pt x="1003589" y="1487588"/>
                </a:lnTo>
                <a:lnTo>
                  <a:pt x="993425" y="1510162"/>
                </a:lnTo>
                <a:lnTo>
                  <a:pt x="983797" y="1532985"/>
                </a:lnTo>
                <a:lnTo>
                  <a:pt x="974739" y="1556023"/>
                </a:lnTo>
                <a:lnTo>
                  <a:pt x="966180" y="1579274"/>
                </a:lnTo>
                <a:lnTo>
                  <a:pt x="958192" y="1602739"/>
                </a:lnTo>
                <a:lnTo>
                  <a:pt x="950738" y="1626347"/>
                </a:lnTo>
                <a:lnTo>
                  <a:pt x="943856" y="1650169"/>
                </a:lnTo>
                <a:lnTo>
                  <a:pt x="937543" y="1674098"/>
                </a:lnTo>
                <a:lnTo>
                  <a:pt x="931802" y="1698205"/>
                </a:lnTo>
                <a:lnTo>
                  <a:pt x="926595" y="1722420"/>
                </a:lnTo>
                <a:lnTo>
                  <a:pt x="921959" y="1746741"/>
                </a:lnTo>
                <a:lnTo>
                  <a:pt x="917930" y="1771205"/>
                </a:lnTo>
                <a:lnTo>
                  <a:pt x="914435" y="1795704"/>
                </a:lnTo>
                <a:lnTo>
                  <a:pt x="911546" y="1820311"/>
                </a:lnTo>
                <a:lnTo>
                  <a:pt x="909228" y="1844989"/>
                </a:lnTo>
                <a:lnTo>
                  <a:pt x="907481" y="1869666"/>
                </a:lnTo>
                <a:lnTo>
                  <a:pt x="906304" y="1894416"/>
                </a:lnTo>
                <a:lnTo>
                  <a:pt x="905733" y="1919200"/>
                </a:lnTo>
                <a:lnTo>
                  <a:pt x="905733" y="1943949"/>
                </a:lnTo>
                <a:lnTo>
                  <a:pt x="906304" y="1968734"/>
                </a:lnTo>
                <a:lnTo>
                  <a:pt x="907481" y="1993483"/>
                </a:lnTo>
                <a:lnTo>
                  <a:pt x="909228" y="2018161"/>
                </a:lnTo>
                <a:lnTo>
                  <a:pt x="911546" y="2042839"/>
                </a:lnTo>
                <a:lnTo>
                  <a:pt x="914435" y="2067446"/>
                </a:lnTo>
                <a:lnTo>
                  <a:pt x="917930" y="2091945"/>
                </a:lnTo>
                <a:lnTo>
                  <a:pt x="921959" y="2116409"/>
                </a:lnTo>
                <a:lnTo>
                  <a:pt x="926595" y="2140730"/>
                </a:lnTo>
                <a:lnTo>
                  <a:pt x="931802" y="2164944"/>
                </a:lnTo>
                <a:lnTo>
                  <a:pt x="937543" y="2189052"/>
                </a:lnTo>
                <a:lnTo>
                  <a:pt x="943856" y="2212981"/>
                </a:lnTo>
                <a:lnTo>
                  <a:pt x="950738" y="2236803"/>
                </a:lnTo>
                <a:lnTo>
                  <a:pt x="958192" y="2260411"/>
                </a:lnTo>
                <a:lnTo>
                  <a:pt x="966180" y="2283876"/>
                </a:lnTo>
                <a:lnTo>
                  <a:pt x="974739" y="2307127"/>
                </a:lnTo>
                <a:lnTo>
                  <a:pt x="983797" y="2330165"/>
                </a:lnTo>
                <a:lnTo>
                  <a:pt x="993425" y="2352988"/>
                </a:lnTo>
                <a:lnTo>
                  <a:pt x="1003589" y="2375562"/>
                </a:lnTo>
                <a:lnTo>
                  <a:pt x="1014252" y="2397922"/>
                </a:lnTo>
                <a:lnTo>
                  <a:pt x="1025485" y="2420032"/>
                </a:lnTo>
                <a:lnTo>
                  <a:pt x="1037182" y="2441857"/>
                </a:lnTo>
                <a:lnTo>
                  <a:pt x="1049414" y="2463396"/>
                </a:lnTo>
                <a:lnTo>
                  <a:pt x="1062145" y="2484651"/>
                </a:lnTo>
                <a:lnTo>
                  <a:pt x="1075376" y="2505584"/>
                </a:lnTo>
                <a:lnTo>
                  <a:pt x="1089070" y="2526196"/>
                </a:lnTo>
                <a:lnTo>
                  <a:pt x="1103263" y="2546524"/>
                </a:lnTo>
                <a:lnTo>
                  <a:pt x="1117955" y="2566458"/>
                </a:lnTo>
                <a:lnTo>
                  <a:pt x="1133076" y="2586072"/>
                </a:lnTo>
                <a:lnTo>
                  <a:pt x="1148660" y="2605330"/>
                </a:lnTo>
                <a:lnTo>
                  <a:pt x="1164672" y="2624230"/>
                </a:lnTo>
                <a:lnTo>
                  <a:pt x="1181148" y="2642703"/>
                </a:lnTo>
                <a:lnTo>
                  <a:pt x="1198051" y="2660819"/>
                </a:lnTo>
                <a:lnTo>
                  <a:pt x="1215383" y="2678543"/>
                </a:lnTo>
                <a:lnTo>
                  <a:pt x="1233107" y="2695839"/>
                </a:lnTo>
                <a:lnTo>
                  <a:pt x="1251259" y="2712707"/>
                </a:lnTo>
                <a:lnTo>
                  <a:pt x="1269767" y="2729147"/>
                </a:lnTo>
                <a:lnTo>
                  <a:pt x="1288668" y="2745159"/>
                </a:lnTo>
                <a:lnTo>
                  <a:pt x="1307961" y="2760707"/>
                </a:lnTo>
                <a:lnTo>
                  <a:pt x="1327574" y="2775828"/>
                </a:lnTo>
                <a:lnTo>
                  <a:pt x="1347581" y="2790449"/>
                </a:lnTo>
                <a:lnTo>
                  <a:pt x="1367908" y="2804607"/>
                </a:lnTo>
                <a:lnTo>
                  <a:pt x="1388556" y="2818301"/>
                </a:lnTo>
                <a:lnTo>
                  <a:pt x="1409489" y="2831495"/>
                </a:lnTo>
                <a:lnTo>
                  <a:pt x="1430779" y="2844191"/>
                </a:lnTo>
                <a:lnTo>
                  <a:pt x="1452319" y="2856387"/>
                </a:lnTo>
                <a:lnTo>
                  <a:pt x="1474179" y="2868084"/>
                </a:lnTo>
                <a:lnTo>
                  <a:pt x="1496289" y="2879246"/>
                </a:lnTo>
                <a:lnTo>
                  <a:pt x="1518649" y="2889873"/>
                </a:lnTo>
                <a:lnTo>
                  <a:pt x="1541259" y="2900001"/>
                </a:lnTo>
                <a:lnTo>
                  <a:pt x="1564082" y="2909594"/>
                </a:lnTo>
                <a:lnTo>
                  <a:pt x="1587155" y="2918652"/>
                </a:lnTo>
                <a:lnTo>
                  <a:pt x="1610407" y="2927140"/>
                </a:lnTo>
                <a:lnTo>
                  <a:pt x="1633872" y="2935128"/>
                </a:lnTo>
                <a:lnTo>
                  <a:pt x="1657516" y="2942510"/>
                </a:lnTo>
                <a:lnTo>
                  <a:pt x="1681302" y="2949357"/>
                </a:lnTo>
                <a:lnTo>
                  <a:pt x="1705266" y="2955669"/>
                </a:lnTo>
                <a:lnTo>
                  <a:pt x="1729374" y="2961375"/>
                </a:lnTo>
                <a:lnTo>
                  <a:pt x="1753588" y="2966546"/>
                </a:lnTo>
                <a:lnTo>
                  <a:pt x="1777945" y="2971111"/>
                </a:lnTo>
                <a:lnTo>
                  <a:pt x="1620641" y="3863150"/>
                </a:lnTo>
                <a:lnTo>
                  <a:pt x="1575423" y="3854627"/>
                </a:lnTo>
                <a:lnTo>
                  <a:pt x="1530418" y="3845069"/>
                </a:lnTo>
                <a:lnTo>
                  <a:pt x="1485627" y="3834407"/>
                </a:lnTo>
                <a:lnTo>
                  <a:pt x="1441121" y="3822745"/>
                </a:lnTo>
                <a:lnTo>
                  <a:pt x="1396865" y="3810014"/>
                </a:lnTo>
                <a:lnTo>
                  <a:pt x="1352965" y="3796249"/>
                </a:lnTo>
                <a:lnTo>
                  <a:pt x="1309351" y="3781449"/>
                </a:lnTo>
                <a:lnTo>
                  <a:pt x="1266129" y="3765651"/>
                </a:lnTo>
                <a:lnTo>
                  <a:pt x="1223300" y="3748854"/>
                </a:lnTo>
                <a:lnTo>
                  <a:pt x="1180863" y="3731024"/>
                </a:lnTo>
                <a:lnTo>
                  <a:pt x="1138853" y="3712230"/>
                </a:lnTo>
                <a:lnTo>
                  <a:pt x="1097307" y="3692438"/>
                </a:lnTo>
                <a:lnTo>
                  <a:pt x="1056225" y="3671683"/>
                </a:lnTo>
                <a:lnTo>
                  <a:pt x="1015642" y="3649965"/>
                </a:lnTo>
                <a:lnTo>
                  <a:pt x="975559" y="3627320"/>
                </a:lnTo>
                <a:lnTo>
                  <a:pt x="936046" y="3603712"/>
                </a:lnTo>
                <a:lnTo>
                  <a:pt x="897103" y="3579176"/>
                </a:lnTo>
                <a:lnTo>
                  <a:pt x="858731" y="3553785"/>
                </a:lnTo>
                <a:lnTo>
                  <a:pt x="820966" y="3527467"/>
                </a:lnTo>
                <a:lnTo>
                  <a:pt x="783842" y="3500257"/>
                </a:lnTo>
                <a:lnTo>
                  <a:pt x="747360" y="3472192"/>
                </a:lnTo>
                <a:lnTo>
                  <a:pt x="711556" y="3443306"/>
                </a:lnTo>
                <a:lnTo>
                  <a:pt x="676429" y="3413564"/>
                </a:lnTo>
                <a:lnTo>
                  <a:pt x="641980" y="3383002"/>
                </a:lnTo>
                <a:lnTo>
                  <a:pt x="608316" y="3351655"/>
                </a:lnTo>
                <a:lnTo>
                  <a:pt x="575364" y="3319489"/>
                </a:lnTo>
                <a:lnTo>
                  <a:pt x="543162" y="3286609"/>
                </a:lnTo>
                <a:lnTo>
                  <a:pt x="511780" y="3252944"/>
                </a:lnTo>
                <a:lnTo>
                  <a:pt x="481146" y="3218566"/>
                </a:lnTo>
                <a:lnTo>
                  <a:pt x="451369" y="3183511"/>
                </a:lnTo>
                <a:lnTo>
                  <a:pt x="422412" y="3147707"/>
                </a:lnTo>
                <a:lnTo>
                  <a:pt x="394275" y="3111261"/>
                </a:lnTo>
                <a:lnTo>
                  <a:pt x="367029" y="3074173"/>
                </a:lnTo>
                <a:lnTo>
                  <a:pt x="340675" y="3036478"/>
                </a:lnTo>
                <a:lnTo>
                  <a:pt x="315177" y="2998142"/>
                </a:lnTo>
                <a:lnTo>
                  <a:pt x="290606" y="2959200"/>
                </a:lnTo>
                <a:lnTo>
                  <a:pt x="266963" y="2919722"/>
                </a:lnTo>
                <a:lnTo>
                  <a:pt x="244246" y="2879710"/>
                </a:lnTo>
                <a:lnTo>
                  <a:pt x="222457" y="2839163"/>
                </a:lnTo>
                <a:lnTo>
                  <a:pt x="201666" y="2798116"/>
                </a:lnTo>
                <a:lnTo>
                  <a:pt x="181803" y="2756570"/>
                </a:lnTo>
                <a:lnTo>
                  <a:pt x="162938" y="2714597"/>
                </a:lnTo>
                <a:lnTo>
                  <a:pt x="145071" y="2672195"/>
                </a:lnTo>
                <a:lnTo>
                  <a:pt x="128168" y="2629365"/>
                </a:lnTo>
                <a:lnTo>
                  <a:pt x="112298" y="2586179"/>
                </a:lnTo>
                <a:lnTo>
                  <a:pt x="97463" y="2542601"/>
                </a:lnTo>
                <a:lnTo>
                  <a:pt x="83626" y="2498701"/>
                </a:lnTo>
                <a:lnTo>
                  <a:pt x="70860" y="2454481"/>
                </a:lnTo>
                <a:lnTo>
                  <a:pt x="59091" y="2409975"/>
                </a:lnTo>
                <a:lnTo>
                  <a:pt x="48393" y="2365220"/>
                </a:lnTo>
                <a:lnTo>
                  <a:pt x="38764" y="2320215"/>
                </a:lnTo>
                <a:lnTo>
                  <a:pt x="30170" y="2274996"/>
                </a:lnTo>
                <a:lnTo>
                  <a:pt x="22645" y="2229599"/>
                </a:lnTo>
                <a:lnTo>
                  <a:pt x="16155" y="2184023"/>
                </a:lnTo>
                <a:lnTo>
                  <a:pt x="10770" y="2138305"/>
                </a:lnTo>
                <a:lnTo>
                  <a:pt x="6455" y="2092480"/>
                </a:lnTo>
                <a:lnTo>
                  <a:pt x="3245" y="2046584"/>
                </a:lnTo>
                <a:lnTo>
                  <a:pt x="1070" y="2000616"/>
                </a:lnTo>
                <a:lnTo>
                  <a:pt x="0" y="1954577"/>
                </a:lnTo>
                <a:lnTo>
                  <a:pt x="0" y="1908573"/>
                </a:lnTo>
                <a:lnTo>
                  <a:pt x="1070" y="1862534"/>
                </a:lnTo>
                <a:lnTo>
                  <a:pt x="3245" y="1816566"/>
                </a:lnTo>
                <a:lnTo>
                  <a:pt x="6455" y="1770670"/>
                </a:lnTo>
                <a:lnTo>
                  <a:pt x="10770" y="1724845"/>
                </a:lnTo>
                <a:lnTo>
                  <a:pt x="16155" y="1679126"/>
                </a:lnTo>
                <a:lnTo>
                  <a:pt x="22645" y="1633551"/>
                </a:lnTo>
                <a:lnTo>
                  <a:pt x="30170" y="1588154"/>
                </a:lnTo>
                <a:lnTo>
                  <a:pt x="38764" y="1542935"/>
                </a:lnTo>
                <a:lnTo>
                  <a:pt x="48393" y="1497930"/>
                </a:lnTo>
                <a:lnTo>
                  <a:pt x="59091" y="1453175"/>
                </a:lnTo>
                <a:lnTo>
                  <a:pt x="70860" y="1408669"/>
                </a:lnTo>
                <a:lnTo>
                  <a:pt x="83626" y="1364448"/>
                </a:lnTo>
                <a:lnTo>
                  <a:pt x="97463" y="1320549"/>
                </a:lnTo>
                <a:lnTo>
                  <a:pt x="112298" y="1276971"/>
                </a:lnTo>
                <a:lnTo>
                  <a:pt x="128168" y="1233784"/>
                </a:lnTo>
                <a:lnTo>
                  <a:pt x="145071" y="1190955"/>
                </a:lnTo>
                <a:lnTo>
                  <a:pt x="162938" y="1148553"/>
                </a:lnTo>
                <a:lnTo>
                  <a:pt x="181803" y="1106579"/>
                </a:lnTo>
                <a:lnTo>
                  <a:pt x="201666" y="1065034"/>
                </a:lnTo>
                <a:lnTo>
                  <a:pt x="222457" y="1023987"/>
                </a:lnTo>
                <a:lnTo>
                  <a:pt x="244246" y="983440"/>
                </a:lnTo>
                <a:lnTo>
                  <a:pt x="266963" y="943428"/>
                </a:lnTo>
                <a:lnTo>
                  <a:pt x="290606" y="903950"/>
                </a:lnTo>
                <a:lnTo>
                  <a:pt x="315177" y="865008"/>
                </a:lnTo>
                <a:lnTo>
                  <a:pt x="340675" y="826672"/>
                </a:lnTo>
                <a:lnTo>
                  <a:pt x="367029" y="788977"/>
                </a:lnTo>
                <a:lnTo>
                  <a:pt x="394275" y="751889"/>
                </a:lnTo>
                <a:lnTo>
                  <a:pt x="422412" y="715443"/>
                </a:lnTo>
                <a:lnTo>
                  <a:pt x="451369" y="679639"/>
                </a:lnTo>
                <a:lnTo>
                  <a:pt x="481146" y="644583"/>
                </a:lnTo>
                <a:lnTo>
                  <a:pt x="511780" y="610206"/>
                </a:lnTo>
                <a:lnTo>
                  <a:pt x="543162" y="576541"/>
                </a:lnTo>
                <a:lnTo>
                  <a:pt x="575364" y="543661"/>
                </a:lnTo>
                <a:lnTo>
                  <a:pt x="608316" y="511494"/>
                </a:lnTo>
                <a:lnTo>
                  <a:pt x="641980" y="480148"/>
                </a:lnTo>
                <a:lnTo>
                  <a:pt x="676429" y="449586"/>
                </a:lnTo>
                <a:lnTo>
                  <a:pt x="711556" y="419844"/>
                </a:lnTo>
                <a:lnTo>
                  <a:pt x="747360" y="390958"/>
                </a:lnTo>
                <a:lnTo>
                  <a:pt x="783842" y="362892"/>
                </a:lnTo>
                <a:lnTo>
                  <a:pt x="820966" y="335683"/>
                </a:lnTo>
                <a:lnTo>
                  <a:pt x="858731" y="309364"/>
                </a:lnTo>
                <a:lnTo>
                  <a:pt x="897103" y="283973"/>
                </a:lnTo>
                <a:lnTo>
                  <a:pt x="936046" y="259438"/>
                </a:lnTo>
                <a:lnTo>
                  <a:pt x="975559" y="235830"/>
                </a:lnTo>
                <a:lnTo>
                  <a:pt x="1015642" y="213185"/>
                </a:lnTo>
                <a:lnTo>
                  <a:pt x="1056225" y="191467"/>
                </a:lnTo>
                <a:lnTo>
                  <a:pt x="1097307" y="170712"/>
                </a:lnTo>
                <a:lnTo>
                  <a:pt x="1138853" y="150920"/>
                </a:lnTo>
                <a:lnTo>
                  <a:pt x="1180863" y="132126"/>
                </a:lnTo>
                <a:lnTo>
                  <a:pt x="1223300" y="114295"/>
                </a:lnTo>
                <a:lnTo>
                  <a:pt x="1266129" y="97499"/>
                </a:lnTo>
                <a:lnTo>
                  <a:pt x="1309351" y="81701"/>
                </a:lnTo>
                <a:lnTo>
                  <a:pt x="1352965" y="66901"/>
                </a:lnTo>
                <a:lnTo>
                  <a:pt x="1396865" y="53136"/>
                </a:lnTo>
                <a:lnTo>
                  <a:pt x="1441121" y="40405"/>
                </a:lnTo>
                <a:lnTo>
                  <a:pt x="1485627" y="28743"/>
                </a:lnTo>
                <a:lnTo>
                  <a:pt x="1530418" y="18080"/>
                </a:lnTo>
                <a:lnTo>
                  <a:pt x="1575423" y="8523"/>
                </a:lnTo>
                <a:lnTo>
                  <a:pt x="1620641" y="0"/>
                </a:lnTo>
                <a:lnTo>
                  <a:pt x="1777945" y="892039"/>
                </a:lnTo>
                <a:close/>
              </a:path>
            </a:pathLst>
          </a:custGeom>
          <a:solidFill>
            <a:schemeClr val="accent6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hole 220"/>
          <p:cNvSpPr/>
          <p:nvPr/>
        </p:nvSpPr>
        <p:spPr>
          <a:xfrm>
            <a:off x="1299685" y="2280588"/>
            <a:ext cx="303124" cy="3031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hole 221"/>
          <p:cNvSpPr/>
          <p:nvPr/>
        </p:nvSpPr>
        <p:spPr>
          <a:xfrm>
            <a:off x="1299685" y="4182849"/>
            <a:ext cx="303124" cy="3031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hole 222"/>
          <p:cNvSpPr/>
          <p:nvPr/>
        </p:nvSpPr>
        <p:spPr>
          <a:xfrm>
            <a:off x="2763913" y="333756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line 223"/>
          <p:cNvSpPr/>
          <p:nvPr/>
        </p:nvSpPr>
        <p:spPr>
          <a:xfrm>
            <a:off x="2581033" y="3383280"/>
            <a:ext cx="105156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9" name="hole 224"/>
          <p:cNvSpPr/>
          <p:nvPr/>
        </p:nvSpPr>
        <p:spPr>
          <a:xfrm>
            <a:off x="1754050" y="2327697"/>
            <a:ext cx="2111167" cy="2111167"/>
          </a:xfrm>
          <a:prstGeom prst="ellipse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10" name="line 225"/>
          <p:cNvSpPr/>
          <p:nvPr/>
        </p:nvSpPr>
        <p:spPr>
          <a:xfrm>
            <a:off x="2743200" y="1371600"/>
            <a:ext cx="805341" cy="1272772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text 226"/>
          <p:cNvSpPr txBox="1"/>
          <p:nvPr/>
        </p:nvSpPr>
        <p:spPr>
          <a:xfrm>
            <a:off x="2788920" y="1271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R29.6 edge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(spacer R29 + 0.6)</a:t>
            </a:r>
            <a:endParaRPr lang="en-US" sz="1000" dirty="0"/>
          </a:p>
        </p:txBody>
      </p:sp>
      <p:sp>
        <p:nvSpPr>
          <p:cNvPr id="12" name="line 227"/>
          <p:cNvSpPr/>
          <p:nvPr/>
        </p:nvSpPr>
        <p:spPr>
          <a:xfrm>
            <a:off x="411480" y="1783080"/>
            <a:ext cx="1039782" cy="649059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text 228"/>
          <p:cNvSpPr txBox="1"/>
          <p:nvPr/>
        </p:nvSpPr>
        <p:spPr>
          <a:xfrm>
            <a:off x="457200" y="16824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2× Ø8.5 rod holes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on R46.5</a:t>
            </a:r>
            <a:endParaRPr lang="en-US" sz="1000" dirty="0"/>
          </a:p>
        </p:txBody>
      </p:sp>
      <p:sp>
        <p:nvSpPr>
          <p:cNvPr id="14" name="line 229"/>
          <p:cNvSpPr/>
          <p:nvPr/>
        </p:nvSpPr>
        <p:spPr>
          <a:xfrm>
            <a:off x="619788" y="1451705"/>
            <a:ext cx="0" cy="386315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5" name="text 230"/>
          <p:cNvSpPr txBox="1"/>
          <p:nvPr/>
        </p:nvSpPr>
        <p:spPr>
          <a:xfrm>
            <a:off x="62004" y="3291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108.3</a:t>
            </a:r>
            <a:endParaRPr lang="en-US" sz="1000" dirty="0"/>
          </a:p>
        </p:txBody>
      </p:sp>
      <p:sp>
        <p:nvSpPr>
          <p:cNvPr id="16" name="text 231"/>
          <p:cNvSpPr txBox="1"/>
          <p:nvPr/>
        </p:nvSpPr>
        <p:spPr>
          <a:xfrm>
            <a:off x="502920" y="5577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R55 outer, sector 100°–260°</a:t>
            </a:r>
            <a:endParaRPr lang="en-US" sz="1000" dirty="0"/>
          </a:p>
        </p:txBody>
      </p:sp>
      <p:sp>
        <p:nvSpPr>
          <p:cNvPr id="17" name="text 232"/>
          <p:cNvSpPr txBox="1"/>
          <p:nvPr/>
        </p:nvSpPr>
        <p:spPr>
          <a:xfrm>
            <a:off x="3566160" y="868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WALL (×26, 3.2 mm)</a:t>
            </a:r>
            <a:endParaRPr lang="en-US" sz="1200" dirty="0"/>
          </a:p>
        </p:txBody>
      </p:sp>
      <p:sp>
        <p:nvSpPr>
          <p:cNvPr id="18" name="wall 233"/>
          <p:cNvSpPr/>
          <p:nvPr/>
        </p:nvSpPr>
        <p:spPr>
          <a:xfrm>
            <a:off x="3759399" y="1451705"/>
            <a:ext cx="1716642" cy="3863150"/>
          </a:xfrm>
          <a:custGeom>
            <a:avLst/>
            <a:gdLst/>
            <a:ahLst/>
            <a:cxnLst/>
            <a:rect l="l" t="t" r="r" b="b"/>
            <a:pathLst>
              <a:path w="1716642" h="3863150">
                <a:moveTo>
                  <a:pt x="1684155" y="550472"/>
                </a:moveTo>
                <a:lnTo>
                  <a:pt x="1651810" y="557355"/>
                </a:lnTo>
                <a:lnTo>
                  <a:pt x="1619679" y="564987"/>
                </a:lnTo>
                <a:lnTo>
                  <a:pt x="1587690" y="573367"/>
                </a:lnTo>
                <a:lnTo>
                  <a:pt x="1555916" y="582532"/>
                </a:lnTo>
                <a:lnTo>
                  <a:pt x="1524391" y="592410"/>
                </a:lnTo>
                <a:lnTo>
                  <a:pt x="1493080" y="603002"/>
                </a:lnTo>
                <a:lnTo>
                  <a:pt x="1462019" y="614378"/>
                </a:lnTo>
                <a:lnTo>
                  <a:pt x="1431278" y="626432"/>
                </a:lnTo>
                <a:lnTo>
                  <a:pt x="1400788" y="639234"/>
                </a:lnTo>
                <a:lnTo>
                  <a:pt x="1370618" y="652750"/>
                </a:lnTo>
                <a:lnTo>
                  <a:pt x="1340769" y="666943"/>
                </a:lnTo>
                <a:lnTo>
                  <a:pt x="1311277" y="681850"/>
                </a:lnTo>
                <a:lnTo>
                  <a:pt x="1282142" y="697470"/>
                </a:lnTo>
                <a:lnTo>
                  <a:pt x="1253363" y="713731"/>
                </a:lnTo>
                <a:lnTo>
                  <a:pt x="1224976" y="730671"/>
                </a:lnTo>
                <a:lnTo>
                  <a:pt x="1196982" y="748287"/>
                </a:lnTo>
                <a:lnTo>
                  <a:pt x="1169451" y="766546"/>
                </a:lnTo>
                <a:lnTo>
                  <a:pt x="1142312" y="785447"/>
                </a:lnTo>
                <a:lnTo>
                  <a:pt x="1115637" y="804989"/>
                </a:lnTo>
                <a:lnTo>
                  <a:pt x="1089462" y="825138"/>
                </a:lnTo>
                <a:lnTo>
                  <a:pt x="1063714" y="845893"/>
                </a:lnTo>
                <a:lnTo>
                  <a:pt x="1038501" y="867254"/>
                </a:lnTo>
                <a:lnTo>
                  <a:pt x="1013788" y="889186"/>
                </a:lnTo>
                <a:lnTo>
                  <a:pt x="989574" y="911724"/>
                </a:lnTo>
                <a:lnTo>
                  <a:pt x="965930" y="934798"/>
                </a:lnTo>
                <a:lnTo>
                  <a:pt x="942821" y="958406"/>
                </a:lnTo>
                <a:lnTo>
                  <a:pt x="920248" y="982584"/>
                </a:lnTo>
                <a:lnTo>
                  <a:pt x="898280" y="1007262"/>
                </a:lnTo>
                <a:lnTo>
                  <a:pt x="876883" y="1032475"/>
                </a:lnTo>
                <a:lnTo>
                  <a:pt x="856092" y="1058151"/>
                </a:lnTo>
                <a:lnTo>
                  <a:pt x="835872" y="1084327"/>
                </a:lnTo>
                <a:lnTo>
                  <a:pt x="816330" y="1110966"/>
                </a:lnTo>
                <a:lnTo>
                  <a:pt x="797393" y="1138069"/>
                </a:lnTo>
                <a:lnTo>
                  <a:pt x="779063" y="1165599"/>
                </a:lnTo>
                <a:lnTo>
                  <a:pt x="761446" y="1193558"/>
                </a:lnTo>
                <a:lnTo>
                  <a:pt x="744436" y="1221909"/>
                </a:lnTo>
                <a:lnTo>
                  <a:pt x="728139" y="1250652"/>
                </a:lnTo>
                <a:lnTo>
                  <a:pt x="712483" y="1279752"/>
                </a:lnTo>
                <a:lnTo>
                  <a:pt x="697541" y="1309244"/>
                </a:lnTo>
                <a:lnTo>
                  <a:pt x="683276" y="1339057"/>
                </a:lnTo>
                <a:lnTo>
                  <a:pt x="669725" y="1369227"/>
                </a:lnTo>
                <a:lnTo>
                  <a:pt x="656887" y="1399682"/>
                </a:lnTo>
                <a:lnTo>
                  <a:pt x="644762" y="1430422"/>
                </a:lnTo>
                <a:lnTo>
                  <a:pt x="633386" y="1461448"/>
                </a:lnTo>
                <a:lnTo>
                  <a:pt x="622723" y="1492759"/>
                </a:lnTo>
                <a:lnTo>
                  <a:pt x="612773" y="1524284"/>
                </a:lnTo>
                <a:lnTo>
                  <a:pt x="603608" y="1556023"/>
                </a:lnTo>
                <a:lnTo>
                  <a:pt x="595156" y="1587975"/>
                </a:lnTo>
                <a:lnTo>
                  <a:pt x="587454" y="1620142"/>
                </a:lnTo>
                <a:lnTo>
                  <a:pt x="580535" y="1652452"/>
                </a:lnTo>
                <a:lnTo>
                  <a:pt x="574366" y="1684939"/>
                </a:lnTo>
                <a:lnTo>
                  <a:pt x="568981" y="1717534"/>
                </a:lnTo>
                <a:lnTo>
                  <a:pt x="564345" y="1750271"/>
                </a:lnTo>
                <a:lnTo>
                  <a:pt x="560458" y="1783116"/>
                </a:lnTo>
                <a:lnTo>
                  <a:pt x="557355" y="1815996"/>
                </a:lnTo>
                <a:lnTo>
                  <a:pt x="555037" y="1848983"/>
                </a:lnTo>
                <a:lnTo>
                  <a:pt x="553468" y="1882005"/>
                </a:lnTo>
                <a:lnTo>
                  <a:pt x="552719" y="1915064"/>
                </a:lnTo>
                <a:lnTo>
                  <a:pt x="552719" y="1948086"/>
                </a:lnTo>
                <a:lnTo>
                  <a:pt x="553468" y="1981145"/>
                </a:lnTo>
                <a:lnTo>
                  <a:pt x="555037" y="2014167"/>
                </a:lnTo>
                <a:lnTo>
                  <a:pt x="557355" y="2047154"/>
                </a:lnTo>
                <a:lnTo>
                  <a:pt x="560458" y="2080034"/>
                </a:lnTo>
                <a:lnTo>
                  <a:pt x="564345" y="2112878"/>
                </a:lnTo>
                <a:lnTo>
                  <a:pt x="568981" y="2145616"/>
                </a:lnTo>
                <a:lnTo>
                  <a:pt x="574366" y="2178211"/>
                </a:lnTo>
                <a:lnTo>
                  <a:pt x="580535" y="2210698"/>
                </a:lnTo>
                <a:lnTo>
                  <a:pt x="587454" y="2243008"/>
                </a:lnTo>
                <a:lnTo>
                  <a:pt x="595156" y="2275174"/>
                </a:lnTo>
                <a:lnTo>
                  <a:pt x="603608" y="2307127"/>
                </a:lnTo>
                <a:lnTo>
                  <a:pt x="612773" y="2338866"/>
                </a:lnTo>
                <a:lnTo>
                  <a:pt x="622723" y="2370391"/>
                </a:lnTo>
                <a:lnTo>
                  <a:pt x="633386" y="2401702"/>
                </a:lnTo>
                <a:lnTo>
                  <a:pt x="644762" y="2432727"/>
                </a:lnTo>
                <a:lnTo>
                  <a:pt x="656887" y="2463468"/>
                </a:lnTo>
                <a:lnTo>
                  <a:pt x="669725" y="2493923"/>
                </a:lnTo>
                <a:lnTo>
                  <a:pt x="683276" y="2524092"/>
                </a:lnTo>
                <a:lnTo>
                  <a:pt x="697541" y="2553905"/>
                </a:lnTo>
                <a:lnTo>
                  <a:pt x="712483" y="2583398"/>
                </a:lnTo>
                <a:lnTo>
                  <a:pt x="728139" y="2612497"/>
                </a:lnTo>
                <a:lnTo>
                  <a:pt x="744436" y="2641241"/>
                </a:lnTo>
                <a:lnTo>
                  <a:pt x="761446" y="2669592"/>
                </a:lnTo>
                <a:lnTo>
                  <a:pt x="779063" y="2697550"/>
                </a:lnTo>
                <a:lnTo>
                  <a:pt x="797393" y="2725081"/>
                </a:lnTo>
                <a:lnTo>
                  <a:pt x="816330" y="2752184"/>
                </a:lnTo>
                <a:lnTo>
                  <a:pt x="835872" y="2778823"/>
                </a:lnTo>
                <a:lnTo>
                  <a:pt x="856092" y="2804999"/>
                </a:lnTo>
                <a:lnTo>
                  <a:pt x="876883" y="2830675"/>
                </a:lnTo>
                <a:lnTo>
                  <a:pt x="898280" y="2855888"/>
                </a:lnTo>
                <a:lnTo>
                  <a:pt x="920248" y="2880566"/>
                </a:lnTo>
                <a:lnTo>
                  <a:pt x="942821" y="2904744"/>
                </a:lnTo>
                <a:lnTo>
                  <a:pt x="965930" y="2928352"/>
                </a:lnTo>
                <a:lnTo>
                  <a:pt x="989574" y="2951425"/>
                </a:lnTo>
                <a:lnTo>
                  <a:pt x="1013788" y="2973963"/>
                </a:lnTo>
                <a:lnTo>
                  <a:pt x="1038501" y="2995895"/>
                </a:lnTo>
                <a:lnTo>
                  <a:pt x="1063714" y="3017257"/>
                </a:lnTo>
                <a:lnTo>
                  <a:pt x="1089462" y="3038012"/>
                </a:lnTo>
                <a:lnTo>
                  <a:pt x="1115637" y="3058161"/>
                </a:lnTo>
                <a:lnTo>
                  <a:pt x="1142312" y="3077703"/>
                </a:lnTo>
                <a:lnTo>
                  <a:pt x="1169451" y="3096604"/>
                </a:lnTo>
                <a:lnTo>
                  <a:pt x="1196982" y="3114862"/>
                </a:lnTo>
                <a:lnTo>
                  <a:pt x="1224976" y="3132479"/>
                </a:lnTo>
                <a:lnTo>
                  <a:pt x="1253363" y="3149419"/>
                </a:lnTo>
                <a:lnTo>
                  <a:pt x="1282142" y="3165680"/>
                </a:lnTo>
                <a:lnTo>
                  <a:pt x="1311277" y="3181300"/>
                </a:lnTo>
                <a:lnTo>
                  <a:pt x="1340769" y="3196207"/>
                </a:lnTo>
                <a:lnTo>
                  <a:pt x="1370618" y="3210400"/>
                </a:lnTo>
                <a:lnTo>
                  <a:pt x="1400788" y="3223916"/>
                </a:lnTo>
                <a:lnTo>
                  <a:pt x="1431278" y="3236718"/>
                </a:lnTo>
                <a:lnTo>
                  <a:pt x="1462019" y="3248772"/>
                </a:lnTo>
                <a:lnTo>
                  <a:pt x="1493080" y="3260148"/>
                </a:lnTo>
                <a:lnTo>
                  <a:pt x="1524391" y="3270739"/>
                </a:lnTo>
                <a:lnTo>
                  <a:pt x="1555916" y="3280618"/>
                </a:lnTo>
                <a:lnTo>
                  <a:pt x="1587690" y="3289783"/>
                </a:lnTo>
                <a:lnTo>
                  <a:pt x="1619679" y="3298163"/>
                </a:lnTo>
                <a:lnTo>
                  <a:pt x="1651810" y="3305795"/>
                </a:lnTo>
                <a:lnTo>
                  <a:pt x="1684155" y="3312677"/>
                </a:lnTo>
                <a:lnTo>
                  <a:pt x="1716642" y="3318811"/>
                </a:lnTo>
                <a:lnTo>
                  <a:pt x="1620641" y="3863150"/>
                </a:lnTo>
                <a:lnTo>
                  <a:pt x="1575423" y="3854627"/>
                </a:lnTo>
                <a:lnTo>
                  <a:pt x="1530418" y="3845069"/>
                </a:lnTo>
                <a:lnTo>
                  <a:pt x="1485627" y="3834407"/>
                </a:lnTo>
                <a:lnTo>
                  <a:pt x="1441121" y="3822745"/>
                </a:lnTo>
                <a:lnTo>
                  <a:pt x="1396865" y="3810014"/>
                </a:lnTo>
                <a:lnTo>
                  <a:pt x="1352965" y="3796249"/>
                </a:lnTo>
                <a:lnTo>
                  <a:pt x="1309351" y="3781449"/>
                </a:lnTo>
                <a:lnTo>
                  <a:pt x="1266129" y="3765651"/>
                </a:lnTo>
                <a:lnTo>
                  <a:pt x="1223300" y="3748854"/>
                </a:lnTo>
                <a:lnTo>
                  <a:pt x="1180863" y="3731024"/>
                </a:lnTo>
                <a:lnTo>
                  <a:pt x="1138853" y="3712230"/>
                </a:lnTo>
                <a:lnTo>
                  <a:pt x="1097307" y="3692438"/>
                </a:lnTo>
                <a:lnTo>
                  <a:pt x="1056225" y="3671683"/>
                </a:lnTo>
                <a:lnTo>
                  <a:pt x="1015642" y="3649965"/>
                </a:lnTo>
                <a:lnTo>
                  <a:pt x="975559" y="3627320"/>
                </a:lnTo>
                <a:lnTo>
                  <a:pt x="936046" y="3603712"/>
                </a:lnTo>
                <a:lnTo>
                  <a:pt x="897103" y="3579176"/>
                </a:lnTo>
                <a:lnTo>
                  <a:pt x="858731" y="3553785"/>
                </a:lnTo>
                <a:lnTo>
                  <a:pt x="820966" y="3527467"/>
                </a:lnTo>
                <a:lnTo>
                  <a:pt x="783842" y="3500257"/>
                </a:lnTo>
                <a:lnTo>
                  <a:pt x="747360" y="3472192"/>
                </a:lnTo>
                <a:lnTo>
                  <a:pt x="711556" y="3443306"/>
                </a:lnTo>
                <a:lnTo>
                  <a:pt x="676429" y="3413564"/>
                </a:lnTo>
                <a:lnTo>
                  <a:pt x="641980" y="3383002"/>
                </a:lnTo>
                <a:lnTo>
                  <a:pt x="608316" y="3351655"/>
                </a:lnTo>
                <a:lnTo>
                  <a:pt x="575364" y="3319489"/>
                </a:lnTo>
                <a:lnTo>
                  <a:pt x="543162" y="3286609"/>
                </a:lnTo>
                <a:lnTo>
                  <a:pt x="511780" y="3252944"/>
                </a:lnTo>
                <a:lnTo>
                  <a:pt x="481146" y="3218566"/>
                </a:lnTo>
                <a:lnTo>
                  <a:pt x="451369" y="3183511"/>
                </a:lnTo>
                <a:lnTo>
                  <a:pt x="422412" y="3147707"/>
                </a:lnTo>
                <a:lnTo>
                  <a:pt x="394275" y="3111261"/>
                </a:lnTo>
                <a:lnTo>
                  <a:pt x="367029" y="3074173"/>
                </a:lnTo>
                <a:lnTo>
                  <a:pt x="340675" y="3036478"/>
                </a:lnTo>
                <a:lnTo>
                  <a:pt x="315177" y="2998142"/>
                </a:lnTo>
                <a:lnTo>
                  <a:pt x="290606" y="2959200"/>
                </a:lnTo>
                <a:lnTo>
                  <a:pt x="266963" y="2919722"/>
                </a:lnTo>
                <a:lnTo>
                  <a:pt x="244246" y="2879710"/>
                </a:lnTo>
                <a:lnTo>
                  <a:pt x="222457" y="2839163"/>
                </a:lnTo>
                <a:lnTo>
                  <a:pt x="201666" y="2798116"/>
                </a:lnTo>
                <a:lnTo>
                  <a:pt x="181803" y="2756570"/>
                </a:lnTo>
                <a:lnTo>
                  <a:pt x="162938" y="2714597"/>
                </a:lnTo>
                <a:lnTo>
                  <a:pt x="145071" y="2672195"/>
                </a:lnTo>
                <a:lnTo>
                  <a:pt x="128168" y="2629365"/>
                </a:lnTo>
                <a:lnTo>
                  <a:pt x="112298" y="2586179"/>
                </a:lnTo>
                <a:lnTo>
                  <a:pt x="97463" y="2542601"/>
                </a:lnTo>
                <a:lnTo>
                  <a:pt x="83626" y="2498701"/>
                </a:lnTo>
                <a:lnTo>
                  <a:pt x="70860" y="2454481"/>
                </a:lnTo>
                <a:lnTo>
                  <a:pt x="59091" y="2409975"/>
                </a:lnTo>
                <a:lnTo>
                  <a:pt x="48393" y="2365220"/>
                </a:lnTo>
                <a:lnTo>
                  <a:pt x="38764" y="2320215"/>
                </a:lnTo>
                <a:lnTo>
                  <a:pt x="30170" y="2274996"/>
                </a:lnTo>
                <a:lnTo>
                  <a:pt x="22645" y="2229599"/>
                </a:lnTo>
                <a:lnTo>
                  <a:pt x="16155" y="2184023"/>
                </a:lnTo>
                <a:lnTo>
                  <a:pt x="10770" y="2138305"/>
                </a:lnTo>
                <a:lnTo>
                  <a:pt x="6455" y="2092480"/>
                </a:lnTo>
                <a:lnTo>
                  <a:pt x="3245" y="2046584"/>
                </a:lnTo>
                <a:lnTo>
                  <a:pt x="1070" y="2000616"/>
                </a:lnTo>
                <a:lnTo>
                  <a:pt x="0" y="1954577"/>
                </a:lnTo>
                <a:lnTo>
                  <a:pt x="0" y="1908573"/>
                </a:lnTo>
                <a:lnTo>
                  <a:pt x="1070" y="1862534"/>
                </a:lnTo>
                <a:lnTo>
                  <a:pt x="3245" y="1816566"/>
                </a:lnTo>
                <a:lnTo>
                  <a:pt x="6455" y="1770670"/>
                </a:lnTo>
                <a:lnTo>
                  <a:pt x="10770" y="1724845"/>
                </a:lnTo>
                <a:lnTo>
                  <a:pt x="16155" y="1679126"/>
                </a:lnTo>
                <a:lnTo>
                  <a:pt x="22645" y="1633551"/>
                </a:lnTo>
                <a:lnTo>
                  <a:pt x="30170" y="1588154"/>
                </a:lnTo>
                <a:lnTo>
                  <a:pt x="38764" y="1542935"/>
                </a:lnTo>
                <a:lnTo>
                  <a:pt x="48393" y="1497930"/>
                </a:lnTo>
                <a:lnTo>
                  <a:pt x="59091" y="1453175"/>
                </a:lnTo>
                <a:lnTo>
                  <a:pt x="70860" y="1408669"/>
                </a:lnTo>
                <a:lnTo>
                  <a:pt x="83626" y="1364448"/>
                </a:lnTo>
                <a:lnTo>
                  <a:pt x="97463" y="1320549"/>
                </a:lnTo>
                <a:lnTo>
                  <a:pt x="112298" y="1276971"/>
                </a:lnTo>
                <a:lnTo>
                  <a:pt x="128168" y="1233784"/>
                </a:lnTo>
                <a:lnTo>
                  <a:pt x="145071" y="1190955"/>
                </a:lnTo>
                <a:lnTo>
                  <a:pt x="162938" y="1148553"/>
                </a:lnTo>
                <a:lnTo>
                  <a:pt x="181803" y="1106579"/>
                </a:lnTo>
                <a:lnTo>
                  <a:pt x="201666" y="1065034"/>
                </a:lnTo>
                <a:lnTo>
                  <a:pt x="222457" y="1023987"/>
                </a:lnTo>
                <a:lnTo>
                  <a:pt x="244246" y="983440"/>
                </a:lnTo>
                <a:lnTo>
                  <a:pt x="266963" y="943428"/>
                </a:lnTo>
                <a:lnTo>
                  <a:pt x="290606" y="903950"/>
                </a:lnTo>
                <a:lnTo>
                  <a:pt x="315177" y="865008"/>
                </a:lnTo>
                <a:lnTo>
                  <a:pt x="340675" y="826672"/>
                </a:lnTo>
                <a:lnTo>
                  <a:pt x="367029" y="788977"/>
                </a:lnTo>
                <a:lnTo>
                  <a:pt x="394275" y="751889"/>
                </a:lnTo>
                <a:lnTo>
                  <a:pt x="422412" y="715443"/>
                </a:lnTo>
                <a:lnTo>
                  <a:pt x="451369" y="679639"/>
                </a:lnTo>
                <a:lnTo>
                  <a:pt x="481146" y="644583"/>
                </a:lnTo>
                <a:lnTo>
                  <a:pt x="511780" y="610206"/>
                </a:lnTo>
                <a:lnTo>
                  <a:pt x="543162" y="576541"/>
                </a:lnTo>
                <a:lnTo>
                  <a:pt x="575364" y="543661"/>
                </a:lnTo>
                <a:lnTo>
                  <a:pt x="608316" y="511494"/>
                </a:lnTo>
                <a:lnTo>
                  <a:pt x="641980" y="480148"/>
                </a:lnTo>
                <a:lnTo>
                  <a:pt x="676429" y="449586"/>
                </a:lnTo>
                <a:lnTo>
                  <a:pt x="711556" y="419844"/>
                </a:lnTo>
                <a:lnTo>
                  <a:pt x="747360" y="390958"/>
                </a:lnTo>
                <a:lnTo>
                  <a:pt x="783842" y="362892"/>
                </a:lnTo>
                <a:lnTo>
                  <a:pt x="820966" y="335683"/>
                </a:lnTo>
                <a:lnTo>
                  <a:pt x="858731" y="309364"/>
                </a:lnTo>
                <a:lnTo>
                  <a:pt x="897103" y="283973"/>
                </a:lnTo>
                <a:lnTo>
                  <a:pt x="936046" y="259438"/>
                </a:lnTo>
                <a:lnTo>
                  <a:pt x="975559" y="235830"/>
                </a:lnTo>
                <a:lnTo>
                  <a:pt x="1015642" y="213185"/>
                </a:lnTo>
                <a:lnTo>
                  <a:pt x="1056225" y="191467"/>
                </a:lnTo>
                <a:lnTo>
                  <a:pt x="1097307" y="170712"/>
                </a:lnTo>
                <a:lnTo>
                  <a:pt x="1138853" y="150920"/>
                </a:lnTo>
                <a:lnTo>
                  <a:pt x="1180863" y="132126"/>
                </a:lnTo>
                <a:lnTo>
                  <a:pt x="1223300" y="114295"/>
                </a:lnTo>
                <a:lnTo>
                  <a:pt x="1266129" y="97499"/>
                </a:lnTo>
                <a:lnTo>
                  <a:pt x="1309351" y="81701"/>
                </a:lnTo>
                <a:lnTo>
                  <a:pt x="1352965" y="66901"/>
                </a:lnTo>
                <a:lnTo>
                  <a:pt x="1396865" y="53136"/>
                </a:lnTo>
                <a:lnTo>
                  <a:pt x="1441121" y="40405"/>
                </a:lnTo>
                <a:lnTo>
                  <a:pt x="1485627" y="28743"/>
                </a:lnTo>
                <a:lnTo>
                  <a:pt x="1530418" y="18080"/>
                </a:lnTo>
                <a:lnTo>
                  <a:pt x="1575423" y="8523"/>
                </a:lnTo>
                <a:lnTo>
                  <a:pt x="1620641" y="0"/>
                </a:lnTo>
                <a:lnTo>
                  <a:pt x="1716642" y="544339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" name="hole 234"/>
          <p:cNvSpPr/>
          <p:nvPr/>
        </p:nvSpPr>
        <p:spPr>
          <a:xfrm>
            <a:off x="4210696" y="2280588"/>
            <a:ext cx="303124" cy="3031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hole 235"/>
          <p:cNvSpPr/>
          <p:nvPr/>
        </p:nvSpPr>
        <p:spPr>
          <a:xfrm>
            <a:off x="4210696" y="4182849"/>
            <a:ext cx="303124" cy="3031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hole 236"/>
          <p:cNvSpPr/>
          <p:nvPr/>
        </p:nvSpPr>
        <p:spPr>
          <a:xfrm>
            <a:off x="4312011" y="1974647"/>
            <a:ext cx="2817266" cy="2817266"/>
          </a:xfrm>
          <a:prstGeom prst="ellipse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22" name="hole 237"/>
          <p:cNvSpPr/>
          <p:nvPr/>
        </p:nvSpPr>
        <p:spPr>
          <a:xfrm>
            <a:off x="5674924" y="333756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line 238"/>
          <p:cNvSpPr/>
          <p:nvPr/>
        </p:nvSpPr>
        <p:spPr>
          <a:xfrm>
            <a:off x="5486400" y="1371600"/>
            <a:ext cx="1220287" cy="1025637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text 239"/>
          <p:cNvSpPr txBox="1"/>
          <p:nvPr/>
        </p:nvSpPr>
        <p:spPr>
          <a:xfrm>
            <a:off x="5532120" y="12710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R39.5 edge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(tip R38 + 1.5)</a:t>
            </a:r>
            <a:endParaRPr lang="en-US" sz="1000" dirty="0"/>
          </a:p>
        </p:txBody>
      </p:sp>
      <p:sp>
        <p:nvSpPr>
          <p:cNvPr id="25" name="text 240"/>
          <p:cNvSpPr txBox="1"/>
          <p:nvPr/>
        </p:nvSpPr>
        <p:spPr>
          <a:xfrm>
            <a:off x="3520440" y="5577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Right side = same parts turned 180°</a:t>
            </a:r>
            <a:endParaRPr lang="en-US" sz="1000" dirty="0"/>
          </a:p>
        </p:txBody>
      </p:sp>
      <p:sp>
        <p:nvSpPr>
          <p:cNvPr id="26" name="text 241"/>
          <p:cNvSpPr txBox="1"/>
          <p:nvPr/>
        </p:nvSpPr>
        <p:spPr>
          <a:xfrm>
            <a:off x="6812280" y="868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TOP PLATE (×1, 8 mm)</a:t>
            </a:r>
            <a:endParaRPr lang="en-US" sz="1200" dirty="0"/>
          </a:p>
        </p:txBody>
      </p:sp>
      <p:sp>
        <p:nvSpPr>
          <p:cNvPr id="27" name="top plate 242"/>
          <p:cNvSpPr/>
          <p:nvPr/>
        </p:nvSpPr>
        <p:spPr>
          <a:xfrm>
            <a:off x="7190842" y="1296253"/>
            <a:ext cx="3906317" cy="2528133"/>
          </a:xfrm>
          <a:custGeom>
            <a:avLst/>
            <a:gdLst/>
            <a:ahLst/>
            <a:cxnLst/>
            <a:rect l="l" t="t" r="r" b="b"/>
            <a:pathLst>
              <a:path w="3906317" h="2528133">
                <a:moveTo>
                  <a:pt x="0" y="2528133"/>
                </a:moveTo>
                <a:lnTo>
                  <a:pt x="0" y="0"/>
                </a:lnTo>
                <a:lnTo>
                  <a:pt x="3906317" y="0"/>
                </a:lnTo>
                <a:lnTo>
                  <a:pt x="3906317" y="2528133"/>
                </a:ln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8" name="hole 243"/>
          <p:cNvSpPr/>
          <p:nvPr/>
        </p:nvSpPr>
        <p:spPr>
          <a:xfrm>
            <a:off x="7754844" y="3576401"/>
            <a:ext cx="144841" cy="14484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hole 244"/>
          <p:cNvSpPr/>
          <p:nvPr/>
        </p:nvSpPr>
        <p:spPr>
          <a:xfrm>
            <a:off x="7754844" y="1399398"/>
            <a:ext cx="144841" cy="14484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hole 245"/>
          <p:cNvSpPr/>
          <p:nvPr/>
        </p:nvSpPr>
        <p:spPr>
          <a:xfrm>
            <a:off x="10388316" y="3576401"/>
            <a:ext cx="144841" cy="14484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hole 246"/>
          <p:cNvSpPr/>
          <p:nvPr/>
        </p:nvSpPr>
        <p:spPr>
          <a:xfrm>
            <a:off x="10388316" y="1399398"/>
            <a:ext cx="144841" cy="14484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hole 247"/>
          <p:cNvSpPr/>
          <p:nvPr/>
        </p:nvSpPr>
        <p:spPr>
          <a:xfrm>
            <a:off x="8116946" y="3585180"/>
            <a:ext cx="122895" cy="12289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hole 248"/>
          <p:cNvSpPr/>
          <p:nvPr/>
        </p:nvSpPr>
        <p:spPr>
          <a:xfrm>
            <a:off x="8116946" y="1412565"/>
            <a:ext cx="122895" cy="12289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hole 249"/>
          <p:cNvSpPr/>
          <p:nvPr/>
        </p:nvSpPr>
        <p:spPr>
          <a:xfrm>
            <a:off x="10048159" y="3585180"/>
            <a:ext cx="122895" cy="12289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hole 250"/>
          <p:cNvSpPr/>
          <p:nvPr/>
        </p:nvSpPr>
        <p:spPr>
          <a:xfrm>
            <a:off x="10048159" y="1412565"/>
            <a:ext cx="122895" cy="12289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hole 251"/>
          <p:cNvSpPr/>
          <p:nvPr/>
        </p:nvSpPr>
        <p:spPr>
          <a:xfrm>
            <a:off x="8375904" y="1671523"/>
            <a:ext cx="1536192" cy="1777594"/>
          </a:xfrm>
          <a:custGeom>
            <a:avLst/>
            <a:gdLst/>
            <a:ahLst/>
            <a:cxnLst/>
            <a:rect l="l" t="t" r="r" b="b"/>
            <a:pathLst>
              <a:path w="1536192" h="1777594">
                <a:moveTo>
                  <a:pt x="1536192" y="0"/>
                </a:moveTo>
                <a:lnTo>
                  <a:pt x="0" y="0"/>
                </a:lnTo>
                <a:lnTo>
                  <a:pt x="0" y="1777594"/>
                </a:lnTo>
                <a:lnTo>
                  <a:pt x="1536192" y="1777594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line 252"/>
          <p:cNvSpPr/>
          <p:nvPr/>
        </p:nvSpPr>
        <p:spPr>
          <a:xfrm>
            <a:off x="7190842" y="4098707"/>
            <a:ext cx="3906317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38" name="text 253"/>
          <p:cNvSpPr txBox="1"/>
          <p:nvPr/>
        </p:nvSpPr>
        <p:spPr>
          <a:xfrm>
            <a:off x="8321040" y="4135283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178</a:t>
            </a:r>
            <a:endParaRPr lang="en-US" sz="1000" dirty="0"/>
          </a:p>
        </p:txBody>
      </p:sp>
      <p:sp>
        <p:nvSpPr>
          <p:cNvPr id="39" name="line 254"/>
          <p:cNvSpPr/>
          <p:nvPr/>
        </p:nvSpPr>
        <p:spPr>
          <a:xfrm>
            <a:off x="11371478" y="1296253"/>
            <a:ext cx="0" cy="2528133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40" name="text 255"/>
          <p:cNvSpPr txBox="1"/>
          <p:nvPr/>
        </p:nvSpPr>
        <p:spPr>
          <a:xfrm>
            <a:off x="11426342" y="2468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115.2</a:t>
            </a:r>
            <a:endParaRPr lang="en-US" sz="1000" dirty="0"/>
          </a:p>
        </p:txBody>
      </p:sp>
      <p:sp>
        <p:nvSpPr>
          <p:cNvPr id="41" name="line 256"/>
          <p:cNvSpPr/>
          <p:nvPr/>
        </p:nvSpPr>
        <p:spPr>
          <a:xfrm>
            <a:off x="8375904" y="1570573"/>
            <a:ext cx="153619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42" name="text 257"/>
          <p:cNvSpPr txBox="1"/>
          <p:nvPr/>
        </p:nvSpPr>
        <p:spPr>
          <a:xfrm>
            <a:off x="8321040" y="1351117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70 inlet</a:t>
            </a:r>
            <a:endParaRPr lang="en-US" sz="1000" dirty="0"/>
          </a:p>
        </p:txBody>
      </p:sp>
      <p:sp>
        <p:nvSpPr>
          <p:cNvPr id="43" name="line 258"/>
          <p:cNvSpPr/>
          <p:nvPr/>
        </p:nvSpPr>
        <p:spPr>
          <a:xfrm>
            <a:off x="8101584" y="1671523"/>
            <a:ext cx="0" cy="1777594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44" name="text 259"/>
          <p:cNvSpPr txBox="1"/>
          <p:nvPr/>
        </p:nvSpPr>
        <p:spPr>
          <a:xfrm>
            <a:off x="7680960" y="2468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81</a:t>
            </a:r>
            <a:endParaRPr lang="en-US" sz="1000" dirty="0"/>
          </a:p>
        </p:txBody>
      </p:sp>
      <p:sp>
        <p:nvSpPr>
          <p:cNvPr id="45" name="notes box 260"/>
          <p:cNvSpPr/>
          <p:nvPr/>
        </p:nvSpPr>
        <p:spPr>
          <a:xfrm>
            <a:off x="6812280" y="4434840"/>
            <a:ext cx="4937760" cy="18745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6" name="notes text 261"/>
          <p:cNvSpPr txBox="1"/>
          <p:nvPr/>
        </p:nvSpPr>
        <p:spPr>
          <a:xfrm>
            <a:off x="6922008" y="4507992"/>
            <a:ext cx="47183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DESIGN NOTES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Comb and wall plates alternate: comb at the spacer layers, wall where the blades run – 26 of each.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Plates stack flush on the four M8 tie rods (≥ 4 mm web at the rod holes).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Top plate: slot 70 × 81 (spec inlet 8.1 × 7 cm), 4× Ø5.5 for the throat flange, 4× Ø6.6 into the end-plate top edges.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Bottom plate is the same size with a 70 × 78.4 discharge slot (DXF 10).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END PLATES – FAR (16 MM), DRIVE (16 MM), MOTOR MOUNT (12 MM)</a:t>
            </a:r>
            <a:endParaRPr lang="en-US" sz="2600" dirty="0"/>
          </a:p>
        </p:txBody>
      </p:sp>
      <p:sp>
        <p:nvSpPr>
          <p:cNvPr id="3" name="text 262"/>
          <p:cNvSpPr txBox="1"/>
          <p:nvPr/>
        </p:nvSpPr>
        <p:spPr>
          <a:xfrm>
            <a:off x="457200" y="868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FAR END PLATE (×1)</a:t>
            </a:r>
            <a:endParaRPr lang="en-US" sz="1200" dirty="0"/>
          </a:p>
        </p:txBody>
      </p:sp>
      <p:sp>
        <p:nvSpPr>
          <p:cNvPr id="4" name="plate_far 263"/>
          <p:cNvSpPr/>
          <p:nvPr/>
        </p:nvSpPr>
        <p:spPr>
          <a:xfrm>
            <a:off x="556870" y="1682900"/>
            <a:ext cx="3092501" cy="2852120"/>
          </a:xfrm>
          <a:custGeom>
            <a:avLst/>
            <a:gdLst/>
            <a:ahLst/>
            <a:cxnLst/>
            <a:rect l="l" t="t" r="r" b="b"/>
            <a:pathLst>
              <a:path w="3092501" h="2852120">
                <a:moveTo>
                  <a:pt x="40706" y="2811413"/>
                </a:moveTo>
                <a:lnTo>
                  <a:pt x="31550" y="2801302"/>
                </a:lnTo>
                <a:lnTo>
                  <a:pt x="23420" y="2790357"/>
                </a:lnTo>
                <a:lnTo>
                  <a:pt x="16418" y="2778647"/>
                </a:lnTo>
                <a:lnTo>
                  <a:pt x="10581" y="2766311"/>
                </a:lnTo>
                <a:lnTo>
                  <a:pt x="5977" y="2753472"/>
                </a:lnTo>
                <a:lnTo>
                  <a:pt x="2676" y="2740251"/>
                </a:lnTo>
                <a:lnTo>
                  <a:pt x="678" y="2726752"/>
                </a:lnTo>
                <a:lnTo>
                  <a:pt x="0" y="2713131"/>
                </a:lnTo>
                <a:lnTo>
                  <a:pt x="0" y="138989"/>
                </a:lnTo>
                <a:lnTo>
                  <a:pt x="678" y="125351"/>
                </a:lnTo>
                <a:lnTo>
                  <a:pt x="2676" y="111869"/>
                </a:lnTo>
                <a:lnTo>
                  <a:pt x="5977" y="98630"/>
                </a:lnTo>
                <a:lnTo>
                  <a:pt x="10581" y="85791"/>
                </a:lnTo>
                <a:lnTo>
                  <a:pt x="16418" y="73456"/>
                </a:lnTo>
                <a:lnTo>
                  <a:pt x="23420" y="61763"/>
                </a:lnTo>
                <a:lnTo>
                  <a:pt x="31550" y="50800"/>
                </a:lnTo>
                <a:lnTo>
                  <a:pt x="40706" y="40706"/>
                </a:lnTo>
                <a:lnTo>
                  <a:pt x="50818" y="31533"/>
                </a:lnTo>
                <a:lnTo>
                  <a:pt x="61763" y="23420"/>
                </a:lnTo>
                <a:lnTo>
                  <a:pt x="73473" y="16401"/>
                </a:lnTo>
                <a:lnTo>
                  <a:pt x="85808" y="10581"/>
                </a:lnTo>
                <a:lnTo>
                  <a:pt x="98647" y="5977"/>
                </a:lnTo>
                <a:lnTo>
                  <a:pt x="111869" y="2658"/>
                </a:lnTo>
                <a:lnTo>
                  <a:pt x="125368" y="660"/>
                </a:lnTo>
                <a:lnTo>
                  <a:pt x="138989" y="0"/>
                </a:lnTo>
                <a:lnTo>
                  <a:pt x="2953512" y="0"/>
                </a:lnTo>
                <a:lnTo>
                  <a:pt x="2967133" y="660"/>
                </a:lnTo>
                <a:lnTo>
                  <a:pt x="2980632" y="2658"/>
                </a:lnTo>
                <a:lnTo>
                  <a:pt x="2993853" y="5977"/>
                </a:lnTo>
                <a:lnTo>
                  <a:pt x="3006693" y="10581"/>
                </a:lnTo>
                <a:lnTo>
                  <a:pt x="3019028" y="16401"/>
                </a:lnTo>
                <a:lnTo>
                  <a:pt x="3030738" y="23420"/>
                </a:lnTo>
                <a:lnTo>
                  <a:pt x="3041683" y="31533"/>
                </a:lnTo>
                <a:lnTo>
                  <a:pt x="3051794" y="40706"/>
                </a:lnTo>
                <a:lnTo>
                  <a:pt x="3060950" y="50800"/>
                </a:lnTo>
                <a:lnTo>
                  <a:pt x="3069081" y="61763"/>
                </a:lnTo>
                <a:lnTo>
                  <a:pt x="3076083" y="73456"/>
                </a:lnTo>
                <a:lnTo>
                  <a:pt x="3081920" y="85791"/>
                </a:lnTo>
                <a:lnTo>
                  <a:pt x="3086524" y="98630"/>
                </a:lnTo>
                <a:lnTo>
                  <a:pt x="3089825" y="111869"/>
                </a:lnTo>
                <a:lnTo>
                  <a:pt x="3091823" y="125351"/>
                </a:lnTo>
                <a:lnTo>
                  <a:pt x="3092501" y="138989"/>
                </a:lnTo>
                <a:lnTo>
                  <a:pt x="3092501" y="2713131"/>
                </a:lnTo>
                <a:lnTo>
                  <a:pt x="3091823" y="2726752"/>
                </a:lnTo>
                <a:lnTo>
                  <a:pt x="3089825" y="2740251"/>
                </a:lnTo>
                <a:lnTo>
                  <a:pt x="3086524" y="2753472"/>
                </a:lnTo>
                <a:lnTo>
                  <a:pt x="3081920" y="2766311"/>
                </a:lnTo>
                <a:lnTo>
                  <a:pt x="3076083" y="2778647"/>
                </a:lnTo>
                <a:lnTo>
                  <a:pt x="3069081" y="2790357"/>
                </a:lnTo>
                <a:lnTo>
                  <a:pt x="3060950" y="2801302"/>
                </a:lnTo>
                <a:lnTo>
                  <a:pt x="3051794" y="2811413"/>
                </a:lnTo>
                <a:lnTo>
                  <a:pt x="3041683" y="2820569"/>
                </a:lnTo>
                <a:lnTo>
                  <a:pt x="3030738" y="2828700"/>
                </a:lnTo>
                <a:lnTo>
                  <a:pt x="3019028" y="2835702"/>
                </a:lnTo>
                <a:lnTo>
                  <a:pt x="3006693" y="2841539"/>
                </a:lnTo>
                <a:lnTo>
                  <a:pt x="2993853" y="2846143"/>
                </a:lnTo>
                <a:lnTo>
                  <a:pt x="2980632" y="2849444"/>
                </a:lnTo>
                <a:lnTo>
                  <a:pt x="2967133" y="2851442"/>
                </a:lnTo>
                <a:lnTo>
                  <a:pt x="2953512" y="2852120"/>
                </a:lnTo>
                <a:lnTo>
                  <a:pt x="138989" y="2852120"/>
                </a:lnTo>
                <a:lnTo>
                  <a:pt x="125368" y="2851442"/>
                </a:lnTo>
                <a:lnTo>
                  <a:pt x="111869" y="2849444"/>
                </a:lnTo>
                <a:lnTo>
                  <a:pt x="98647" y="2846143"/>
                </a:lnTo>
                <a:lnTo>
                  <a:pt x="85808" y="2841539"/>
                </a:lnTo>
                <a:lnTo>
                  <a:pt x="73473" y="2835702"/>
                </a:lnTo>
                <a:lnTo>
                  <a:pt x="61763" y="2828700"/>
                </a:lnTo>
                <a:lnTo>
                  <a:pt x="50818" y="2820569"/>
                </a:ln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hole 264"/>
          <p:cNvSpPr/>
          <p:nvPr/>
        </p:nvSpPr>
        <p:spPr>
          <a:xfrm>
            <a:off x="1060704" y="2172210"/>
            <a:ext cx="903427" cy="90342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hole 265"/>
          <p:cNvSpPr/>
          <p:nvPr/>
        </p:nvSpPr>
        <p:spPr>
          <a:xfrm>
            <a:off x="2242109" y="2172210"/>
            <a:ext cx="903427" cy="90342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hole 266"/>
          <p:cNvSpPr/>
          <p:nvPr/>
        </p:nvSpPr>
        <p:spPr>
          <a:xfrm>
            <a:off x="776802" y="2086715"/>
            <a:ext cx="147676" cy="14767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hole 267"/>
          <p:cNvSpPr/>
          <p:nvPr/>
        </p:nvSpPr>
        <p:spPr>
          <a:xfrm>
            <a:off x="776802" y="3013457"/>
            <a:ext cx="147676" cy="14767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hole 268"/>
          <p:cNvSpPr/>
          <p:nvPr/>
        </p:nvSpPr>
        <p:spPr>
          <a:xfrm>
            <a:off x="3281762" y="2086715"/>
            <a:ext cx="147676" cy="14767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hole 269"/>
          <p:cNvSpPr/>
          <p:nvPr/>
        </p:nvSpPr>
        <p:spPr>
          <a:xfrm>
            <a:off x="3281762" y="3013457"/>
            <a:ext cx="147676" cy="14767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hole 270"/>
          <p:cNvSpPr/>
          <p:nvPr/>
        </p:nvSpPr>
        <p:spPr>
          <a:xfrm>
            <a:off x="1177107" y="3577109"/>
            <a:ext cx="114666" cy="11466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hole 271"/>
          <p:cNvSpPr/>
          <p:nvPr/>
        </p:nvSpPr>
        <p:spPr>
          <a:xfrm>
            <a:off x="2914467" y="3577109"/>
            <a:ext cx="114666" cy="11466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272"/>
          <p:cNvSpPr txBox="1"/>
          <p:nvPr/>
        </p:nvSpPr>
        <p:spPr>
          <a:xfrm>
            <a:off x="4251960" y="868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DRIVE END PLATE (×1)</a:t>
            </a:r>
            <a:endParaRPr lang="en-US" sz="1200" dirty="0"/>
          </a:p>
        </p:txBody>
      </p:sp>
      <p:sp>
        <p:nvSpPr>
          <p:cNvPr id="14" name="plate_drive 273"/>
          <p:cNvSpPr/>
          <p:nvPr/>
        </p:nvSpPr>
        <p:spPr>
          <a:xfrm>
            <a:off x="4212641" y="1682900"/>
            <a:ext cx="3370478" cy="2852120"/>
          </a:xfrm>
          <a:custGeom>
            <a:avLst/>
            <a:gdLst/>
            <a:ahLst/>
            <a:cxnLst/>
            <a:rect l="l" t="t" r="r" b="b"/>
            <a:pathLst>
              <a:path w="3370478" h="2852120">
                <a:moveTo>
                  <a:pt x="10581" y="2766311"/>
                </a:moveTo>
                <a:lnTo>
                  <a:pt x="5977" y="2753472"/>
                </a:lnTo>
                <a:lnTo>
                  <a:pt x="2676" y="2740251"/>
                </a:lnTo>
                <a:lnTo>
                  <a:pt x="678" y="2726752"/>
                </a:lnTo>
                <a:lnTo>
                  <a:pt x="0" y="2713131"/>
                </a:lnTo>
                <a:lnTo>
                  <a:pt x="0" y="138989"/>
                </a:lnTo>
                <a:lnTo>
                  <a:pt x="678" y="125351"/>
                </a:lnTo>
                <a:lnTo>
                  <a:pt x="2676" y="111869"/>
                </a:lnTo>
                <a:lnTo>
                  <a:pt x="5977" y="98630"/>
                </a:lnTo>
                <a:lnTo>
                  <a:pt x="10581" y="85791"/>
                </a:lnTo>
                <a:lnTo>
                  <a:pt x="16418" y="73456"/>
                </a:lnTo>
                <a:lnTo>
                  <a:pt x="23420" y="61763"/>
                </a:lnTo>
                <a:lnTo>
                  <a:pt x="31550" y="50800"/>
                </a:lnTo>
                <a:lnTo>
                  <a:pt x="40706" y="40706"/>
                </a:lnTo>
                <a:lnTo>
                  <a:pt x="50818" y="31533"/>
                </a:lnTo>
                <a:lnTo>
                  <a:pt x="61763" y="23420"/>
                </a:lnTo>
                <a:lnTo>
                  <a:pt x="73473" y="16401"/>
                </a:lnTo>
                <a:lnTo>
                  <a:pt x="85808" y="10581"/>
                </a:lnTo>
                <a:lnTo>
                  <a:pt x="98647" y="5977"/>
                </a:lnTo>
                <a:lnTo>
                  <a:pt x="111869" y="2658"/>
                </a:lnTo>
                <a:lnTo>
                  <a:pt x="125368" y="660"/>
                </a:lnTo>
                <a:lnTo>
                  <a:pt x="138989" y="0"/>
                </a:lnTo>
                <a:lnTo>
                  <a:pt x="3231490" y="0"/>
                </a:lnTo>
                <a:lnTo>
                  <a:pt x="3245111" y="660"/>
                </a:lnTo>
                <a:lnTo>
                  <a:pt x="3258610" y="2658"/>
                </a:lnTo>
                <a:lnTo>
                  <a:pt x="3271831" y="5977"/>
                </a:lnTo>
                <a:lnTo>
                  <a:pt x="3284670" y="10581"/>
                </a:lnTo>
                <a:lnTo>
                  <a:pt x="3297005" y="16401"/>
                </a:lnTo>
                <a:lnTo>
                  <a:pt x="3308715" y="23420"/>
                </a:lnTo>
                <a:lnTo>
                  <a:pt x="3319661" y="31533"/>
                </a:lnTo>
                <a:lnTo>
                  <a:pt x="3329772" y="40706"/>
                </a:lnTo>
                <a:lnTo>
                  <a:pt x="3338928" y="50800"/>
                </a:lnTo>
                <a:lnTo>
                  <a:pt x="3347059" y="61763"/>
                </a:lnTo>
                <a:lnTo>
                  <a:pt x="3354060" y="73456"/>
                </a:lnTo>
                <a:lnTo>
                  <a:pt x="3359898" y="85791"/>
                </a:lnTo>
                <a:lnTo>
                  <a:pt x="3364502" y="98630"/>
                </a:lnTo>
                <a:lnTo>
                  <a:pt x="3367803" y="111869"/>
                </a:lnTo>
                <a:lnTo>
                  <a:pt x="3369801" y="125351"/>
                </a:lnTo>
                <a:lnTo>
                  <a:pt x="3370478" y="138989"/>
                </a:lnTo>
                <a:lnTo>
                  <a:pt x="3370478" y="2713131"/>
                </a:lnTo>
                <a:lnTo>
                  <a:pt x="3369801" y="2726752"/>
                </a:lnTo>
                <a:lnTo>
                  <a:pt x="3367803" y="2740251"/>
                </a:lnTo>
                <a:lnTo>
                  <a:pt x="3364502" y="2753472"/>
                </a:lnTo>
                <a:lnTo>
                  <a:pt x="3359898" y="2766311"/>
                </a:lnTo>
                <a:lnTo>
                  <a:pt x="3354060" y="2778647"/>
                </a:lnTo>
                <a:lnTo>
                  <a:pt x="3347059" y="2790357"/>
                </a:lnTo>
                <a:lnTo>
                  <a:pt x="3338928" y="2801302"/>
                </a:lnTo>
                <a:lnTo>
                  <a:pt x="3329772" y="2811413"/>
                </a:lnTo>
                <a:lnTo>
                  <a:pt x="3319661" y="2820569"/>
                </a:lnTo>
                <a:lnTo>
                  <a:pt x="3308715" y="2828700"/>
                </a:lnTo>
                <a:lnTo>
                  <a:pt x="3297005" y="2835702"/>
                </a:lnTo>
                <a:lnTo>
                  <a:pt x="3284670" y="2841539"/>
                </a:lnTo>
                <a:lnTo>
                  <a:pt x="3271831" y="2846143"/>
                </a:lnTo>
                <a:lnTo>
                  <a:pt x="3258610" y="2849444"/>
                </a:lnTo>
                <a:lnTo>
                  <a:pt x="3245111" y="2851442"/>
                </a:lnTo>
                <a:lnTo>
                  <a:pt x="3231490" y="2852120"/>
                </a:lnTo>
                <a:lnTo>
                  <a:pt x="138989" y="2852120"/>
                </a:lnTo>
                <a:lnTo>
                  <a:pt x="125368" y="2851442"/>
                </a:lnTo>
                <a:lnTo>
                  <a:pt x="111869" y="2849444"/>
                </a:lnTo>
                <a:lnTo>
                  <a:pt x="98647" y="2846143"/>
                </a:lnTo>
                <a:lnTo>
                  <a:pt x="85808" y="2841539"/>
                </a:lnTo>
                <a:lnTo>
                  <a:pt x="73473" y="2835702"/>
                </a:lnTo>
                <a:lnTo>
                  <a:pt x="61763" y="2828700"/>
                </a:lnTo>
                <a:lnTo>
                  <a:pt x="50818" y="2820569"/>
                </a:lnTo>
                <a:lnTo>
                  <a:pt x="40706" y="2811413"/>
                </a:lnTo>
                <a:lnTo>
                  <a:pt x="31550" y="2801302"/>
                </a:lnTo>
                <a:lnTo>
                  <a:pt x="23420" y="2790357"/>
                </a:lnTo>
                <a:lnTo>
                  <a:pt x="16418" y="2778647"/>
                </a:ln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5" name="hole 274"/>
          <p:cNvSpPr/>
          <p:nvPr/>
        </p:nvSpPr>
        <p:spPr>
          <a:xfrm>
            <a:off x="4994453" y="2172210"/>
            <a:ext cx="903427" cy="90342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hole 275"/>
          <p:cNvSpPr/>
          <p:nvPr/>
        </p:nvSpPr>
        <p:spPr>
          <a:xfrm>
            <a:off x="6175858" y="2172210"/>
            <a:ext cx="903427" cy="90342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hole 276"/>
          <p:cNvSpPr/>
          <p:nvPr/>
        </p:nvSpPr>
        <p:spPr>
          <a:xfrm>
            <a:off x="4725318" y="2101482"/>
            <a:ext cx="118140" cy="1181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hole 277"/>
          <p:cNvSpPr/>
          <p:nvPr/>
        </p:nvSpPr>
        <p:spPr>
          <a:xfrm>
            <a:off x="4725318" y="3028225"/>
            <a:ext cx="118140" cy="1181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hole 278"/>
          <p:cNvSpPr/>
          <p:nvPr/>
        </p:nvSpPr>
        <p:spPr>
          <a:xfrm>
            <a:off x="7230279" y="2101482"/>
            <a:ext cx="118140" cy="1181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hole 279"/>
          <p:cNvSpPr/>
          <p:nvPr/>
        </p:nvSpPr>
        <p:spPr>
          <a:xfrm>
            <a:off x="7230279" y="3028225"/>
            <a:ext cx="118140" cy="1181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hole 280"/>
          <p:cNvSpPr/>
          <p:nvPr/>
        </p:nvSpPr>
        <p:spPr>
          <a:xfrm>
            <a:off x="5110856" y="3577109"/>
            <a:ext cx="114666" cy="11466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hole 281"/>
          <p:cNvSpPr/>
          <p:nvPr/>
        </p:nvSpPr>
        <p:spPr>
          <a:xfrm>
            <a:off x="6848216" y="3577109"/>
            <a:ext cx="114666" cy="11466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hole 282"/>
          <p:cNvSpPr/>
          <p:nvPr/>
        </p:nvSpPr>
        <p:spPr>
          <a:xfrm>
            <a:off x="4362054" y="1748294"/>
            <a:ext cx="118140" cy="1181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hole 283"/>
          <p:cNvSpPr/>
          <p:nvPr/>
        </p:nvSpPr>
        <p:spPr>
          <a:xfrm>
            <a:off x="4362054" y="3381413"/>
            <a:ext cx="118140" cy="1181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hole 284"/>
          <p:cNvSpPr/>
          <p:nvPr/>
        </p:nvSpPr>
        <p:spPr>
          <a:xfrm>
            <a:off x="6412139" y="1748294"/>
            <a:ext cx="118140" cy="1181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hole 285"/>
          <p:cNvSpPr/>
          <p:nvPr/>
        </p:nvSpPr>
        <p:spPr>
          <a:xfrm>
            <a:off x="6412139" y="3381413"/>
            <a:ext cx="118140" cy="1181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86"/>
          <p:cNvSpPr txBox="1"/>
          <p:nvPr/>
        </p:nvSpPr>
        <p:spPr>
          <a:xfrm>
            <a:off x="8046720" y="868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MOTOR MOUNT PLATE (×1)</a:t>
            </a:r>
            <a:endParaRPr lang="en-US" sz="1200" dirty="0"/>
          </a:p>
        </p:txBody>
      </p:sp>
      <p:sp>
        <p:nvSpPr>
          <p:cNvPr id="28" name="plate_motor 287"/>
          <p:cNvSpPr/>
          <p:nvPr/>
        </p:nvSpPr>
        <p:spPr>
          <a:xfrm>
            <a:off x="8007401" y="1682900"/>
            <a:ext cx="3370478" cy="2852120"/>
          </a:xfrm>
          <a:custGeom>
            <a:avLst/>
            <a:gdLst/>
            <a:ahLst/>
            <a:cxnLst/>
            <a:rect l="l" t="t" r="r" b="b"/>
            <a:pathLst>
              <a:path w="3370478" h="2852120">
                <a:moveTo>
                  <a:pt x="31550" y="2801302"/>
                </a:moveTo>
                <a:lnTo>
                  <a:pt x="23420" y="2790357"/>
                </a:lnTo>
                <a:lnTo>
                  <a:pt x="16418" y="2778647"/>
                </a:lnTo>
                <a:lnTo>
                  <a:pt x="10581" y="2766311"/>
                </a:lnTo>
                <a:lnTo>
                  <a:pt x="5977" y="2753472"/>
                </a:lnTo>
                <a:lnTo>
                  <a:pt x="2676" y="2740251"/>
                </a:lnTo>
                <a:lnTo>
                  <a:pt x="678" y="2726752"/>
                </a:lnTo>
                <a:lnTo>
                  <a:pt x="0" y="2713131"/>
                </a:lnTo>
                <a:lnTo>
                  <a:pt x="0" y="138989"/>
                </a:lnTo>
                <a:lnTo>
                  <a:pt x="678" y="125351"/>
                </a:lnTo>
                <a:lnTo>
                  <a:pt x="2676" y="111869"/>
                </a:lnTo>
                <a:lnTo>
                  <a:pt x="5977" y="98630"/>
                </a:lnTo>
                <a:lnTo>
                  <a:pt x="10581" y="85791"/>
                </a:lnTo>
                <a:lnTo>
                  <a:pt x="16418" y="73456"/>
                </a:lnTo>
                <a:lnTo>
                  <a:pt x="23420" y="61763"/>
                </a:lnTo>
                <a:lnTo>
                  <a:pt x="31550" y="50800"/>
                </a:lnTo>
                <a:lnTo>
                  <a:pt x="40706" y="40706"/>
                </a:lnTo>
                <a:lnTo>
                  <a:pt x="50818" y="31533"/>
                </a:lnTo>
                <a:lnTo>
                  <a:pt x="61763" y="23420"/>
                </a:lnTo>
                <a:lnTo>
                  <a:pt x="73473" y="16401"/>
                </a:lnTo>
                <a:lnTo>
                  <a:pt x="85808" y="10581"/>
                </a:lnTo>
                <a:lnTo>
                  <a:pt x="98647" y="5977"/>
                </a:lnTo>
                <a:lnTo>
                  <a:pt x="111869" y="2658"/>
                </a:lnTo>
                <a:lnTo>
                  <a:pt x="125368" y="660"/>
                </a:lnTo>
                <a:lnTo>
                  <a:pt x="138989" y="0"/>
                </a:lnTo>
                <a:lnTo>
                  <a:pt x="3231490" y="0"/>
                </a:lnTo>
                <a:lnTo>
                  <a:pt x="3245111" y="660"/>
                </a:lnTo>
                <a:lnTo>
                  <a:pt x="3258610" y="2658"/>
                </a:lnTo>
                <a:lnTo>
                  <a:pt x="3271831" y="5977"/>
                </a:lnTo>
                <a:lnTo>
                  <a:pt x="3284670" y="10581"/>
                </a:lnTo>
                <a:lnTo>
                  <a:pt x="3297005" y="16401"/>
                </a:lnTo>
                <a:lnTo>
                  <a:pt x="3308715" y="23420"/>
                </a:lnTo>
                <a:lnTo>
                  <a:pt x="3319661" y="31533"/>
                </a:lnTo>
                <a:lnTo>
                  <a:pt x="3329772" y="40706"/>
                </a:lnTo>
                <a:lnTo>
                  <a:pt x="3338928" y="50800"/>
                </a:lnTo>
                <a:lnTo>
                  <a:pt x="3347059" y="61763"/>
                </a:lnTo>
                <a:lnTo>
                  <a:pt x="3354060" y="73456"/>
                </a:lnTo>
                <a:lnTo>
                  <a:pt x="3359898" y="85791"/>
                </a:lnTo>
                <a:lnTo>
                  <a:pt x="3364502" y="98630"/>
                </a:lnTo>
                <a:lnTo>
                  <a:pt x="3367803" y="111869"/>
                </a:lnTo>
                <a:lnTo>
                  <a:pt x="3369801" y="125351"/>
                </a:lnTo>
                <a:lnTo>
                  <a:pt x="3370478" y="138989"/>
                </a:lnTo>
                <a:lnTo>
                  <a:pt x="3370478" y="2713131"/>
                </a:lnTo>
                <a:lnTo>
                  <a:pt x="3369801" y="2726752"/>
                </a:lnTo>
                <a:lnTo>
                  <a:pt x="3367803" y="2740251"/>
                </a:lnTo>
                <a:lnTo>
                  <a:pt x="3364502" y="2753472"/>
                </a:lnTo>
                <a:lnTo>
                  <a:pt x="3359898" y="2766311"/>
                </a:lnTo>
                <a:lnTo>
                  <a:pt x="3354060" y="2778647"/>
                </a:lnTo>
                <a:lnTo>
                  <a:pt x="3347059" y="2790357"/>
                </a:lnTo>
                <a:lnTo>
                  <a:pt x="3338928" y="2801302"/>
                </a:lnTo>
                <a:lnTo>
                  <a:pt x="3329772" y="2811413"/>
                </a:lnTo>
                <a:lnTo>
                  <a:pt x="3319661" y="2820569"/>
                </a:lnTo>
                <a:lnTo>
                  <a:pt x="3308715" y="2828700"/>
                </a:lnTo>
                <a:lnTo>
                  <a:pt x="3297005" y="2835702"/>
                </a:lnTo>
                <a:lnTo>
                  <a:pt x="3284670" y="2841539"/>
                </a:lnTo>
                <a:lnTo>
                  <a:pt x="3271831" y="2846143"/>
                </a:lnTo>
                <a:lnTo>
                  <a:pt x="3258610" y="2849444"/>
                </a:lnTo>
                <a:lnTo>
                  <a:pt x="3245111" y="2851442"/>
                </a:lnTo>
                <a:lnTo>
                  <a:pt x="3231490" y="2852120"/>
                </a:lnTo>
                <a:lnTo>
                  <a:pt x="138989" y="2852120"/>
                </a:lnTo>
                <a:lnTo>
                  <a:pt x="125368" y="2851442"/>
                </a:lnTo>
                <a:lnTo>
                  <a:pt x="111869" y="2849444"/>
                </a:lnTo>
                <a:lnTo>
                  <a:pt x="98647" y="2846143"/>
                </a:lnTo>
                <a:lnTo>
                  <a:pt x="85808" y="2841539"/>
                </a:lnTo>
                <a:lnTo>
                  <a:pt x="73473" y="2835702"/>
                </a:lnTo>
                <a:lnTo>
                  <a:pt x="61763" y="2828700"/>
                </a:lnTo>
                <a:lnTo>
                  <a:pt x="50818" y="2820569"/>
                </a:lnTo>
                <a:lnTo>
                  <a:pt x="40706" y="2811413"/>
                </a:ln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9" name="hole 288"/>
          <p:cNvSpPr/>
          <p:nvPr/>
        </p:nvSpPr>
        <p:spPr>
          <a:xfrm>
            <a:off x="8142046" y="1733527"/>
            <a:ext cx="147676" cy="14767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hole 289"/>
          <p:cNvSpPr/>
          <p:nvPr/>
        </p:nvSpPr>
        <p:spPr>
          <a:xfrm>
            <a:off x="8142046" y="3366645"/>
            <a:ext cx="147676" cy="14767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hole 290"/>
          <p:cNvSpPr/>
          <p:nvPr/>
        </p:nvSpPr>
        <p:spPr>
          <a:xfrm>
            <a:off x="10192131" y="1733527"/>
            <a:ext cx="147676" cy="14767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hole 291"/>
          <p:cNvSpPr/>
          <p:nvPr/>
        </p:nvSpPr>
        <p:spPr>
          <a:xfrm>
            <a:off x="10192131" y="3366645"/>
            <a:ext cx="147676" cy="14767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hole 292"/>
          <p:cNvSpPr/>
          <p:nvPr/>
        </p:nvSpPr>
        <p:spPr>
          <a:xfrm>
            <a:off x="8545114" y="1928111"/>
            <a:ext cx="1391625" cy="13916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hole 293"/>
          <p:cNvSpPr/>
          <p:nvPr/>
        </p:nvSpPr>
        <p:spPr>
          <a:xfrm>
            <a:off x="8592891" y="3185091"/>
            <a:ext cx="86868" cy="868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hole 294"/>
          <p:cNvSpPr/>
          <p:nvPr/>
        </p:nvSpPr>
        <p:spPr>
          <a:xfrm>
            <a:off x="8592891" y="1975889"/>
            <a:ext cx="86868" cy="868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hole 295"/>
          <p:cNvSpPr/>
          <p:nvPr/>
        </p:nvSpPr>
        <p:spPr>
          <a:xfrm>
            <a:off x="9802094" y="3185091"/>
            <a:ext cx="86868" cy="868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hole 296"/>
          <p:cNvSpPr/>
          <p:nvPr/>
        </p:nvSpPr>
        <p:spPr>
          <a:xfrm>
            <a:off x="9802094" y="1975889"/>
            <a:ext cx="86868" cy="8686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line 297"/>
          <p:cNvSpPr/>
          <p:nvPr/>
        </p:nvSpPr>
        <p:spPr>
          <a:xfrm>
            <a:off x="1512418" y="1573172"/>
            <a:ext cx="1181405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39" name="text 298"/>
          <p:cNvSpPr txBox="1"/>
          <p:nvPr/>
        </p:nvSpPr>
        <p:spPr>
          <a:xfrm>
            <a:off x="1280160" y="13537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68 c–c</a:t>
            </a:r>
            <a:endParaRPr lang="en-US" sz="1000" dirty="0"/>
          </a:p>
        </p:txBody>
      </p:sp>
      <p:sp>
        <p:nvSpPr>
          <p:cNvPr id="40" name="line 299"/>
          <p:cNvSpPr/>
          <p:nvPr/>
        </p:nvSpPr>
        <p:spPr>
          <a:xfrm>
            <a:off x="556870" y="4717900"/>
            <a:ext cx="3092501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41" name="text 300"/>
          <p:cNvSpPr txBox="1"/>
          <p:nvPr/>
        </p:nvSpPr>
        <p:spPr>
          <a:xfrm>
            <a:off x="1280160" y="47544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178</a:t>
            </a:r>
            <a:endParaRPr lang="en-US" sz="1000" dirty="0"/>
          </a:p>
        </p:txBody>
      </p:sp>
      <p:sp>
        <p:nvSpPr>
          <p:cNvPr id="42" name="line 301"/>
          <p:cNvSpPr/>
          <p:nvPr/>
        </p:nvSpPr>
        <p:spPr>
          <a:xfrm>
            <a:off x="373990" y="1682900"/>
            <a:ext cx="0" cy="285212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43" name="text 302"/>
          <p:cNvSpPr txBox="1"/>
          <p:nvPr/>
        </p:nvSpPr>
        <p:spPr>
          <a:xfrm>
            <a:off x="-183794" y="3017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164.2</a:t>
            </a:r>
            <a:endParaRPr lang="en-US" sz="1000" dirty="0"/>
          </a:p>
        </p:txBody>
      </p:sp>
      <p:sp>
        <p:nvSpPr>
          <p:cNvPr id="44" name="line 303"/>
          <p:cNvSpPr/>
          <p:nvPr/>
        </p:nvSpPr>
        <p:spPr>
          <a:xfrm flipV="1">
            <a:off x="457200" y="2971396"/>
            <a:ext cx="2584094" cy="2167532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5" name="text 304"/>
          <p:cNvSpPr txBox="1"/>
          <p:nvPr/>
        </p:nvSpPr>
        <p:spPr>
          <a:xfrm>
            <a:off x="502920" y="50383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2× Ø52.0 bearing bores (6205)</a:t>
            </a:r>
            <a:endParaRPr lang="en-US" sz="1000" dirty="0"/>
          </a:p>
        </p:txBody>
      </p:sp>
      <p:sp>
        <p:nvSpPr>
          <p:cNvPr id="46" name="line 305"/>
          <p:cNvSpPr/>
          <p:nvPr/>
        </p:nvSpPr>
        <p:spPr>
          <a:xfrm flipV="1">
            <a:off x="457200" y="2160547"/>
            <a:ext cx="2898393" cy="3206981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7" name="text 306"/>
          <p:cNvSpPr txBox="1"/>
          <p:nvPr/>
        </p:nvSpPr>
        <p:spPr>
          <a:xfrm>
            <a:off x="502920" y="52669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4× Ø8.5 tie-rod holes</a:t>
            </a:r>
            <a:endParaRPr lang="en-US" sz="1000" dirty="0"/>
          </a:p>
        </p:txBody>
      </p:sp>
      <p:sp>
        <p:nvSpPr>
          <p:cNvPr id="48" name="line 307"/>
          <p:cNvSpPr/>
          <p:nvPr/>
        </p:nvSpPr>
        <p:spPr>
          <a:xfrm flipV="1">
            <a:off x="457200" y="3635067"/>
            <a:ext cx="777240" cy="1961061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9" name="text 308"/>
          <p:cNvSpPr txBox="1"/>
          <p:nvPr/>
        </p:nvSpPr>
        <p:spPr>
          <a:xfrm>
            <a:off x="502920" y="54955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2× Ø6.6 bottom-plate screws</a:t>
            </a:r>
            <a:endParaRPr lang="en-US" sz="1000" dirty="0"/>
          </a:p>
        </p:txBody>
      </p:sp>
      <p:sp>
        <p:nvSpPr>
          <p:cNvPr id="50" name="line 309"/>
          <p:cNvSpPr/>
          <p:nvPr/>
        </p:nvSpPr>
        <p:spPr>
          <a:xfrm>
            <a:off x="4212641" y="4717900"/>
            <a:ext cx="337047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51" name="text 310"/>
          <p:cNvSpPr txBox="1"/>
          <p:nvPr/>
        </p:nvSpPr>
        <p:spPr>
          <a:xfrm>
            <a:off x="5074920" y="47544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194</a:t>
            </a:r>
            <a:endParaRPr lang="en-US" sz="1000" dirty="0"/>
          </a:p>
        </p:txBody>
      </p:sp>
      <p:sp>
        <p:nvSpPr>
          <p:cNvPr id="52" name="line 311"/>
          <p:cNvSpPr/>
          <p:nvPr/>
        </p:nvSpPr>
        <p:spPr>
          <a:xfrm flipV="1">
            <a:off x="4251960" y="2160547"/>
            <a:ext cx="532436" cy="2978381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3" name="text 312"/>
          <p:cNvSpPr txBox="1"/>
          <p:nvPr/>
        </p:nvSpPr>
        <p:spPr>
          <a:xfrm>
            <a:off x="4297680" y="50383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4× Ø6.8 = M8 tap (rods thread in)</a:t>
            </a:r>
            <a:endParaRPr lang="en-US" sz="1000" dirty="0"/>
          </a:p>
        </p:txBody>
      </p:sp>
      <p:sp>
        <p:nvSpPr>
          <p:cNvPr id="54" name="line 313"/>
          <p:cNvSpPr/>
          <p:nvPr/>
        </p:nvSpPr>
        <p:spPr>
          <a:xfrm flipV="1">
            <a:off x="4251960" y="1807365"/>
            <a:ext cx="169164" cy="3560163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5" name="text 314"/>
          <p:cNvSpPr txBox="1"/>
          <p:nvPr/>
        </p:nvSpPr>
        <p:spPr>
          <a:xfrm>
            <a:off x="4297680" y="52669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4× Ø6.8 M8 tap (standoffs)</a:t>
            </a:r>
            <a:endParaRPr lang="en-US" sz="1000" dirty="0"/>
          </a:p>
        </p:txBody>
      </p:sp>
      <p:sp>
        <p:nvSpPr>
          <p:cNvPr id="56" name="text 315"/>
          <p:cNvSpPr txBox="1"/>
          <p:nvPr/>
        </p:nvSpPr>
        <p:spPr>
          <a:xfrm>
            <a:off x="4297680" y="55229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Bores + rod pattern as the far plate</a:t>
            </a:r>
            <a:endParaRPr lang="en-US" sz="1000" dirty="0"/>
          </a:p>
        </p:txBody>
      </p:sp>
      <p:sp>
        <p:nvSpPr>
          <p:cNvPr id="57" name="line 316"/>
          <p:cNvSpPr/>
          <p:nvPr/>
        </p:nvSpPr>
        <p:spPr>
          <a:xfrm>
            <a:off x="8007401" y="4717900"/>
            <a:ext cx="337047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58" name="text 317"/>
          <p:cNvSpPr txBox="1"/>
          <p:nvPr/>
        </p:nvSpPr>
        <p:spPr>
          <a:xfrm>
            <a:off x="8869680" y="47544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194</a:t>
            </a:r>
            <a:endParaRPr lang="en-US" sz="1000" dirty="0"/>
          </a:p>
        </p:txBody>
      </p:sp>
      <p:sp>
        <p:nvSpPr>
          <p:cNvPr id="59" name="line 318"/>
          <p:cNvSpPr/>
          <p:nvPr/>
        </p:nvSpPr>
        <p:spPr>
          <a:xfrm flipV="1">
            <a:off x="8092440" y="2136855"/>
            <a:ext cx="1635555" cy="3002073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0" name="text 319"/>
          <p:cNvSpPr txBox="1"/>
          <p:nvPr/>
        </p:nvSpPr>
        <p:spPr>
          <a:xfrm>
            <a:off x="8138160" y="50383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Ø80.1 gearbox pilot seat (80 H7)</a:t>
            </a:r>
            <a:endParaRPr lang="en-US" sz="1000" dirty="0"/>
          </a:p>
        </p:txBody>
      </p:sp>
      <p:sp>
        <p:nvSpPr>
          <p:cNvPr id="61" name="line 320"/>
          <p:cNvSpPr/>
          <p:nvPr/>
        </p:nvSpPr>
        <p:spPr>
          <a:xfrm flipV="1">
            <a:off x="8092440" y="2019323"/>
            <a:ext cx="1753088" cy="3348205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2" name="text 321"/>
          <p:cNvSpPr txBox="1"/>
          <p:nvPr/>
        </p:nvSpPr>
        <p:spPr>
          <a:xfrm>
            <a:off x="8138160" y="52669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4× M6 tap (Ø5.0 drill) on 69.6 sq</a:t>
            </a:r>
            <a:endParaRPr lang="en-US" sz="1000" dirty="0"/>
          </a:p>
        </p:txBody>
      </p:sp>
      <p:sp>
        <p:nvSpPr>
          <p:cNvPr id="63" name="line 322"/>
          <p:cNvSpPr/>
          <p:nvPr/>
        </p:nvSpPr>
        <p:spPr>
          <a:xfrm flipV="1">
            <a:off x="8092440" y="3440483"/>
            <a:ext cx="2173529" cy="2155645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4" name="text 323"/>
          <p:cNvSpPr txBox="1"/>
          <p:nvPr/>
        </p:nvSpPr>
        <p:spPr>
          <a:xfrm>
            <a:off x="8138160" y="54955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4× Ø8.5 standoff screws</a:t>
            </a:r>
            <a:endParaRPr lang="en-US" sz="1000" dirty="0"/>
          </a:p>
        </p:txBody>
      </p:sp>
      <p:sp>
        <p:nvSpPr>
          <p:cNvPr id="65" name="notes box 324"/>
          <p:cNvSpPr/>
          <p:nvPr/>
        </p:nvSpPr>
        <p:spPr>
          <a:xfrm>
            <a:off x="457200" y="5852160"/>
            <a:ext cx="11292840" cy="53035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6" name="notes text 325"/>
          <p:cNvSpPr txBox="1"/>
          <p:nvPr/>
        </p:nvSpPr>
        <p:spPr>
          <a:xfrm>
            <a:off x="566928" y="5925312"/>
            <a:ext cx="11073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NOTES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Press bearings into the Ø52 bores (laser bores run slightly loose: retain with bearing compound). Bottom edges get 2× M8 taps per plate for the base plate. Motor plate: gearbox bolts (M6 × 20) go in from the gearbox side.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GEAR SYNC PAIR + DRIVE TRAIN</a:t>
            </a:r>
            <a:endParaRPr lang="en-US" sz="2600" dirty="0"/>
          </a:p>
        </p:txBody>
      </p:sp>
      <p:sp>
        <p:nvSpPr>
          <p:cNvPr id="3" name="text 326"/>
          <p:cNvSpPr txBox="1"/>
          <p:nvPr/>
        </p:nvSpPr>
        <p:spPr>
          <a:xfrm>
            <a:off x="457200" y="868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SYNC GEAR (×2, 20 mm) – m2, 34 T, 20°</a:t>
            </a:r>
            <a:endParaRPr lang="en-US" sz="1200" dirty="0"/>
          </a:p>
        </p:txBody>
      </p:sp>
      <p:sp>
        <p:nvSpPr>
          <p:cNvPr id="4" name="gear 327"/>
          <p:cNvSpPr/>
          <p:nvPr/>
        </p:nvSpPr>
        <p:spPr>
          <a:xfrm>
            <a:off x="695280" y="1796833"/>
            <a:ext cx="3455760" cy="3447215"/>
          </a:xfrm>
          <a:custGeom>
            <a:avLst/>
            <a:gdLst/>
            <a:ahLst/>
            <a:cxnLst/>
            <a:rect l="l" t="t" r="r" b="b"/>
            <a:pathLst>
              <a:path w="3455760" h="3447215">
                <a:moveTo>
                  <a:pt x="3237381" y="1813715"/>
                </a:moveTo>
                <a:lnTo>
                  <a:pt x="3228259" y="1912367"/>
                </a:lnTo>
                <a:lnTo>
                  <a:pt x="3249670" y="1915103"/>
                </a:lnTo>
                <a:lnTo>
                  <a:pt x="3271993" y="1920576"/>
                </a:lnTo>
                <a:lnTo>
                  <a:pt x="3315918" y="1937570"/>
                </a:lnTo>
                <a:lnTo>
                  <a:pt x="3369685" y="1965942"/>
                </a:lnTo>
                <a:lnTo>
                  <a:pt x="3401321" y="1986056"/>
                </a:lnTo>
                <a:lnTo>
                  <a:pt x="3432477" y="2008283"/>
                </a:lnTo>
                <a:lnTo>
                  <a:pt x="3420235" y="2073907"/>
                </a:lnTo>
                <a:lnTo>
                  <a:pt x="3383127" y="2083364"/>
                </a:lnTo>
                <a:lnTo>
                  <a:pt x="3346354" y="2090709"/>
                </a:lnTo>
                <a:lnTo>
                  <a:pt x="3285963" y="2097766"/>
                </a:lnTo>
                <a:lnTo>
                  <a:pt x="3238917" y="2097766"/>
                </a:lnTo>
                <a:lnTo>
                  <a:pt x="3216066" y="2094790"/>
                </a:lnTo>
                <a:lnTo>
                  <a:pt x="3195135" y="2089557"/>
                </a:lnTo>
                <a:lnTo>
                  <a:pt x="3168012" y="2184849"/>
                </a:lnTo>
                <a:lnTo>
                  <a:pt x="3188559" y="2191426"/>
                </a:lnTo>
                <a:lnTo>
                  <a:pt x="3209537" y="2200931"/>
                </a:lnTo>
                <a:lnTo>
                  <a:pt x="3249574" y="2225702"/>
                </a:lnTo>
                <a:lnTo>
                  <a:pt x="3297196" y="2263483"/>
                </a:lnTo>
                <a:lnTo>
                  <a:pt x="3324608" y="2289118"/>
                </a:lnTo>
                <a:lnTo>
                  <a:pt x="3351155" y="2316674"/>
                </a:lnTo>
                <a:lnTo>
                  <a:pt x="3327056" y="2378937"/>
                </a:lnTo>
                <a:lnTo>
                  <a:pt x="3288843" y="2381386"/>
                </a:lnTo>
                <a:lnTo>
                  <a:pt x="3251350" y="2381866"/>
                </a:lnTo>
                <a:lnTo>
                  <a:pt x="3190719" y="2377689"/>
                </a:lnTo>
                <a:lnTo>
                  <a:pt x="3144441" y="2369048"/>
                </a:lnTo>
                <a:lnTo>
                  <a:pt x="3122502" y="2361943"/>
                </a:lnTo>
                <a:lnTo>
                  <a:pt x="3102868" y="2352918"/>
                </a:lnTo>
                <a:lnTo>
                  <a:pt x="3058750" y="2441633"/>
                </a:lnTo>
                <a:lnTo>
                  <a:pt x="3077713" y="2451858"/>
                </a:lnTo>
                <a:lnTo>
                  <a:pt x="3096579" y="2465060"/>
                </a:lnTo>
                <a:lnTo>
                  <a:pt x="3131431" y="2496792"/>
                </a:lnTo>
                <a:lnTo>
                  <a:pt x="3171276" y="2542638"/>
                </a:lnTo>
                <a:lnTo>
                  <a:pt x="3193503" y="2572882"/>
                </a:lnTo>
                <a:lnTo>
                  <a:pt x="3214530" y="2604854"/>
                </a:lnTo>
                <a:lnTo>
                  <a:pt x="3179389" y="2661597"/>
                </a:lnTo>
                <a:lnTo>
                  <a:pt x="3141417" y="2657036"/>
                </a:lnTo>
                <a:lnTo>
                  <a:pt x="3104452" y="2650603"/>
                </a:lnTo>
                <a:lnTo>
                  <a:pt x="3045597" y="2635385"/>
                </a:lnTo>
                <a:lnTo>
                  <a:pt x="3001719" y="2618343"/>
                </a:lnTo>
                <a:lnTo>
                  <a:pt x="2981461" y="2607302"/>
                </a:lnTo>
                <a:lnTo>
                  <a:pt x="2963842" y="2594868"/>
                </a:lnTo>
                <a:lnTo>
                  <a:pt x="2904123" y="2673934"/>
                </a:lnTo>
                <a:lnTo>
                  <a:pt x="2920925" y="2687520"/>
                </a:lnTo>
                <a:lnTo>
                  <a:pt x="2937055" y="2703938"/>
                </a:lnTo>
                <a:lnTo>
                  <a:pt x="2965427" y="2741527"/>
                </a:lnTo>
                <a:lnTo>
                  <a:pt x="2996198" y="2793949"/>
                </a:lnTo>
                <a:lnTo>
                  <a:pt x="3012521" y="2827697"/>
                </a:lnTo>
                <a:lnTo>
                  <a:pt x="3027306" y="2863030"/>
                </a:lnTo>
                <a:lnTo>
                  <a:pt x="2982325" y="2912332"/>
                </a:lnTo>
                <a:lnTo>
                  <a:pt x="2945792" y="2900859"/>
                </a:lnTo>
                <a:lnTo>
                  <a:pt x="2910652" y="2887753"/>
                </a:lnTo>
                <a:lnTo>
                  <a:pt x="2855637" y="2861974"/>
                </a:lnTo>
                <a:lnTo>
                  <a:pt x="2815600" y="2837155"/>
                </a:lnTo>
                <a:lnTo>
                  <a:pt x="2797742" y="2822609"/>
                </a:lnTo>
                <a:lnTo>
                  <a:pt x="2782716" y="2807151"/>
                </a:lnTo>
                <a:lnTo>
                  <a:pt x="2709459" y="2873927"/>
                </a:lnTo>
                <a:lnTo>
                  <a:pt x="2730197" y="2899610"/>
                </a:lnTo>
                <a:lnTo>
                  <a:pt x="2752520" y="2940704"/>
                </a:lnTo>
                <a:lnTo>
                  <a:pt x="2770378" y="2985397"/>
                </a:lnTo>
                <a:lnTo>
                  <a:pt x="2784684" y="3032779"/>
                </a:lnTo>
                <a:lnTo>
                  <a:pt x="2795821" y="3082369"/>
                </a:lnTo>
                <a:lnTo>
                  <a:pt x="2769370" y="3102772"/>
                </a:lnTo>
                <a:lnTo>
                  <a:pt x="2742535" y="3122598"/>
                </a:lnTo>
                <a:lnTo>
                  <a:pt x="2697841" y="3098307"/>
                </a:lnTo>
                <a:lnTo>
                  <a:pt x="2656220" y="3071568"/>
                </a:lnTo>
                <a:lnTo>
                  <a:pt x="2618103" y="3042188"/>
                </a:lnTo>
                <a:lnTo>
                  <a:pt x="2584691" y="3009496"/>
                </a:lnTo>
                <a:lnTo>
                  <a:pt x="2565633" y="2982517"/>
                </a:lnTo>
                <a:lnTo>
                  <a:pt x="2481382" y="3034699"/>
                </a:lnTo>
                <a:lnTo>
                  <a:pt x="2492135" y="3053374"/>
                </a:lnTo>
                <a:lnTo>
                  <a:pt x="2501257" y="3074544"/>
                </a:lnTo>
                <a:lnTo>
                  <a:pt x="2514170" y="3119814"/>
                </a:lnTo>
                <a:lnTo>
                  <a:pt x="2523915" y="3179821"/>
                </a:lnTo>
                <a:lnTo>
                  <a:pt x="2526892" y="3217218"/>
                </a:lnTo>
                <a:lnTo>
                  <a:pt x="2527948" y="3255479"/>
                </a:lnTo>
                <a:lnTo>
                  <a:pt x="2468180" y="3285243"/>
                </a:lnTo>
                <a:lnTo>
                  <a:pt x="2438273" y="3261336"/>
                </a:lnTo>
                <a:lnTo>
                  <a:pt x="2410237" y="3236421"/>
                </a:lnTo>
                <a:lnTo>
                  <a:pt x="2368232" y="3192495"/>
                </a:lnTo>
                <a:lnTo>
                  <a:pt x="2339908" y="3154906"/>
                </a:lnTo>
                <a:lnTo>
                  <a:pt x="2328483" y="3134888"/>
                </a:lnTo>
                <a:lnTo>
                  <a:pt x="2320034" y="3115013"/>
                </a:lnTo>
                <a:lnTo>
                  <a:pt x="2227670" y="3150826"/>
                </a:lnTo>
                <a:lnTo>
                  <a:pt x="2234775" y="3171180"/>
                </a:lnTo>
                <a:lnTo>
                  <a:pt x="2239864" y="3193647"/>
                </a:lnTo>
                <a:lnTo>
                  <a:pt x="2244232" y="3240549"/>
                </a:lnTo>
                <a:lnTo>
                  <a:pt x="2242744" y="3301325"/>
                </a:lnTo>
                <a:lnTo>
                  <a:pt x="2238856" y="3338625"/>
                </a:lnTo>
                <a:lnTo>
                  <a:pt x="2232855" y="3376406"/>
                </a:lnTo>
                <a:lnTo>
                  <a:pt x="2168623" y="3394696"/>
                </a:lnTo>
                <a:lnTo>
                  <a:pt x="2143612" y="3365701"/>
                </a:lnTo>
                <a:lnTo>
                  <a:pt x="2120665" y="3336033"/>
                </a:lnTo>
                <a:lnTo>
                  <a:pt x="2087445" y="3285147"/>
                </a:lnTo>
                <a:lnTo>
                  <a:pt x="2066466" y="3242997"/>
                </a:lnTo>
                <a:lnTo>
                  <a:pt x="2058929" y="3221203"/>
                </a:lnTo>
                <a:lnTo>
                  <a:pt x="2054273" y="3200128"/>
                </a:lnTo>
                <a:lnTo>
                  <a:pt x="1956917" y="3218370"/>
                </a:lnTo>
                <a:lnTo>
                  <a:pt x="1960181" y="3239685"/>
                </a:lnTo>
                <a:lnTo>
                  <a:pt x="1960997" y="3262680"/>
                </a:lnTo>
                <a:lnTo>
                  <a:pt x="1956677" y="3309582"/>
                </a:lnTo>
                <a:lnTo>
                  <a:pt x="1944099" y="3369061"/>
                </a:lnTo>
                <a:lnTo>
                  <a:pt x="1933394" y="3405018"/>
                </a:lnTo>
                <a:lnTo>
                  <a:pt x="1920528" y="3441070"/>
                </a:lnTo>
                <a:lnTo>
                  <a:pt x="1854088" y="3447215"/>
                </a:lnTo>
                <a:lnTo>
                  <a:pt x="1834837" y="3414139"/>
                </a:lnTo>
                <a:lnTo>
                  <a:pt x="1817699" y="3380775"/>
                </a:lnTo>
                <a:lnTo>
                  <a:pt x="1794368" y="3324608"/>
                </a:lnTo>
                <a:lnTo>
                  <a:pt x="1781551" y="3279338"/>
                </a:lnTo>
                <a:lnTo>
                  <a:pt x="1778142" y="3256535"/>
                </a:lnTo>
                <a:lnTo>
                  <a:pt x="1777422" y="3234980"/>
                </a:lnTo>
                <a:lnTo>
                  <a:pt x="1678338" y="3234980"/>
                </a:lnTo>
                <a:lnTo>
                  <a:pt x="1677618" y="3256535"/>
                </a:lnTo>
                <a:lnTo>
                  <a:pt x="1674209" y="3279338"/>
                </a:lnTo>
                <a:lnTo>
                  <a:pt x="1661392" y="3324608"/>
                </a:lnTo>
                <a:lnTo>
                  <a:pt x="1638061" y="3380775"/>
                </a:lnTo>
                <a:lnTo>
                  <a:pt x="1620923" y="3414139"/>
                </a:lnTo>
                <a:lnTo>
                  <a:pt x="1601672" y="3447215"/>
                </a:lnTo>
                <a:lnTo>
                  <a:pt x="1535232" y="3441070"/>
                </a:lnTo>
                <a:lnTo>
                  <a:pt x="1522366" y="3405018"/>
                </a:lnTo>
                <a:lnTo>
                  <a:pt x="1511661" y="3369061"/>
                </a:lnTo>
                <a:lnTo>
                  <a:pt x="1499083" y="3309582"/>
                </a:lnTo>
                <a:lnTo>
                  <a:pt x="1494763" y="3262680"/>
                </a:lnTo>
                <a:lnTo>
                  <a:pt x="1495579" y="3239685"/>
                </a:lnTo>
                <a:lnTo>
                  <a:pt x="1498843" y="3218370"/>
                </a:lnTo>
                <a:lnTo>
                  <a:pt x="1401487" y="3200128"/>
                </a:lnTo>
                <a:lnTo>
                  <a:pt x="1396831" y="3221203"/>
                </a:lnTo>
                <a:lnTo>
                  <a:pt x="1389294" y="3242997"/>
                </a:lnTo>
                <a:lnTo>
                  <a:pt x="1368315" y="3285147"/>
                </a:lnTo>
                <a:lnTo>
                  <a:pt x="1335095" y="3336033"/>
                </a:lnTo>
                <a:lnTo>
                  <a:pt x="1312148" y="3365701"/>
                </a:lnTo>
                <a:lnTo>
                  <a:pt x="1287137" y="3394696"/>
                </a:lnTo>
                <a:lnTo>
                  <a:pt x="1222905" y="3376406"/>
                </a:lnTo>
                <a:lnTo>
                  <a:pt x="1216904" y="3338625"/>
                </a:lnTo>
                <a:lnTo>
                  <a:pt x="1213016" y="3301325"/>
                </a:lnTo>
                <a:lnTo>
                  <a:pt x="1211527" y="3240549"/>
                </a:lnTo>
                <a:lnTo>
                  <a:pt x="1215896" y="3193647"/>
                </a:lnTo>
                <a:lnTo>
                  <a:pt x="1220985" y="3171180"/>
                </a:lnTo>
                <a:lnTo>
                  <a:pt x="1228089" y="3150826"/>
                </a:lnTo>
                <a:lnTo>
                  <a:pt x="1135726" y="3115013"/>
                </a:lnTo>
                <a:lnTo>
                  <a:pt x="1127277" y="3134888"/>
                </a:lnTo>
                <a:lnTo>
                  <a:pt x="1115851" y="3154906"/>
                </a:lnTo>
                <a:lnTo>
                  <a:pt x="1087528" y="3192495"/>
                </a:lnTo>
                <a:lnTo>
                  <a:pt x="1045523" y="3236421"/>
                </a:lnTo>
                <a:lnTo>
                  <a:pt x="1017487" y="3261336"/>
                </a:lnTo>
                <a:lnTo>
                  <a:pt x="987579" y="3285243"/>
                </a:lnTo>
                <a:lnTo>
                  <a:pt x="927812" y="3255479"/>
                </a:lnTo>
                <a:lnTo>
                  <a:pt x="928868" y="3217218"/>
                </a:lnTo>
                <a:lnTo>
                  <a:pt x="931844" y="3179821"/>
                </a:lnTo>
                <a:lnTo>
                  <a:pt x="941590" y="3119814"/>
                </a:lnTo>
                <a:lnTo>
                  <a:pt x="954503" y="3074544"/>
                </a:lnTo>
                <a:lnTo>
                  <a:pt x="963624" y="3053374"/>
                </a:lnTo>
                <a:lnTo>
                  <a:pt x="974378" y="3034699"/>
                </a:lnTo>
                <a:lnTo>
                  <a:pt x="890127" y="2982517"/>
                </a:lnTo>
                <a:lnTo>
                  <a:pt x="878174" y="3000471"/>
                </a:lnTo>
                <a:lnTo>
                  <a:pt x="863292" y="3018041"/>
                </a:lnTo>
                <a:lnTo>
                  <a:pt x="828488" y="3049821"/>
                </a:lnTo>
                <a:lnTo>
                  <a:pt x="779137" y="3085250"/>
                </a:lnTo>
                <a:lnTo>
                  <a:pt x="747021" y="3104644"/>
                </a:lnTo>
                <a:lnTo>
                  <a:pt x="713225" y="3122598"/>
                </a:lnTo>
                <a:lnTo>
                  <a:pt x="659938" y="3082369"/>
                </a:lnTo>
                <a:lnTo>
                  <a:pt x="668003" y="3044973"/>
                </a:lnTo>
                <a:lnTo>
                  <a:pt x="677845" y="3008776"/>
                </a:lnTo>
                <a:lnTo>
                  <a:pt x="698439" y="2951601"/>
                </a:lnTo>
                <a:lnTo>
                  <a:pt x="719466" y="2909452"/>
                </a:lnTo>
                <a:lnTo>
                  <a:pt x="732284" y="2890297"/>
                </a:lnTo>
                <a:lnTo>
                  <a:pt x="746301" y="2873927"/>
                </a:lnTo>
                <a:lnTo>
                  <a:pt x="673044" y="2807151"/>
                </a:lnTo>
                <a:lnTo>
                  <a:pt x="649377" y="2830146"/>
                </a:lnTo>
                <a:lnTo>
                  <a:pt x="610540" y="2856165"/>
                </a:lnTo>
                <a:lnTo>
                  <a:pt x="567671" y="2878056"/>
                </a:lnTo>
                <a:lnTo>
                  <a:pt x="521825" y="2896682"/>
                </a:lnTo>
                <a:lnTo>
                  <a:pt x="473435" y="2912332"/>
                </a:lnTo>
                <a:lnTo>
                  <a:pt x="450728" y="2887897"/>
                </a:lnTo>
                <a:lnTo>
                  <a:pt x="428454" y="2863030"/>
                </a:lnTo>
                <a:lnTo>
                  <a:pt x="448520" y="2816272"/>
                </a:lnTo>
                <a:lnTo>
                  <a:pt x="471323" y="2772346"/>
                </a:lnTo>
                <a:lnTo>
                  <a:pt x="497054" y="2731685"/>
                </a:lnTo>
                <a:lnTo>
                  <a:pt x="526530" y="2695441"/>
                </a:lnTo>
                <a:lnTo>
                  <a:pt x="551637" y="2673934"/>
                </a:lnTo>
                <a:lnTo>
                  <a:pt x="491917" y="2594868"/>
                </a:lnTo>
                <a:lnTo>
                  <a:pt x="474299" y="2607302"/>
                </a:lnTo>
                <a:lnTo>
                  <a:pt x="454041" y="2618343"/>
                </a:lnTo>
                <a:lnTo>
                  <a:pt x="410163" y="2635385"/>
                </a:lnTo>
                <a:lnTo>
                  <a:pt x="351308" y="2650603"/>
                </a:lnTo>
                <a:lnTo>
                  <a:pt x="314343" y="2657036"/>
                </a:lnTo>
                <a:lnTo>
                  <a:pt x="276371" y="2661597"/>
                </a:lnTo>
                <a:lnTo>
                  <a:pt x="241230" y="2604854"/>
                </a:lnTo>
                <a:lnTo>
                  <a:pt x="262257" y="2572882"/>
                </a:lnTo>
                <a:lnTo>
                  <a:pt x="284484" y="2542638"/>
                </a:lnTo>
                <a:lnTo>
                  <a:pt x="324329" y="2496792"/>
                </a:lnTo>
                <a:lnTo>
                  <a:pt x="359181" y="2465060"/>
                </a:lnTo>
                <a:lnTo>
                  <a:pt x="378047" y="2451858"/>
                </a:lnTo>
                <a:lnTo>
                  <a:pt x="397010" y="2441633"/>
                </a:lnTo>
                <a:lnTo>
                  <a:pt x="352892" y="2352918"/>
                </a:lnTo>
                <a:lnTo>
                  <a:pt x="333258" y="2361943"/>
                </a:lnTo>
                <a:lnTo>
                  <a:pt x="311319" y="2369048"/>
                </a:lnTo>
                <a:lnTo>
                  <a:pt x="265041" y="2377689"/>
                </a:lnTo>
                <a:lnTo>
                  <a:pt x="204410" y="2381866"/>
                </a:lnTo>
                <a:lnTo>
                  <a:pt x="166917" y="2381386"/>
                </a:lnTo>
                <a:lnTo>
                  <a:pt x="128704" y="2378937"/>
                </a:lnTo>
                <a:lnTo>
                  <a:pt x="104605" y="2316674"/>
                </a:lnTo>
                <a:lnTo>
                  <a:pt x="131152" y="2289118"/>
                </a:lnTo>
                <a:lnTo>
                  <a:pt x="158564" y="2263483"/>
                </a:lnTo>
                <a:lnTo>
                  <a:pt x="206186" y="2225702"/>
                </a:lnTo>
                <a:lnTo>
                  <a:pt x="246223" y="2200931"/>
                </a:lnTo>
                <a:lnTo>
                  <a:pt x="267201" y="2191426"/>
                </a:lnTo>
                <a:lnTo>
                  <a:pt x="287748" y="2184849"/>
                </a:lnTo>
                <a:lnTo>
                  <a:pt x="260625" y="2089557"/>
                </a:lnTo>
                <a:lnTo>
                  <a:pt x="239694" y="2094790"/>
                </a:lnTo>
                <a:lnTo>
                  <a:pt x="216843" y="2097766"/>
                </a:lnTo>
                <a:lnTo>
                  <a:pt x="169797" y="2097766"/>
                </a:lnTo>
                <a:lnTo>
                  <a:pt x="109406" y="2090709"/>
                </a:lnTo>
                <a:lnTo>
                  <a:pt x="72633" y="2083364"/>
                </a:lnTo>
                <a:lnTo>
                  <a:pt x="35524" y="2073907"/>
                </a:lnTo>
                <a:lnTo>
                  <a:pt x="23283" y="2008283"/>
                </a:lnTo>
                <a:lnTo>
                  <a:pt x="54439" y="1986056"/>
                </a:lnTo>
                <a:lnTo>
                  <a:pt x="86075" y="1965942"/>
                </a:lnTo>
                <a:lnTo>
                  <a:pt x="139841" y="1937570"/>
                </a:lnTo>
                <a:lnTo>
                  <a:pt x="183767" y="1920576"/>
                </a:lnTo>
                <a:lnTo>
                  <a:pt x="206090" y="1915103"/>
                </a:lnTo>
                <a:lnTo>
                  <a:pt x="227500" y="1912367"/>
                </a:lnTo>
                <a:lnTo>
                  <a:pt x="218379" y="1813715"/>
                </a:lnTo>
                <a:lnTo>
                  <a:pt x="196825" y="1815011"/>
                </a:lnTo>
                <a:lnTo>
                  <a:pt x="173830" y="1813715"/>
                </a:lnTo>
                <a:lnTo>
                  <a:pt x="127552" y="1805122"/>
                </a:lnTo>
                <a:lnTo>
                  <a:pt x="69513" y="1787071"/>
                </a:lnTo>
                <a:lnTo>
                  <a:pt x="34708" y="1773102"/>
                </a:lnTo>
                <a:lnTo>
                  <a:pt x="0" y="1756972"/>
                </a:lnTo>
                <a:lnTo>
                  <a:pt x="0" y="1690243"/>
                </a:lnTo>
                <a:lnTo>
                  <a:pt x="34708" y="1674113"/>
                </a:lnTo>
                <a:lnTo>
                  <a:pt x="69513" y="1660143"/>
                </a:lnTo>
                <a:lnTo>
                  <a:pt x="127552" y="1642093"/>
                </a:lnTo>
                <a:lnTo>
                  <a:pt x="173830" y="1633500"/>
                </a:lnTo>
                <a:lnTo>
                  <a:pt x="196825" y="1632204"/>
                </a:lnTo>
                <a:lnTo>
                  <a:pt x="218379" y="1633500"/>
                </a:lnTo>
                <a:lnTo>
                  <a:pt x="227500" y="1534848"/>
                </a:lnTo>
                <a:lnTo>
                  <a:pt x="194856" y="1529759"/>
                </a:lnTo>
                <a:lnTo>
                  <a:pt x="150739" y="1514445"/>
                </a:lnTo>
                <a:lnTo>
                  <a:pt x="107437" y="1493467"/>
                </a:lnTo>
                <a:lnTo>
                  <a:pt x="64952" y="1468071"/>
                </a:lnTo>
                <a:lnTo>
                  <a:pt x="23283" y="1438932"/>
                </a:lnTo>
                <a:lnTo>
                  <a:pt x="29092" y="1406048"/>
                </a:lnTo>
                <a:lnTo>
                  <a:pt x="35524" y="1373308"/>
                </a:lnTo>
                <a:lnTo>
                  <a:pt x="84923" y="1361162"/>
                </a:lnTo>
                <a:lnTo>
                  <a:pt x="133697" y="1352857"/>
                </a:lnTo>
                <a:lnTo>
                  <a:pt x="181655" y="1348921"/>
                </a:lnTo>
                <a:lnTo>
                  <a:pt x="228365" y="1350553"/>
                </a:lnTo>
                <a:lnTo>
                  <a:pt x="260625" y="1357658"/>
                </a:lnTo>
                <a:lnTo>
                  <a:pt x="287748" y="1262366"/>
                </a:lnTo>
                <a:lnTo>
                  <a:pt x="267201" y="1255789"/>
                </a:lnTo>
                <a:lnTo>
                  <a:pt x="246223" y="1246284"/>
                </a:lnTo>
                <a:lnTo>
                  <a:pt x="206186" y="1221513"/>
                </a:lnTo>
                <a:lnTo>
                  <a:pt x="158564" y="1183732"/>
                </a:lnTo>
                <a:lnTo>
                  <a:pt x="131152" y="1158097"/>
                </a:lnTo>
                <a:lnTo>
                  <a:pt x="104605" y="1130541"/>
                </a:lnTo>
                <a:lnTo>
                  <a:pt x="128704" y="1068278"/>
                </a:lnTo>
                <a:lnTo>
                  <a:pt x="166917" y="1065829"/>
                </a:lnTo>
                <a:lnTo>
                  <a:pt x="204410" y="1065349"/>
                </a:lnTo>
                <a:lnTo>
                  <a:pt x="265041" y="1069526"/>
                </a:lnTo>
                <a:lnTo>
                  <a:pt x="311319" y="1078167"/>
                </a:lnTo>
                <a:lnTo>
                  <a:pt x="333258" y="1085272"/>
                </a:lnTo>
                <a:lnTo>
                  <a:pt x="352892" y="1094297"/>
                </a:lnTo>
                <a:lnTo>
                  <a:pt x="397010" y="1005582"/>
                </a:lnTo>
                <a:lnTo>
                  <a:pt x="378047" y="995356"/>
                </a:lnTo>
                <a:lnTo>
                  <a:pt x="359181" y="982155"/>
                </a:lnTo>
                <a:lnTo>
                  <a:pt x="324329" y="950423"/>
                </a:lnTo>
                <a:lnTo>
                  <a:pt x="284484" y="904577"/>
                </a:lnTo>
                <a:lnTo>
                  <a:pt x="262257" y="874333"/>
                </a:lnTo>
                <a:lnTo>
                  <a:pt x="241230" y="842361"/>
                </a:lnTo>
                <a:lnTo>
                  <a:pt x="276371" y="785618"/>
                </a:lnTo>
                <a:lnTo>
                  <a:pt x="314343" y="790179"/>
                </a:lnTo>
                <a:lnTo>
                  <a:pt x="351308" y="796612"/>
                </a:lnTo>
                <a:lnTo>
                  <a:pt x="410163" y="811829"/>
                </a:lnTo>
                <a:lnTo>
                  <a:pt x="454041" y="828872"/>
                </a:lnTo>
                <a:lnTo>
                  <a:pt x="474299" y="839913"/>
                </a:lnTo>
                <a:lnTo>
                  <a:pt x="491917" y="852347"/>
                </a:lnTo>
                <a:lnTo>
                  <a:pt x="551637" y="773281"/>
                </a:lnTo>
                <a:lnTo>
                  <a:pt x="534835" y="759695"/>
                </a:lnTo>
                <a:lnTo>
                  <a:pt x="518705" y="743277"/>
                </a:lnTo>
                <a:lnTo>
                  <a:pt x="490333" y="705688"/>
                </a:lnTo>
                <a:lnTo>
                  <a:pt x="459561" y="653266"/>
                </a:lnTo>
                <a:lnTo>
                  <a:pt x="443239" y="619517"/>
                </a:lnTo>
                <a:lnTo>
                  <a:pt x="428454" y="584185"/>
                </a:lnTo>
                <a:lnTo>
                  <a:pt x="473435" y="534883"/>
                </a:lnTo>
                <a:lnTo>
                  <a:pt x="509968" y="546356"/>
                </a:lnTo>
                <a:lnTo>
                  <a:pt x="545108" y="559462"/>
                </a:lnTo>
                <a:lnTo>
                  <a:pt x="600123" y="585241"/>
                </a:lnTo>
                <a:lnTo>
                  <a:pt x="640160" y="610060"/>
                </a:lnTo>
                <a:lnTo>
                  <a:pt x="658018" y="624606"/>
                </a:lnTo>
                <a:lnTo>
                  <a:pt x="673044" y="640064"/>
                </a:lnTo>
                <a:lnTo>
                  <a:pt x="746301" y="573288"/>
                </a:lnTo>
                <a:lnTo>
                  <a:pt x="732284" y="556918"/>
                </a:lnTo>
                <a:lnTo>
                  <a:pt x="719466" y="537763"/>
                </a:lnTo>
                <a:lnTo>
                  <a:pt x="698439" y="495614"/>
                </a:lnTo>
                <a:lnTo>
                  <a:pt x="677845" y="438439"/>
                </a:lnTo>
                <a:lnTo>
                  <a:pt x="668003" y="402242"/>
                </a:lnTo>
                <a:lnTo>
                  <a:pt x="659938" y="364846"/>
                </a:lnTo>
                <a:lnTo>
                  <a:pt x="713225" y="324617"/>
                </a:lnTo>
                <a:lnTo>
                  <a:pt x="747021" y="342571"/>
                </a:lnTo>
                <a:lnTo>
                  <a:pt x="779137" y="361965"/>
                </a:lnTo>
                <a:lnTo>
                  <a:pt x="828488" y="397394"/>
                </a:lnTo>
                <a:lnTo>
                  <a:pt x="863292" y="429174"/>
                </a:lnTo>
                <a:lnTo>
                  <a:pt x="878174" y="446744"/>
                </a:lnTo>
                <a:lnTo>
                  <a:pt x="890127" y="464698"/>
                </a:lnTo>
                <a:lnTo>
                  <a:pt x="974378" y="412516"/>
                </a:lnTo>
                <a:lnTo>
                  <a:pt x="963624" y="393841"/>
                </a:lnTo>
                <a:lnTo>
                  <a:pt x="954503" y="372671"/>
                </a:lnTo>
                <a:lnTo>
                  <a:pt x="941590" y="327401"/>
                </a:lnTo>
                <a:lnTo>
                  <a:pt x="931844" y="267393"/>
                </a:lnTo>
                <a:lnTo>
                  <a:pt x="928868" y="229997"/>
                </a:lnTo>
                <a:lnTo>
                  <a:pt x="927812" y="191736"/>
                </a:lnTo>
                <a:lnTo>
                  <a:pt x="987579" y="161972"/>
                </a:lnTo>
                <a:lnTo>
                  <a:pt x="1017487" y="185879"/>
                </a:lnTo>
                <a:lnTo>
                  <a:pt x="1045523" y="210794"/>
                </a:lnTo>
                <a:lnTo>
                  <a:pt x="1087528" y="254720"/>
                </a:lnTo>
                <a:lnTo>
                  <a:pt x="1115851" y="292309"/>
                </a:lnTo>
                <a:lnTo>
                  <a:pt x="1127277" y="312327"/>
                </a:lnTo>
                <a:lnTo>
                  <a:pt x="1135726" y="332202"/>
                </a:lnTo>
                <a:lnTo>
                  <a:pt x="1228089" y="296389"/>
                </a:lnTo>
                <a:lnTo>
                  <a:pt x="1220985" y="276035"/>
                </a:lnTo>
                <a:lnTo>
                  <a:pt x="1215896" y="253568"/>
                </a:lnTo>
                <a:lnTo>
                  <a:pt x="1211527" y="206666"/>
                </a:lnTo>
                <a:lnTo>
                  <a:pt x="1213016" y="145890"/>
                </a:lnTo>
                <a:lnTo>
                  <a:pt x="1216904" y="108590"/>
                </a:lnTo>
                <a:lnTo>
                  <a:pt x="1222905" y="70809"/>
                </a:lnTo>
                <a:lnTo>
                  <a:pt x="1287137" y="52519"/>
                </a:lnTo>
                <a:lnTo>
                  <a:pt x="1312148" y="81514"/>
                </a:lnTo>
                <a:lnTo>
                  <a:pt x="1335095" y="111182"/>
                </a:lnTo>
                <a:lnTo>
                  <a:pt x="1368315" y="162068"/>
                </a:lnTo>
                <a:lnTo>
                  <a:pt x="1389294" y="204218"/>
                </a:lnTo>
                <a:lnTo>
                  <a:pt x="1396831" y="226012"/>
                </a:lnTo>
                <a:lnTo>
                  <a:pt x="1401487" y="247087"/>
                </a:lnTo>
                <a:lnTo>
                  <a:pt x="1498843" y="228845"/>
                </a:lnTo>
                <a:lnTo>
                  <a:pt x="1495579" y="207530"/>
                </a:lnTo>
                <a:lnTo>
                  <a:pt x="1494763" y="184535"/>
                </a:lnTo>
                <a:lnTo>
                  <a:pt x="1499083" y="137633"/>
                </a:lnTo>
                <a:lnTo>
                  <a:pt x="1511661" y="78154"/>
                </a:lnTo>
                <a:lnTo>
                  <a:pt x="1522366" y="42197"/>
                </a:lnTo>
                <a:lnTo>
                  <a:pt x="1535232" y="6145"/>
                </a:lnTo>
                <a:lnTo>
                  <a:pt x="1601672" y="0"/>
                </a:lnTo>
                <a:lnTo>
                  <a:pt x="1620923" y="33076"/>
                </a:lnTo>
                <a:lnTo>
                  <a:pt x="1638061" y="66440"/>
                </a:lnTo>
                <a:lnTo>
                  <a:pt x="1661392" y="122607"/>
                </a:lnTo>
                <a:lnTo>
                  <a:pt x="1674209" y="167877"/>
                </a:lnTo>
                <a:lnTo>
                  <a:pt x="1677618" y="190680"/>
                </a:lnTo>
                <a:lnTo>
                  <a:pt x="1678338" y="212235"/>
                </a:lnTo>
                <a:lnTo>
                  <a:pt x="1777422" y="212235"/>
                </a:lnTo>
                <a:lnTo>
                  <a:pt x="1778142" y="190680"/>
                </a:lnTo>
                <a:lnTo>
                  <a:pt x="1781551" y="167877"/>
                </a:lnTo>
                <a:lnTo>
                  <a:pt x="1794368" y="122607"/>
                </a:lnTo>
                <a:lnTo>
                  <a:pt x="1817699" y="66440"/>
                </a:lnTo>
                <a:lnTo>
                  <a:pt x="1834837" y="33076"/>
                </a:lnTo>
                <a:lnTo>
                  <a:pt x="1854088" y="0"/>
                </a:lnTo>
                <a:lnTo>
                  <a:pt x="1920528" y="6145"/>
                </a:lnTo>
                <a:lnTo>
                  <a:pt x="1933394" y="42197"/>
                </a:lnTo>
                <a:lnTo>
                  <a:pt x="1944099" y="78154"/>
                </a:lnTo>
                <a:lnTo>
                  <a:pt x="1956677" y="137633"/>
                </a:lnTo>
                <a:lnTo>
                  <a:pt x="1960997" y="184535"/>
                </a:lnTo>
                <a:lnTo>
                  <a:pt x="1960181" y="207530"/>
                </a:lnTo>
                <a:lnTo>
                  <a:pt x="1956917" y="228845"/>
                </a:lnTo>
                <a:lnTo>
                  <a:pt x="2054273" y="247087"/>
                </a:lnTo>
                <a:lnTo>
                  <a:pt x="2058929" y="226012"/>
                </a:lnTo>
                <a:lnTo>
                  <a:pt x="2066466" y="204218"/>
                </a:lnTo>
                <a:lnTo>
                  <a:pt x="2087445" y="162068"/>
                </a:lnTo>
                <a:lnTo>
                  <a:pt x="2120665" y="111182"/>
                </a:lnTo>
                <a:lnTo>
                  <a:pt x="2143612" y="81514"/>
                </a:lnTo>
                <a:lnTo>
                  <a:pt x="2168623" y="52519"/>
                </a:lnTo>
                <a:lnTo>
                  <a:pt x="2232855" y="70809"/>
                </a:lnTo>
                <a:lnTo>
                  <a:pt x="2238856" y="108590"/>
                </a:lnTo>
                <a:lnTo>
                  <a:pt x="2242744" y="145890"/>
                </a:lnTo>
                <a:lnTo>
                  <a:pt x="2244232" y="206666"/>
                </a:lnTo>
                <a:lnTo>
                  <a:pt x="2239864" y="253568"/>
                </a:lnTo>
                <a:lnTo>
                  <a:pt x="2234775" y="276035"/>
                </a:lnTo>
                <a:lnTo>
                  <a:pt x="2227670" y="296389"/>
                </a:lnTo>
                <a:lnTo>
                  <a:pt x="2320034" y="332202"/>
                </a:lnTo>
                <a:lnTo>
                  <a:pt x="2328483" y="312327"/>
                </a:lnTo>
                <a:lnTo>
                  <a:pt x="2339908" y="292309"/>
                </a:lnTo>
                <a:lnTo>
                  <a:pt x="2368232" y="254720"/>
                </a:lnTo>
                <a:lnTo>
                  <a:pt x="2410237" y="210794"/>
                </a:lnTo>
                <a:lnTo>
                  <a:pt x="2438273" y="185879"/>
                </a:lnTo>
                <a:lnTo>
                  <a:pt x="2468180" y="161972"/>
                </a:lnTo>
                <a:lnTo>
                  <a:pt x="2527948" y="191736"/>
                </a:lnTo>
                <a:lnTo>
                  <a:pt x="2526892" y="229997"/>
                </a:lnTo>
                <a:lnTo>
                  <a:pt x="2523915" y="267393"/>
                </a:lnTo>
                <a:lnTo>
                  <a:pt x="2514170" y="327401"/>
                </a:lnTo>
                <a:lnTo>
                  <a:pt x="2501257" y="372671"/>
                </a:lnTo>
                <a:lnTo>
                  <a:pt x="2492135" y="393841"/>
                </a:lnTo>
                <a:lnTo>
                  <a:pt x="2481382" y="412516"/>
                </a:lnTo>
                <a:lnTo>
                  <a:pt x="2565633" y="464698"/>
                </a:lnTo>
                <a:lnTo>
                  <a:pt x="2577586" y="446744"/>
                </a:lnTo>
                <a:lnTo>
                  <a:pt x="2592468" y="429174"/>
                </a:lnTo>
                <a:lnTo>
                  <a:pt x="2627272" y="397394"/>
                </a:lnTo>
                <a:lnTo>
                  <a:pt x="2676623" y="361965"/>
                </a:lnTo>
                <a:lnTo>
                  <a:pt x="2708739" y="342571"/>
                </a:lnTo>
                <a:lnTo>
                  <a:pt x="2742535" y="324617"/>
                </a:lnTo>
                <a:lnTo>
                  <a:pt x="2795821" y="364846"/>
                </a:lnTo>
                <a:lnTo>
                  <a:pt x="2787756" y="402242"/>
                </a:lnTo>
                <a:lnTo>
                  <a:pt x="2777915" y="438439"/>
                </a:lnTo>
                <a:lnTo>
                  <a:pt x="2757321" y="495614"/>
                </a:lnTo>
                <a:lnTo>
                  <a:pt x="2736294" y="537763"/>
                </a:lnTo>
                <a:lnTo>
                  <a:pt x="2723476" y="556918"/>
                </a:lnTo>
                <a:lnTo>
                  <a:pt x="2709459" y="573288"/>
                </a:lnTo>
                <a:lnTo>
                  <a:pt x="2782716" y="640064"/>
                </a:lnTo>
                <a:lnTo>
                  <a:pt x="2797742" y="624606"/>
                </a:lnTo>
                <a:lnTo>
                  <a:pt x="2815600" y="610060"/>
                </a:lnTo>
                <a:lnTo>
                  <a:pt x="2855637" y="585241"/>
                </a:lnTo>
                <a:lnTo>
                  <a:pt x="2910652" y="559462"/>
                </a:lnTo>
                <a:lnTo>
                  <a:pt x="2945792" y="546356"/>
                </a:lnTo>
                <a:lnTo>
                  <a:pt x="2982325" y="534883"/>
                </a:lnTo>
                <a:lnTo>
                  <a:pt x="3027306" y="584185"/>
                </a:lnTo>
                <a:lnTo>
                  <a:pt x="3012521" y="619517"/>
                </a:lnTo>
                <a:lnTo>
                  <a:pt x="2996198" y="653266"/>
                </a:lnTo>
                <a:lnTo>
                  <a:pt x="2965427" y="705688"/>
                </a:lnTo>
                <a:lnTo>
                  <a:pt x="2937055" y="743277"/>
                </a:lnTo>
                <a:lnTo>
                  <a:pt x="2920925" y="759695"/>
                </a:lnTo>
                <a:lnTo>
                  <a:pt x="2904123" y="773281"/>
                </a:lnTo>
                <a:lnTo>
                  <a:pt x="2963842" y="852347"/>
                </a:lnTo>
                <a:lnTo>
                  <a:pt x="2981461" y="839913"/>
                </a:lnTo>
                <a:lnTo>
                  <a:pt x="3001719" y="828872"/>
                </a:lnTo>
                <a:lnTo>
                  <a:pt x="3045597" y="811829"/>
                </a:lnTo>
                <a:lnTo>
                  <a:pt x="3104452" y="796612"/>
                </a:lnTo>
                <a:lnTo>
                  <a:pt x="3141417" y="790179"/>
                </a:lnTo>
                <a:lnTo>
                  <a:pt x="3179389" y="785618"/>
                </a:lnTo>
                <a:lnTo>
                  <a:pt x="3214530" y="842361"/>
                </a:lnTo>
                <a:lnTo>
                  <a:pt x="3193503" y="874333"/>
                </a:lnTo>
                <a:lnTo>
                  <a:pt x="3171276" y="904577"/>
                </a:lnTo>
                <a:lnTo>
                  <a:pt x="3131431" y="950423"/>
                </a:lnTo>
                <a:lnTo>
                  <a:pt x="3096579" y="982155"/>
                </a:lnTo>
                <a:lnTo>
                  <a:pt x="3077713" y="995356"/>
                </a:lnTo>
                <a:lnTo>
                  <a:pt x="3058750" y="1005582"/>
                </a:lnTo>
                <a:lnTo>
                  <a:pt x="3102868" y="1094297"/>
                </a:lnTo>
                <a:lnTo>
                  <a:pt x="3122502" y="1085272"/>
                </a:lnTo>
                <a:lnTo>
                  <a:pt x="3144441" y="1078167"/>
                </a:lnTo>
                <a:lnTo>
                  <a:pt x="3190719" y="1069526"/>
                </a:lnTo>
                <a:lnTo>
                  <a:pt x="3251350" y="1065349"/>
                </a:lnTo>
                <a:lnTo>
                  <a:pt x="3288843" y="1065829"/>
                </a:lnTo>
                <a:lnTo>
                  <a:pt x="3327056" y="1068278"/>
                </a:lnTo>
                <a:lnTo>
                  <a:pt x="3351155" y="1130541"/>
                </a:lnTo>
                <a:lnTo>
                  <a:pt x="3324608" y="1158097"/>
                </a:lnTo>
                <a:lnTo>
                  <a:pt x="3297196" y="1183732"/>
                </a:lnTo>
                <a:lnTo>
                  <a:pt x="3249574" y="1221513"/>
                </a:lnTo>
                <a:lnTo>
                  <a:pt x="3209537" y="1246284"/>
                </a:lnTo>
                <a:lnTo>
                  <a:pt x="3188559" y="1255789"/>
                </a:lnTo>
                <a:lnTo>
                  <a:pt x="3168012" y="1262366"/>
                </a:lnTo>
                <a:lnTo>
                  <a:pt x="3195135" y="1357658"/>
                </a:lnTo>
                <a:lnTo>
                  <a:pt x="3216066" y="1352425"/>
                </a:lnTo>
                <a:lnTo>
                  <a:pt x="3238917" y="1349449"/>
                </a:lnTo>
                <a:lnTo>
                  <a:pt x="3285963" y="1349449"/>
                </a:lnTo>
                <a:lnTo>
                  <a:pt x="3346354" y="1356506"/>
                </a:lnTo>
                <a:lnTo>
                  <a:pt x="3383127" y="1363850"/>
                </a:lnTo>
                <a:lnTo>
                  <a:pt x="3420235" y="1373308"/>
                </a:lnTo>
                <a:lnTo>
                  <a:pt x="3432477" y="1438932"/>
                </a:lnTo>
                <a:lnTo>
                  <a:pt x="3401321" y="1461159"/>
                </a:lnTo>
                <a:lnTo>
                  <a:pt x="3369685" y="1481273"/>
                </a:lnTo>
                <a:lnTo>
                  <a:pt x="3315918" y="1509645"/>
                </a:lnTo>
                <a:lnTo>
                  <a:pt x="3271993" y="1526639"/>
                </a:lnTo>
                <a:lnTo>
                  <a:pt x="3249670" y="1532111"/>
                </a:lnTo>
                <a:lnTo>
                  <a:pt x="3228259" y="1534848"/>
                </a:lnTo>
                <a:lnTo>
                  <a:pt x="3237381" y="1633500"/>
                </a:lnTo>
                <a:lnTo>
                  <a:pt x="3258935" y="1632204"/>
                </a:lnTo>
                <a:lnTo>
                  <a:pt x="3281930" y="1633500"/>
                </a:lnTo>
                <a:lnTo>
                  <a:pt x="3328208" y="1642093"/>
                </a:lnTo>
                <a:lnTo>
                  <a:pt x="3386247" y="1660143"/>
                </a:lnTo>
                <a:lnTo>
                  <a:pt x="3421052" y="1674113"/>
                </a:lnTo>
                <a:lnTo>
                  <a:pt x="3455760" y="1690243"/>
                </a:lnTo>
                <a:lnTo>
                  <a:pt x="3455760" y="1756972"/>
                </a:lnTo>
                <a:lnTo>
                  <a:pt x="3421052" y="1773102"/>
                </a:lnTo>
                <a:lnTo>
                  <a:pt x="3386247" y="1787071"/>
                </a:lnTo>
                <a:lnTo>
                  <a:pt x="3328208" y="1805122"/>
                </a:lnTo>
                <a:lnTo>
                  <a:pt x="3281930" y="1813715"/>
                </a:lnTo>
                <a:lnTo>
                  <a:pt x="3258935" y="1815011"/>
                </a:ln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hole 328"/>
          <p:cNvSpPr/>
          <p:nvPr/>
        </p:nvSpPr>
        <p:spPr>
          <a:xfrm>
            <a:off x="1712239" y="2904763"/>
            <a:ext cx="1421842" cy="1231354"/>
          </a:xfrm>
          <a:custGeom>
            <a:avLst/>
            <a:gdLst/>
            <a:ahLst/>
            <a:cxnLst/>
            <a:rect l="l" t="t" r="r" b="b"/>
            <a:pathLst>
              <a:path w="1421842" h="1231354">
                <a:moveTo>
                  <a:pt x="1066405" y="0"/>
                </a:moveTo>
                <a:lnTo>
                  <a:pt x="355436" y="0"/>
                </a:lnTo>
                <a:lnTo>
                  <a:pt x="0" y="615677"/>
                </a:lnTo>
                <a:lnTo>
                  <a:pt x="355436" y="1231354"/>
                </a:lnTo>
                <a:lnTo>
                  <a:pt x="1066405" y="1231354"/>
                </a:lnTo>
                <a:lnTo>
                  <a:pt x="1421842" y="615677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hole 329"/>
          <p:cNvSpPr/>
          <p:nvPr/>
        </p:nvSpPr>
        <p:spPr>
          <a:xfrm>
            <a:off x="790956" y="1888236"/>
            <a:ext cx="3264408" cy="3264408"/>
          </a:xfrm>
          <a:prstGeom prst="ellipse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7" name="line 330"/>
          <p:cNvSpPr/>
          <p:nvPr/>
        </p:nvSpPr>
        <p:spPr>
          <a:xfrm>
            <a:off x="694944" y="5504688"/>
            <a:ext cx="345643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8" name="text 331"/>
          <p:cNvSpPr txBox="1"/>
          <p:nvPr/>
        </p:nvSpPr>
        <p:spPr>
          <a:xfrm>
            <a:off x="1600200" y="55412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Ø72 tip</a:t>
            </a:r>
            <a:endParaRPr lang="en-US" sz="1000" dirty="0"/>
          </a:p>
        </p:txBody>
      </p:sp>
      <p:sp>
        <p:nvSpPr>
          <p:cNvPr id="9" name="line 332"/>
          <p:cNvSpPr/>
          <p:nvPr/>
        </p:nvSpPr>
        <p:spPr>
          <a:xfrm flipV="1">
            <a:off x="3565703" y="2011680"/>
            <a:ext cx="549097" cy="366217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text 333"/>
          <p:cNvSpPr txBox="1"/>
          <p:nvPr/>
        </p:nvSpPr>
        <p:spPr>
          <a:xfrm>
            <a:off x="4160520" y="19110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Ø68 pitch circle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(= shaft spacing 68)</a:t>
            </a:r>
            <a:endParaRPr lang="en-US" sz="1000" dirty="0"/>
          </a:p>
        </p:txBody>
      </p:sp>
      <p:sp>
        <p:nvSpPr>
          <p:cNvPr id="11" name="line 334"/>
          <p:cNvSpPr/>
          <p:nvPr/>
        </p:nvSpPr>
        <p:spPr>
          <a:xfrm>
            <a:off x="2514600" y="3566160"/>
            <a:ext cx="1600200" cy="91440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text 335"/>
          <p:cNvSpPr txBox="1"/>
          <p:nvPr/>
        </p:nvSpPr>
        <p:spPr>
          <a:xfrm>
            <a:off x="4160520" y="43799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hex bore 25.65 AF</a:t>
            </a:r>
            <a:endParaRPr lang="en-US" sz="1000" dirty="0"/>
          </a:p>
        </p:txBody>
      </p:sp>
      <p:sp>
        <p:nvSpPr>
          <p:cNvPr id="13" name="text 336"/>
          <p:cNvSpPr txBox="1"/>
          <p:nvPr/>
        </p:nvSpPr>
        <p:spPr>
          <a:xfrm>
            <a:off x="457200" y="5897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Mesh check: no overlap, 0.09 mm backlash at 68.0 centres</a:t>
            </a:r>
            <a:endParaRPr lang="en-US" sz="1050" dirty="0"/>
          </a:p>
        </p:txBody>
      </p:sp>
      <p:sp>
        <p:nvSpPr>
          <p:cNvPr id="14" name="text 337"/>
          <p:cNvSpPr txBox="1"/>
          <p:nvPr/>
        </p:nvSpPr>
        <p:spPr>
          <a:xfrm>
            <a:off x="5120640" y="868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POWER PATH</a:t>
            </a:r>
            <a:endParaRPr lang="en-US" sz="1200" dirty="0"/>
          </a:p>
        </p:txBody>
      </p:sp>
      <p:sp>
        <p:nvSpPr>
          <p:cNvPr id="15" name="chain box 338"/>
          <p:cNvSpPr/>
          <p:nvPr/>
        </p:nvSpPr>
        <p:spPr>
          <a:xfrm>
            <a:off x="5120640" y="1234440"/>
            <a:ext cx="1417320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NEMA 34 closed-loop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12 Nm hold, 6 A</a:t>
            </a:r>
            <a:endParaRPr lang="en-US" sz="1050" dirty="0"/>
          </a:p>
        </p:txBody>
      </p:sp>
      <p:sp>
        <p:nvSpPr>
          <p:cNvPr id="16" name="line 339"/>
          <p:cNvSpPr/>
          <p:nvPr/>
        </p:nvSpPr>
        <p:spPr>
          <a:xfrm>
            <a:off x="6537960" y="1600200"/>
            <a:ext cx="24688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chain box 340"/>
          <p:cNvSpPr/>
          <p:nvPr/>
        </p:nvSpPr>
        <p:spPr>
          <a:xfrm>
            <a:off x="6784848" y="1234440"/>
            <a:ext cx="1417320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10:1 planetary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D20 × 40, 45 Nm nom.</a:t>
            </a:r>
            <a:endParaRPr lang="en-US" sz="1050" dirty="0"/>
          </a:p>
        </p:txBody>
      </p:sp>
      <p:sp>
        <p:nvSpPr>
          <p:cNvPr id="18" name="line 341"/>
          <p:cNvSpPr/>
          <p:nvPr/>
        </p:nvSpPr>
        <p:spPr>
          <a:xfrm>
            <a:off x="8202168" y="1600200"/>
            <a:ext cx="24688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chain box 342"/>
          <p:cNvSpPr/>
          <p:nvPr/>
        </p:nvSpPr>
        <p:spPr>
          <a:xfrm>
            <a:off x="8449056" y="1234440"/>
            <a:ext cx="1417320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XL2 jaw coupler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D54 × 78, 70 Nm</a:t>
            </a:r>
            <a:endParaRPr lang="en-US" sz="1050" dirty="0"/>
          </a:p>
        </p:txBody>
      </p:sp>
      <p:sp>
        <p:nvSpPr>
          <p:cNvPr id="20" name="line 343"/>
          <p:cNvSpPr/>
          <p:nvPr/>
        </p:nvSpPr>
        <p:spPr>
          <a:xfrm>
            <a:off x="9866376" y="1600200"/>
            <a:ext cx="24688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chain box 344"/>
          <p:cNvSpPr/>
          <p:nvPr/>
        </p:nvSpPr>
        <p:spPr>
          <a:xfrm>
            <a:off x="10113264" y="1234440"/>
            <a:ext cx="1417320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Shaft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 in hex / D25</a:t>
            </a:r>
            <a:endParaRPr lang="en-US" sz="1050" dirty="0"/>
          </a:p>
        </p:txBody>
      </p:sp>
      <p:sp>
        <p:nvSpPr>
          <p:cNvPr id="22" name="chain box 345"/>
          <p:cNvSpPr/>
          <p:nvPr/>
        </p:nvSpPr>
        <p:spPr>
          <a:xfrm>
            <a:off x="8412480" y="2331720"/>
            <a:ext cx="2194560" cy="457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Gear A (34 T)  ⟷  Gear B (34 T)</a:t>
            </a:r>
            <a:endParaRPr lang="en-US" sz="1050" dirty="0"/>
          </a:p>
        </p:txBody>
      </p:sp>
      <p:sp>
        <p:nvSpPr>
          <p:cNvPr id="23" name="chain box 346"/>
          <p:cNvSpPr/>
          <p:nvPr/>
        </p:nvSpPr>
        <p:spPr>
          <a:xfrm>
            <a:off x="10881360" y="2331720"/>
            <a:ext cx="868680" cy="457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Shaft B</a:t>
            </a:r>
            <a:endParaRPr lang="en-US" sz="1050" dirty="0"/>
          </a:p>
        </p:txBody>
      </p:sp>
      <p:sp>
        <p:nvSpPr>
          <p:cNvPr id="24" name="line 347"/>
          <p:cNvSpPr/>
          <p:nvPr/>
        </p:nvSpPr>
        <p:spPr>
          <a:xfrm flipV="1">
            <a:off x="9509760" y="1965960"/>
            <a:ext cx="365760" cy="36576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line 348"/>
          <p:cNvSpPr/>
          <p:nvPr/>
        </p:nvSpPr>
        <p:spPr>
          <a:xfrm>
            <a:off x="10607040" y="2560320"/>
            <a:ext cx="27432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text 349"/>
          <p:cNvSpPr txBox="1"/>
          <p:nvPr/>
        </p:nvSpPr>
        <p:spPr>
          <a:xfrm>
            <a:off x="512064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Counter-rotating: A turns CW, B turns CCW, viewed from the drive end</a:t>
            </a:r>
            <a:endParaRPr lang="en-US" sz="1050" dirty="0"/>
          </a:p>
        </p:txBody>
      </p:sp>
      <p:sp>
        <p:nvSpPr>
          <p:cNvPr id="27" name="stat card 350"/>
          <p:cNvSpPr/>
          <p:nvPr/>
        </p:nvSpPr>
        <p:spPr>
          <a:xfrm>
            <a:off x="5120640" y="3063240"/>
            <a:ext cx="1783080" cy="10515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 351"/>
          <p:cNvSpPr txBox="1"/>
          <p:nvPr/>
        </p:nvSpPr>
        <p:spPr>
          <a:xfrm>
            <a:off x="5257800" y="31363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70 Nm</a:t>
            </a:r>
            <a:endParaRPr lang="en-US" sz="2400" dirty="0"/>
          </a:p>
        </p:txBody>
      </p:sp>
      <p:sp>
        <p:nvSpPr>
          <p:cNvPr id="29" name="text 352"/>
          <p:cNvSpPr txBox="1"/>
          <p:nvPr/>
        </p:nvSpPr>
        <p:spPr>
          <a:xfrm>
            <a:off x="5257800" y="3557016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jam torque cap at 3.7 A driver current (10 × 0.95 × 7.4 Nm)</a:t>
            </a:r>
            <a:endParaRPr lang="en-US" sz="1000" dirty="0"/>
          </a:p>
        </p:txBody>
      </p:sp>
      <p:sp>
        <p:nvSpPr>
          <p:cNvPr id="30" name="stat card 353"/>
          <p:cNvSpPr/>
          <p:nvPr/>
        </p:nvSpPr>
        <p:spPr>
          <a:xfrm>
            <a:off x="7040880" y="3063240"/>
            <a:ext cx="1783080" cy="10515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1" name="text 354"/>
          <p:cNvSpPr txBox="1"/>
          <p:nvPr/>
        </p:nvSpPr>
        <p:spPr>
          <a:xfrm>
            <a:off x="7178040" y="31363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45 Nm</a:t>
            </a:r>
            <a:endParaRPr lang="en-US" sz="2400" dirty="0"/>
          </a:p>
        </p:txBody>
      </p:sp>
      <p:sp>
        <p:nvSpPr>
          <p:cNvPr id="32" name="text 355"/>
          <p:cNvSpPr txBox="1"/>
          <p:nvPr/>
        </p:nvSpPr>
        <p:spPr>
          <a:xfrm>
            <a:off x="7178040" y="3557016"/>
            <a:ext cx="1508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gearbox nominal; the continuous working limit</a:t>
            </a:r>
            <a:endParaRPr lang="en-US" sz="1000" dirty="0"/>
          </a:p>
        </p:txBody>
      </p:sp>
      <p:sp>
        <p:nvSpPr>
          <p:cNvPr id="33" name="stat card 356"/>
          <p:cNvSpPr/>
          <p:nvPr/>
        </p:nvSpPr>
        <p:spPr>
          <a:xfrm>
            <a:off x="8961120" y="3063240"/>
            <a:ext cx="1280160" cy="10515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4" name="text 357"/>
          <p:cNvSpPr txBox="1"/>
          <p:nvPr/>
        </p:nvSpPr>
        <p:spPr>
          <a:xfrm>
            <a:off x="9098280" y="31363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1.85 kN</a:t>
            </a:r>
            <a:endParaRPr lang="en-US" sz="2400" dirty="0"/>
          </a:p>
        </p:txBody>
      </p:sp>
      <p:sp>
        <p:nvSpPr>
          <p:cNvPr id="35" name="text 358"/>
          <p:cNvSpPr txBox="1"/>
          <p:nvPr/>
        </p:nvSpPr>
        <p:spPr>
          <a:xfrm>
            <a:off x="9098280" y="355701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blade-tip force at the cap</a:t>
            </a:r>
            <a:endParaRPr lang="en-US" sz="1000" dirty="0"/>
          </a:p>
        </p:txBody>
      </p:sp>
      <p:sp>
        <p:nvSpPr>
          <p:cNvPr id="36" name="stat card 359"/>
          <p:cNvSpPr/>
          <p:nvPr/>
        </p:nvSpPr>
        <p:spPr>
          <a:xfrm>
            <a:off x="10378440" y="3063240"/>
            <a:ext cx="1371600" cy="10515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7" name="text 360"/>
          <p:cNvSpPr txBox="1"/>
          <p:nvPr/>
        </p:nvSpPr>
        <p:spPr>
          <a:xfrm>
            <a:off x="10515600" y="31363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60 rpm</a:t>
            </a:r>
            <a:endParaRPr lang="en-US" sz="2400" dirty="0"/>
          </a:p>
        </p:txBody>
      </p:sp>
      <p:sp>
        <p:nvSpPr>
          <p:cNvPr id="38" name="text 361"/>
          <p:cNvSpPr txBox="1"/>
          <p:nvPr/>
        </p:nvSpPr>
        <p:spPr>
          <a:xfrm>
            <a:off x="10515600" y="3557016"/>
            <a:ext cx="1097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at 600 rpm motor; tip speed 0.239 m/s</a:t>
            </a:r>
            <a:endParaRPr lang="en-US" sz="1000" dirty="0"/>
          </a:p>
        </p:txBody>
      </p:sp>
      <p:sp>
        <p:nvSpPr>
          <p:cNvPr id="39" name="notes box 362"/>
          <p:cNvSpPr/>
          <p:nvPr/>
        </p:nvSpPr>
        <p:spPr>
          <a:xfrm>
            <a:off x="5120640" y="4343400"/>
            <a:ext cx="6629400" cy="1920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0" name="notes text 363"/>
          <p:cNvSpPr txBox="1"/>
          <p:nvPr/>
        </p:nvSpPr>
        <p:spPr>
          <a:xfrm>
            <a:off x="5230368" y="4416552"/>
            <a:ext cx="640994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DESIGN NOTES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 1:1 gear pair is the “part for counter-rotation”; the second shaft takes no motor of its own, so one gearbox is enough.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Gears: buy pre-hardened 4140 plate (≈ 300 HB as bought, no heat treat) and have it waterjet cut. Mild steel fails the contact-stress check (sheet 12).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Without a current limit the motor stalls at 114 Nm – above the gearbox peak (90) and the coupler (70). Set the driver peak to 3.7 A.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Torque-vs-speed fractions are assumptions – check the motor curve at 60 V.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DRIVE-TRAIN STACK-UP – GEAR TO MOTOR</a:t>
            </a:r>
            <a:endParaRPr lang="en-US" sz="2600" dirty="0"/>
          </a:p>
        </p:txBody>
      </p:sp>
      <p:sp>
        <p:nvSpPr>
          <p:cNvPr id="3" name="text 364"/>
          <p:cNvSpPr txBox="1"/>
          <p:nvPr/>
        </p:nvSpPr>
        <p:spPr>
          <a:xfrm>
            <a:off x="457200" y="8412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SECTION THROUGH SHAFT A – w measured from the far end plate (mm)</a:t>
            </a:r>
            <a:endParaRPr lang="en-US" sz="1200" dirty="0"/>
          </a:p>
        </p:txBody>
      </p:sp>
      <p:sp>
        <p:nvSpPr>
          <p:cNvPr id="4" name="line 365"/>
          <p:cNvSpPr/>
          <p:nvPr/>
        </p:nvSpPr>
        <p:spPr>
          <a:xfrm>
            <a:off x="1170066" y="1554480"/>
            <a:ext cx="0" cy="438912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5" name="line 366"/>
          <p:cNvSpPr/>
          <p:nvPr/>
        </p:nvSpPr>
        <p:spPr>
          <a:xfrm>
            <a:off x="1899757" y="1554480"/>
            <a:ext cx="0" cy="438912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6" name="line 367"/>
          <p:cNvSpPr/>
          <p:nvPr/>
        </p:nvSpPr>
        <p:spPr>
          <a:xfrm>
            <a:off x="2038746" y="1554480"/>
            <a:ext cx="0" cy="438912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7" name="line 368"/>
          <p:cNvSpPr/>
          <p:nvPr/>
        </p:nvSpPr>
        <p:spPr>
          <a:xfrm>
            <a:off x="3046415" y="1554480"/>
            <a:ext cx="0" cy="438912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8" name="line 369"/>
          <p:cNvSpPr/>
          <p:nvPr/>
        </p:nvSpPr>
        <p:spPr>
          <a:xfrm>
            <a:off x="3776106" y="1554480"/>
            <a:ext cx="0" cy="438912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9" name="line 370"/>
          <p:cNvSpPr/>
          <p:nvPr/>
        </p:nvSpPr>
        <p:spPr>
          <a:xfrm>
            <a:off x="4749028" y="1554480"/>
            <a:ext cx="0" cy="438912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10" name="line 371"/>
          <p:cNvSpPr/>
          <p:nvPr/>
        </p:nvSpPr>
        <p:spPr>
          <a:xfrm>
            <a:off x="4853269" y="1554480"/>
            <a:ext cx="0" cy="438912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11" name="line 372"/>
          <p:cNvSpPr/>
          <p:nvPr/>
        </p:nvSpPr>
        <p:spPr>
          <a:xfrm>
            <a:off x="5270236" y="1554480"/>
            <a:ext cx="0" cy="438912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12" name="line 373"/>
          <p:cNvSpPr/>
          <p:nvPr/>
        </p:nvSpPr>
        <p:spPr>
          <a:xfrm>
            <a:off x="9022933" y="1554480"/>
            <a:ext cx="0" cy="438912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13" name="line 374"/>
          <p:cNvSpPr/>
          <p:nvPr/>
        </p:nvSpPr>
        <p:spPr>
          <a:xfrm>
            <a:off x="502920" y="3246120"/>
            <a:ext cx="9208008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</a:ln>
        </p:spPr>
      </p:sp>
      <p:sp>
        <p:nvSpPr>
          <p:cNvPr id="14" name="drive plate 375"/>
          <p:cNvSpPr/>
          <p:nvPr/>
        </p:nvSpPr>
        <p:spPr>
          <a:xfrm>
            <a:off x="614111" y="1578254"/>
            <a:ext cx="555955" cy="333573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" name="gear A 376"/>
          <p:cNvSpPr/>
          <p:nvPr/>
        </p:nvSpPr>
        <p:spPr>
          <a:xfrm>
            <a:off x="1204813" y="1995221"/>
            <a:ext cx="694944" cy="2501798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coupler hub A 377"/>
          <p:cNvSpPr/>
          <p:nvPr/>
        </p:nvSpPr>
        <p:spPr>
          <a:xfrm>
            <a:off x="2038746" y="2307946"/>
            <a:ext cx="1146658" cy="1876349"/>
          </a:xfrm>
          <a:prstGeom prst="rect">
            <a:avLst/>
          </a:prstGeom>
          <a:solidFill>
            <a:srgbClr val="3F4A55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" name="spider 378"/>
          <p:cNvSpPr/>
          <p:nvPr/>
        </p:nvSpPr>
        <p:spPr>
          <a:xfrm>
            <a:off x="3185404" y="2412187"/>
            <a:ext cx="416966" cy="1667866"/>
          </a:xfrm>
          <a:prstGeom prst="rect">
            <a:avLst/>
          </a:prstGeom>
          <a:solidFill>
            <a:srgbClr val="E05A5A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8" name="coupler hub B 379"/>
          <p:cNvSpPr/>
          <p:nvPr/>
        </p:nvSpPr>
        <p:spPr>
          <a:xfrm>
            <a:off x="3602370" y="2307946"/>
            <a:ext cx="1146658" cy="1876349"/>
          </a:xfrm>
          <a:prstGeom prst="rect">
            <a:avLst/>
          </a:prstGeom>
          <a:solidFill>
            <a:srgbClr val="3F4A55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shaft A 380"/>
          <p:cNvSpPr/>
          <p:nvPr/>
        </p:nvSpPr>
        <p:spPr>
          <a:xfrm>
            <a:off x="502920" y="2811780"/>
            <a:ext cx="2543495" cy="86868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0" name="gearbox shaft 381"/>
          <p:cNvSpPr/>
          <p:nvPr/>
        </p:nvSpPr>
        <p:spPr>
          <a:xfrm>
            <a:off x="3776106" y="2898648"/>
            <a:ext cx="1389888" cy="6949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1" name="motor plate 382"/>
          <p:cNvSpPr/>
          <p:nvPr/>
        </p:nvSpPr>
        <p:spPr>
          <a:xfrm>
            <a:off x="4853269" y="1578254"/>
            <a:ext cx="416966" cy="27624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2" name="motor plate 383"/>
          <p:cNvSpPr/>
          <p:nvPr/>
        </p:nvSpPr>
        <p:spPr>
          <a:xfrm>
            <a:off x="4853269" y="4637745"/>
            <a:ext cx="416966" cy="27624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3" name="gearbox pilot 384"/>
          <p:cNvSpPr/>
          <p:nvPr/>
        </p:nvSpPr>
        <p:spPr>
          <a:xfrm>
            <a:off x="5165994" y="1856232"/>
            <a:ext cx="104242" cy="2779776"/>
          </a:xfrm>
          <a:prstGeom prst="rect">
            <a:avLst/>
          </a:prstGeom>
          <a:solidFill>
            <a:srgbClr val="C9D8F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4" name="gearbox flange 385"/>
          <p:cNvSpPr/>
          <p:nvPr/>
        </p:nvSpPr>
        <p:spPr>
          <a:xfrm>
            <a:off x="5270236" y="1769364"/>
            <a:ext cx="416966" cy="2953512"/>
          </a:xfrm>
          <a:prstGeom prst="rect">
            <a:avLst/>
          </a:prstGeom>
          <a:solidFill>
            <a:srgbClr val="C9D8F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5" name="gearbox body 386"/>
          <p:cNvSpPr/>
          <p:nvPr/>
        </p:nvSpPr>
        <p:spPr>
          <a:xfrm>
            <a:off x="5687202" y="1856232"/>
            <a:ext cx="2849270" cy="2779776"/>
          </a:xfrm>
          <a:prstGeom prst="rect">
            <a:avLst/>
          </a:prstGeom>
          <a:solidFill>
            <a:srgbClr val="C9D8F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6" name="gearbox rear 387"/>
          <p:cNvSpPr/>
          <p:nvPr/>
        </p:nvSpPr>
        <p:spPr>
          <a:xfrm>
            <a:off x="8536473" y="1769364"/>
            <a:ext cx="486461" cy="2953512"/>
          </a:xfrm>
          <a:prstGeom prst="rect">
            <a:avLst/>
          </a:prstGeom>
          <a:solidFill>
            <a:srgbClr val="C9D8F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7" name="motor 388"/>
          <p:cNvSpPr/>
          <p:nvPr/>
        </p:nvSpPr>
        <p:spPr>
          <a:xfrm>
            <a:off x="9022933" y="1751990"/>
            <a:ext cx="694944" cy="2988259"/>
          </a:xfrm>
          <a:prstGeom prst="rect">
            <a:avLst/>
          </a:prstGeom>
          <a:solidFill>
            <a:srgbClr val="3F4A55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8" name="text 389"/>
          <p:cNvSpPr txBox="1"/>
          <p:nvPr/>
        </p:nvSpPr>
        <p:spPr>
          <a:xfrm>
            <a:off x="572414" y="3107131"/>
            <a:ext cx="13551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SHAFT A (hex → D25)</a:t>
            </a:r>
            <a:endParaRPr lang="en-US" sz="900" dirty="0"/>
          </a:p>
        </p:txBody>
      </p:sp>
      <p:sp>
        <p:nvSpPr>
          <p:cNvPr id="29" name="text 390"/>
          <p:cNvSpPr txBox="1"/>
          <p:nvPr/>
        </p:nvSpPr>
        <p:spPr>
          <a:xfrm>
            <a:off x="2038746" y="3037637"/>
            <a:ext cx="11466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XL2</a:t>
            </a:r>
            <a:endParaRPr lang="en-US" sz="900" dirty="0"/>
          </a:p>
        </p:txBody>
      </p:sp>
      <p:sp>
        <p:nvSpPr>
          <p:cNvPr id="30" name="text 391"/>
          <p:cNvSpPr txBox="1"/>
          <p:nvPr/>
        </p:nvSpPr>
        <p:spPr>
          <a:xfrm>
            <a:off x="3602370" y="3037637"/>
            <a:ext cx="11466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XL2</a:t>
            </a:r>
            <a:endParaRPr lang="en-US" sz="900" dirty="0"/>
          </a:p>
        </p:txBody>
      </p:sp>
      <p:sp>
        <p:nvSpPr>
          <p:cNvPr id="31" name="text 392"/>
          <p:cNvSpPr txBox="1"/>
          <p:nvPr/>
        </p:nvSpPr>
        <p:spPr>
          <a:xfrm>
            <a:off x="3185404" y="3037637"/>
            <a:ext cx="4169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PU</a:t>
            </a:r>
            <a:endParaRPr lang="en-US" sz="900" dirty="0"/>
          </a:p>
        </p:txBody>
      </p:sp>
      <p:sp>
        <p:nvSpPr>
          <p:cNvPr id="32" name="text 393"/>
          <p:cNvSpPr txBox="1"/>
          <p:nvPr/>
        </p:nvSpPr>
        <p:spPr>
          <a:xfrm>
            <a:off x="5687202" y="3037637"/>
            <a:ext cx="28492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GEARBOX 10:1</a:t>
            </a:r>
            <a:endParaRPr lang="en-US" sz="900" dirty="0"/>
          </a:p>
        </p:txBody>
      </p:sp>
      <p:sp>
        <p:nvSpPr>
          <p:cNvPr id="33" name="text 394"/>
          <p:cNvSpPr txBox="1"/>
          <p:nvPr/>
        </p:nvSpPr>
        <p:spPr>
          <a:xfrm>
            <a:off x="9022933" y="3037637"/>
            <a:ext cx="11814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MOTOR 169 long →</a:t>
            </a:r>
            <a:endParaRPr lang="en-US" sz="800" dirty="0"/>
          </a:p>
        </p:txBody>
      </p:sp>
      <p:sp>
        <p:nvSpPr>
          <p:cNvPr id="34" name="text 395"/>
          <p:cNvSpPr txBox="1"/>
          <p:nvPr/>
        </p:nvSpPr>
        <p:spPr>
          <a:xfrm>
            <a:off x="3776106" y="3072384"/>
            <a:ext cx="10771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Ø20 h6</a:t>
            </a:r>
            <a:endParaRPr lang="en-US" sz="800" dirty="0"/>
          </a:p>
        </p:txBody>
      </p:sp>
      <p:sp>
        <p:nvSpPr>
          <p:cNvPr id="35" name="text 396"/>
          <p:cNvSpPr txBox="1"/>
          <p:nvPr/>
        </p:nvSpPr>
        <p:spPr>
          <a:xfrm>
            <a:off x="294437" y="1394094"/>
            <a:ext cx="11814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DRIVE PLATE</a:t>
            </a:r>
            <a:endParaRPr lang="en-US" sz="850" dirty="0"/>
          </a:p>
        </p:txBody>
      </p:sp>
      <p:sp>
        <p:nvSpPr>
          <p:cNvPr id="36" name="text 397"/>
          <p:cNvSpPr txBox="1"/>
          <p:nvPr/>
        </p:nvSpPr>
        <p:spPr>
          <a:xfrm>
            <a:off x="1058875" y="1811061"/>
            <a:ext cx="972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GEAR A</a:t>
            </a:r>
            <a:endParaRPr lang="en-US" sz="850" dirty="0"/>
          </a:p>
        </p:txBody>
      </p:sp>
      <p:sp>
        <p:nvSpPr>
          <p:cNvPr id="37" name="text 398"/>
          <p:cNvSpPr txBox="1"/>
          <p:nvPr/>
        </p:nvSpPr>
        <p:spPr>
          <a:xfrm>
            <a:off x="4575292" y="1394094"/>
            <a:ext cx="972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MOTOR PLATE</a:t>
            </a:r>
            <a:endParaRPr lang="en-US" sz="850" dirty="0"/>
          </a:p>
        </p:txBody>
      </p:sp>
      <p:sp>
        <p:nvSpPr>
          <p:cNvPr id="38" name="line 399"/>
          <p:cNvSpPr/>
          <p:nvPr/>
        </p:nvSpPr>
        <p:spPr>
          <a:xfrm>
            <a:off x="1170066" y="1371600"/>
            <a:ext cx="3683203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39" name="text 400"/>
          <p:cNvSpPr txBox="1"/>
          <p:nvPr/>
        </p:nvSpPr>
        <p:spPr>
          <a:xfrm>
            <a:off x="2188708" y="11521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106 standoff length</a:t>
            </a:r>
            <a:endParaRPr lang="en-US" sz="950" dirty="0"/>
          </a:p>
        </p:txBody>
      </p:sp>
      <p:sp>
        <p:nvSpPr>
          <p:cNvPr id="40" name="line 401"/>
          <p:cNvSpPr/>
          <p:nvPr/>
        </p:nvSpPr>
        <p:spPr>
          <a:xfrm>
            <a:off x="5270236" y="1371600"/>
            <a:ext cx="375269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41" name="text 402"/>
          <p:cNvSpPr txBox="1"/>
          <p:nvPr/>
        </p:nvSpPr>
        <p:spPr>
          <a:xfrm>
            <a:off x="6323625" y="11521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108 gearbox (behind flange face)</a:t>
            </a:r>
            <a:endParaRPr lang="en-US" sz="950" dirty="0"/>
          </a:p>
        </p:txBody>
      </p:sp>
      <p:sp>
        <p:nvSpPr>
          <p:cNvPr id="42" name="line 403"/>
          <p:cNvSpPr/>
          <p:nvPr/>
        </p:nvSpPr>
        <p:spPr>
          <a:xfrm>
            <a:off x="2038746" y="5074920"/>
            <a:ext cx="1007669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43" name="text 404"/>
          <p:cNvSpPr txBox="1"/>
          <p:nvPr/>
        </p:nvSpPr>
        <p:spPr>
          <a:xfrm>
            <a:off x="1719621" y="4855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29</a:t>
            </a:r>
            <a:endParaRPr lang="en-US" sz="950" dirty="0"/>
          </a:p>
        </p:txBody>
      </p:sp>
      <p:sp>
        <p:nvSpPr>
          <p:cNvPr id="44" name="line 405"/>
          <p:cNvSpPr/>
          <p:nvPr/>
        </p:nvSpPr>
        <p:spPr>
          <a:xfrm>
            <a:off x="3046415" y="5074920"/>
            <a:ext cx="729691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45" name="text 406"/>
          <p:cNvSpPr txBox="1"/>
          <p:nvPr/>
        </p:nvSpPr>
        <p:spPr>
          <a:xfrm>
            <a:off x="2588301" y="4855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21 tip gap</a:t>
            </a:r>
            <a:endParaRPr lang="en-US" sz="950" dirty="0"/>
          </a:p>
        </p:txBody>
      </p:sp>
      <p:sp>
        <p:nvSpPr>
          <p:cNvPr id="46" name="line 407"/>
          <p:cNvSpPr/>
          <p:nvPr/>
        </p:nvSpPr>
        <p:spPr>
          <a:xfrm>
            <a:off x="3776106" y="5074920"/>
            <a:ext cx="97292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47" name="text 408"/>
          <p:cNvSpPr txBox="1"/>
          <p:nvPr/>
        </p:nvSpPr>
        <p:spPr>
          <a:xfrm>
            <a:off x="3439607" y="4855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28</a:t>
            </a:r>
            <a:endParaRPr lang="en-US" sz="950" dirty="0"/>
          </a:p>
        </p:txBody>
      </p:sp>
      <p:sp>
        <p:nvSpPr>
          <p:cNvPr id="48" name="line 409"/>
          <p:cNvSpPr/>
          <p:nvPr/>
        </p:nvSpPr>
        <p:spPr>
          <a:xfrm>
            <a:off x="2038746" y="5440680"/>
            <a:ext cx="271028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49" name="text 410"/>
          <p:cNvSpPr txBox="1"/>
          <p:nvPr/>
        </p:nvSpPr>
        <p:spPr>
          <a:xfrm>
            <a:off x="2570927" y="54772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78 coupler</a:t>
            </a:r>
            <a:endParaRPr lang="en-US" sz="950" dirty="0"/>
          </a:p>
        </p:txBody>
      </p:sp>
      <p:sp>
        <p:nvSpPr>
          <p:cNvPr id="50" name="line 411"/>
          <p:cNvSpPr/>
          <p:nvPr/>
        </p:nvSpPr>
        <p:spPr>
          <a:xfrm>
            <a:off x="3776106" y="5440680"/>
            <a:ext cx="138988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51" name="text 412"/>
          <p:cNvSpPr txBox="1"/>
          <p:nvPr/>
        </p:nvSpPr>
        <p:spPr>
          <a:xfrm>
            <a:off x="3648090" y="54772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40 shaft</a:t>
            </a:r>
            <a:endParaRPr lang="en-US" sz="950" dirty="0"/>
          </a:p>
        </p:txBody>
      </p:sp>
      <p:sp>
        <p:nvSpPr>
          <p:cNvPr id="52" name="line 413"/>
          <p:cNvSpPr/>
          <p:nvPr/>
        </p:nvSpPr>
        <p:spPr>
          <a:xfrm>
            <a:off x="614111" y="5897880"/>
            <a:ext cx="555955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53" name="text 414"/>
          <p:cNvSpPr txBox="1"/>
          <p:nvPr/>
        </p:nvSpPr>
        <p:spPr>
          <a:xfrm>
            <a:off x="69129" y="59344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16</a:t>
            </a:r>
            <a:endParaRPr lang="en-US" sz="950" dirty="0"/>
          </a:p>
        </p:txBody>
      </p:sp>
      <p:sp>
        <p:nvSpPr>
          <p:cNvPr id="54" name="line 415"/>
          <p:cNvSpPr/>
          <p:nvPr/>
        </p:nvSpPr>
        <p:spPr>
          <a:xfrm>
            <a:off x="1204813" y="5897880"/>
            <a:ext cx="694944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55" name="text 416"/>
          <p:cNvSpPr txBox="1"/>
          <p:nvPr/>
        </p:nvSpPr>
        <p:spPr>
          <a:xfrm>
            <a:off x="729325" y="59344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20</a:t>
            </a:r>
            <a:endParaRPr lang="en-US" sz="950" dirty="0"/>
          </a:p>
        </p:txBody>
      </p:sp>
      <p:sp>
        <p:nvSpPr>
          <p:cNvPr id="56" name="line 417"/>
          <p:cNvSpPr/>
          <p:nvPr/>
        </p:nvSpPr>
        <p:spPr>
          <a:xfrm>
            <a:off x="1899757" y="5897880"/>
            <a:ext cx="138989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57" name="text 418"/>
          <p:cNvSpPr txBox="1"/>
          <p:nvPr/>
        </p:nvSpPr>
        <p:spPr>
          <a:xfrm>
            <a:off x="1146292" y="59344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4.0</a:t>
            </a:r>
            <a:endParaRPr lang="en-US" sz="950" dirty="0"/>
          </a:p>
        </p:txBody>
      </p:sp>
      <p:sp>
        <p:nvSpPr>
          <p:cNvPr id="58" name="line 419"/>
          <p:cNvSpPr/>
          <p:nvPr/>
        </p:nvSpPr>
        <p:spPr>
          <a:xfrm>
            <a:off x="4749028" y="5897880"/>
            <a:ext cx="104242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59" name="text 420"/>
          <p:cNvSpPr txBox="1"/>
          <p:nvPr/>
        </p:nvSpPr>
        <p:spPr>
          <a:xfrm>
            <a:off x="3978189" y="59344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3.0</a:t>
            </a:r>
            <a:endParaRPr lang="en-US" sz="950" dirty="0"/>
          </a:p>
        </p:txBody>
      </p:sp>
      <p:sp>
        <p:nvSpPr>
          <p:cNvPr id="60" name="line 421"/>
          <p:cNvSpPr/>
          <p:nvPr/>
        </p:nvSpPr>
        <p:spPr>
          <a:xfrm>
            <a:off x="4853269" y="5897880"/>
            <a:ext cx="41696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61" name="text 422"/>
          <p:cNvSpPr txBox="1"/>
          <p:nvPr/>
        </p:nvSpPr>
        <p:spPr>
          <a:xfrm>
            <a:off x="4238793" y="59344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12</a:t>
            </a:r>
            <a:endParaRPr lang="en-US" sz="950" dirty="0"/>
          </a:p>
        </p:txBody>
      </p:sp>
      <p:sp>
        <p:nvSpPr>
          <p:cNvPr id="62" name="notes box 423"/>
          <p:cNvSpPr/>
          <p:nvPr/>
        </p:nvSpPr>
        <p:spPr>
          <a:xfrm>
            <a:off x="9829800" y="868680"/>
            <a:ext cx="1920240" cy="5440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3" name="notes text 424"/>
          <p:cNvSpPr txBox="1"/>
          <p:nvPr/>
        </p:nvSpPr>
        <p:spPr>
          <a:xfrm>
            <a:off x="9939528" y="941832"/>
            <a:ext cx="1700784" cy="529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STACK-UP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106 = 1.0 + 20 (gear) + 4.0 + 78 (coupler) + 3.0.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Shaft A ends 1.0 short of the hub bore bottom (29 engaged); the gearbox shaft is 28 engaged, 2.0 short.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Shaft tips sit 21 apart inside the 18 mm spider zone.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Gearbox shaft length is taken from the pilot tip. If the seller means the flange face, engagement drops to 25 mm.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Clamp heads clear the gear guard by 7 mm.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MOTOR CRADLE + PLYWOOD BASE</a:t>
            </a:r>
            <a:endParaRPr lang="en-US" sz="2600" dirty="0"/>
          </a:p>
        </p:txBody>
      </p:sp>
      <p:sp>
        <p:nvSpPr>
          <p:cNvPr id="3" name="text 425"/>
          <p:cNvSpPr txBox="1"/>
          <p:nvPr/>
        </p:nvSpPr>
        <p:spPr>
          <a:xfrm>
            <a:off x="457200" y="868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MOTOR CRADLE (×1, 12 mm)</a:t>
            </a:r>
            <a:endParaRPr lang="en-US" sz="1200" dirty="0"/>
          </a:p>
        </p:txBody>
      </p:sp>
      <p:sp>
        <p:nvSpPr>
          <p:cNvPr id="4" name="cradle 426"/>
          <p:cNvSpPr/>
          <p:nvPr/>
        </p:nvSpPr>
        <p:spPr>
          <a:xfrm>
            <a:off x="802843" y="1463040"/>
            <a:ext cx="3149194" cy="3291840"/>
          </a:xfrm>
          <a:custGeom>
            <a:avLst/>
            <a:gdLst/>
            <a:ahLst/>
            <a:cxnLst/>
            <a:rect l="l" t="t" r="r" b="b"/>
            <a:pathLst>
              <a:path w="3149194" h="3291840">
                <a:moveTo>
                  <a:pt x="3148398" y="3143378"/>
                </a:moveTo>
                <a:lnTo>
                  <a:pt x="3146039" y="3159371"/>
                </a:lnTo>
                <a:lnTo>
                  <a:pt x="3142116" y="3175035"/>
                </a:lnTo>
                <a:lnTo>
                  <a:pt x="3136657" y="3190232"/>
                </a:lnTo>
                <a:lnTo>
                  <a:pt x="3129772" y="3204826"/>
                </a:lnTo>
                <a:lnTo>
                  <a:pt x="3121460" y="3218679"/>
                </a:lnTo>
                <a:lnTo>
                  <a:pt x="3111831" y="3231654"/>
                </a:lnTo>
                <a:lnTo>
                  <a:pt x="3100996" y="3243642"/>
                </a:lnTo>
                <a:lnTo>
                  <a:pt x="3089008" y="3254478"/>
                </a:lnTo>
                <a:lnTo>
                  <a:pt x="3076032" y="3264106"/>
                </a:lnTo>
                <a:lnTo>
                  <a:pt x="3062179" y="3272418"/>
                </a:lnTo>
                <a:lnTo>
                  <a:pt x="3047585" y="3279304"/>
                </a:lnTo>
                <a:lnTo>
                  <a:pt x="3032388" y="3284763"/>
                </a:lnTo>
                <a:lnTo>
                  <a:pt x="3016724" y="3288685"/>
                </a:lnTo>
                <a:lnTo>
                  <a:pt x="3000732" y="3291044"/>
                </a:lnTo>
                <a:lnTo>
                  <a:pt x="2984602" y="3291840"/>
                </a:lnTo>
                <a:lnTo>
                  <a:pt x="164592" y="3291840"/>
                </a:lnTo>
                <a:lnTo>
                  <a:pt x="148462" y="3291044"/>
                </a:lnTo>
                <a:lnTo>
                  <a:pt x="132469" y="3288685"/>
                </a:lnTo>
                <a:lnTo>
                  <a:pt x="116805" y="3284763"/>
                </a:lnTo>
                <a:lnTo>
                  <a:pt x="101608" y="3279304"/>
                </a:lnTo>
                <a:lnTo>
                  <a:pt x="87014" y="3272418"/>
                </a:lnTo>
                <a:lnTo>
                  <a:pt x="73161" y="3264106"/>
                </a:lnTo>
                <a:lnTo>
                  <a:pt x="60186" y="3254478"/>
                </a:lnTo>
                <a:lnTo>
                  <a:pt x="48198" y="3243642"/>
                </a:lnTo>
                <a:lnTo>
                  <a:pt x="37362" y="3231654"/>
                </a:lnTo>
                <a:lnTo>
                  <a:pt x="27734" y="3218679"/>
                </a:lnTo>
                <a:lnTo>
                  <a:pt x="19422" y="3204826"/>
                </a:lnTo>
                <a:lnTo>
                  <a:pt x="12536" y="3190232"/>
                </a:lnTo>
                <a:lnTo>
                  <a:pt x="7077" y="3175035"/>
                </a:lnTo>
                <a:lnTo>
                  <a:pt x="3155" y="3159371"/>
                </a:lnTo>
                <a:lnTo>
                  <a:pt x="796" y="3143378"/>
                </a:lnTo>
                <a:lnTo>
                  <a:pt x="0" y="3127248"/>
                </a:lnTo>
                <a:lnTo>
                  <a:pt x="0" y="164592"/>
                </a:lnTo>
                <a:lnTo>
                  <a:pt x="796" y="148462"/>
                </a:lnTo>
                <a:lnTo>
                  <a:pt x="3155" y="132469"/>
                </a:lnTo>
                <a:lnTo>
                  <a:pt x="7077" y="116805"/>
                </a:lnTo>
                <a:lnTo>
                  <a:pt x="12536" y="101608"/>
                </a:lnTo>
                <a:lnTo>
                  <a:pt x="19422" y="87014"/>
                </a:lnTo>
                <a:lnTo>
                  <a:pt x="27734" y="73161"/>
                </a:lnTo>
                <a:lnTo>
                  <a:pt x="37362" y="60186"/>
                </a:lnTo>
                <a:lnTo>
                  <a:pt x="48198" y="48198"/>
                </a:lnTo>
                <a:lnTo>
                  <a:pt x="60186" y="37362"/>
                </a:lnTo>
                <a:lnTo>
                  <a:pt x="73161" y="27734"/>
                </a:lnTo>
                <a:lnTo>
                  <a:pt x="87014" y="19422"/>
                </a:lnTo>
                <a:lnTo>
                  <a:pt x="101608" y="12536"/>
                </a:lnTo>
                <a:lnTo>
                  <a:pt x="116805" y="7077"/>
                </a:lnTo>
                <a:lnTo>
                  <a:pt x="132469" y="3155"/>
                </a:lnTo>
                <a:lnTo>
                  <a:pt x="148462" y="796"/>
                </a:lnTo>
                <a:lnTo>
                  <a:pt x="164592" y="0"/>
                </a:lnTo>
                <a:lnTo>
                  <a:pt x="384048" y="0"/>
                </a:lnTo>
                <a:lnTo>
                  <a:pt x="384048" y="1464869"/>
                </a:lnTo>
                <a:lnTo>
                  <a:pt x="2765146" y="1464869"/>
                </a:lnTo>
                <a:lnTo>
                  <a:pt x="2765146" y="0"/>
                </a:lnTo>
                <a:lnTo>
                  <a:pt x="2984602" y="0"/>
                </a:lnTo>
                <a:lnTo>
                  <a:pt x="3000732" y="796"/>
                </a:lnTo>
                <a:lnTo>
                  <a:pt x="3016724" y="3155"/>
                </a:lnTo>
                <a:lnTo>
                  <a:pt x="3032388" y="7077"/>
                </a:lnTo>
                <a:lnTo>
                  <a:pt x="3047585" y="12536"/>
                </a:lnTo>
                <a:lnTo>
                  <a:pt x="3062179" y="19422"/>
                </a:lnTo>
                <a:lnTo>
                  <a:pt x="3076032" y="27734"/>
                </a:lnTo>
                <a:lnTo>
                  <a:pt x="3089008" y="37362"/>
                </a:lnTo>
                <a:lnTo>
                  <a:pt x="3100996" y="48198"/>
                </a:lnTo>
                <a:lnTo>
                  <a:pt x="3111831" y="60186"/>
                </a:lnTo>
                <a:lnTo>
                  <a:pt x="3121460" y="73161"/>
                </a:lnTo>
                <a:lnTo>
                  <a:pt x="3129772" y="87014"/>
                </a:lnTo>
                <a:lnTo>
                  <a:pt x="3136657" y="101608"/>
                </a:lnTo>
                <a:lnTo>
                  <a:pt x="3142116" y="116805"/>
                </a:lnTo>
                <a:lnTo>
                  <a:pt x="3146039" y="132469"/>
                </a:lnTo>
                <a:lnTo>
                  <a:pt x="3148398" y="148462"/>
                </a:lnTo>
                <a:lnTo>
                  <a:pt x="3149194" y="164592"/>
                </a:lnTo>
                <a:lnTo>
                  <a:pt x="3149194" y="3127248"/>
                </a:lnTo>
                <a:close/>
              </a:path>
            </a:pathLst>
          </a:cu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line 427"/>
          <p:cNvSpPr/>
          <p:nvPr/>
        </p:nvSpPr>
        <p:spPr>
          <a:xfrm>
            <a:off x="802843" y="4956048"/>
            <a:ext cx="3149194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6" name="text 428"/>
          <p:cNvSpPr txBox="1"/>
          <p:nvPr/>
        </p:nvSpPr>
        <p:spPr>
          <a:xfrm>
            <a:off x="1554480" y="49926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114.8</a:t>
            </a:r>
            <a:endParaRPr lang="en-US" sz="1000" dirty="0"/>
          </a:p>
        </p:txBody>
      </p:sp>
      <p:sp>
        <p:nvSpPr>
          <p:cNvPr id="7" name="line 429"/>
          <p:cNvSpPr/>
          <p:nvPr/>
        </p:nvSpPr>
        <p:spPr>
          <a:xfrm>
            <a:off x="619963" y="1463040"/>
            <a:ext cx="0" cy="329184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8" name="text 430"/>
          <p:cNvSpPr txBox="1"/>
          <p:nvPr/>
        </p:nvSpPr>
        <p:spPr>
          <a:xfrm>
            <a:off x="107899" y="3017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120</a:t>
            </a:r>
            <a:endParaRPr lang="en-US" sz="1000" dirty="0"/>
          </a:p>
        </p:txBody>
      </p:sp>
      <p:sp>
        <p:nvSpPr>
          <p:cNvPr id="9" name="line 431"/>
          <p:cNvSpPr/>
          <p:nvPr/>
        </p:nvSpPr>
        <p:spPr>
          <a:xfrm>
            <a:off x="1186891" y="2286000"/>
            <a:ext cx="238109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0" name="text 432"/>
          <p:cNvSpPr txBox="1"/>
          <p:nvPr/>
        </p:nvSpPr>
        <p:spPr>
          <a:xfrm>
            <a:off x="1554480" y="20665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86.8 notch</a:t>
            </a:r>
            <a:endParaRPr lang="en-US" sz="1000" dirty="0"/>
          </a:p>
        </p:txBody>
      </p:sp>
      <p:sp>
        <p:nvSpPr>
          <p:cNvPr id="11" name="text 433"/>
          <p:cNvSpPr txBox="1"/>
          <p:nvPr/>
        </p:nvSpPr>
        <p:spPr>
          <a:xfrm>
            <a:off x="457200" y="5303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Notch floor sits 0.4 mm below the motor underside; the motor drops in from the top. Two M8 screws go through the base into the bottom edge (u = −74, +6).</a:t>
            </a:r>
            <a:endParaRPr lang="en-US" sz="1000" dirty="0"/>
          </a:p>
        </p:txBody>
      </p:sp>
      <p:sp>
        <p:nvSpPr>
          <p:cNvPr id="12" name="text 434"/>
          <p:cNvSpPr txBox="1"/>
          <p:nvPr/>
        </p:nvSpPr>
        <p:spPr>
          <a:xfrm>
            <a:off x="4572000" y="868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BASE (×1, 18 mm plywood) – plan, drive end at the bottom</a:t>
            </a:r>
            <a:endParaRPr lang="en-US" sz="1200" dirty="0"/>
          </a:p>
        </p:txBody>
      </p:sp>
      <p:sp>
        <p:nvSpPr>
          <p:cNvPr id="13" name="base 435"/>
          <p:cNvSpPr/>
          <p:nvPr/>
        </p:nvSpPr>
        <p:spPr>
          <a:xfrm>
            <a:off x="5173127" y="1664043"/>
            <a:ext cx="3095427" cy="3895673"/>
          </a:xfrm>
          <a:custGeom>
            <a:avLst/>
            <a:gdLst/>
            <a:ahLst/>
            <a:cxnLst/>
            <a:rect l="l" t="t" r="r" b="b"/>
            <a:pathLst>
              <a:path w="3095427" h="3895673">
                <a:moveTo>
                  <a:pt x="0" y="0"/>
                </a:moveTo>
                <a:lnTo>
                  <a:pt x="3095427" y="0"/>
                </a:lnTo>
                <a:lnTo>
                  <a:pt x="3095427" y="3895673"/>
                </a:lnTo>
                <a:lnTo>
                  <a:pt x="0" y="3895673"/>
                </a:lnTo>
                <a:close/>
              </a:path>
            </a:pathLst>
          </a:cu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hole 436"/>
          <p:cNvSpPr/>
          <p:nvPr/>
        </p:nvSpPr>
        <p:spPr>
          <a:xfrm>
            <a:off x="5497647" y="5299387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hole 437"/>
          <p:cNvSpPr/>
          <p:nvPr/>
        </p:nvSpPr>
        <p:spPr>
          <a:xfrm>
            <a:off x="6068233" y="5299387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hole 438"/>
          <p:cNvSpPr/>
          <p:nvPr/>
        </p:nvSpPr>
        <p:spPr>
          <a:xfrm>
            <a:off x="5497647" y="4591861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hole 439"/>
          <p:cNvSpPr/>
          <p:nvPr/>
        </p:nvSpPr>
        <p:spPr>
          <a:xfrm>
            <a:off x="6068233" y="4591861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hole 440"/>
          <p:cNvSpPr/>
          <p:nvPr/>
        </p:nvSpPr>
        <p:spPr>
          <a:xfrm>
            <a:off x="5497647" y="3735982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hole 441"/>
          <p:cNvSpPr/>
          <p:nvPr/>
        </p:nvSpPr>
        <p:spPr>
          <a:xfrm>
            <a:off x="6068233" y="3735982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hole 442"/>
          <p:cNvSpPr/>
          <p:nvPr/>
        </p:nvSpPr>
        <p:spPr>
          <a:xfrm>
            <a:off x="5497647" y="2452165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hole 443"/>
          <p:cNvSpPr/>
          <p:nvPr/>
        </p:nvSpPr>
        <p:spPr>
          <a:xfrm>
            <a:off x="6068233" y="2452165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hole 444"/>
          <p:cNvSpPr/>
          <p:nvPr/>
        </p:nvSpPr>
        <p:spPr>
          <a:xfrm>
            <a:off x="5233751" y="5442033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hole 445"/>
          <p:cNvSpPr/>
          <p:nvPr/>
        </p:nvSpPr>
        <p:spPr>
          <a:xfrm>
            <a:off x="5233751" y="3579785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hole 446"/>
          <p:cNvSpPr/>
          <p:nvPr/>
        </p:nvSpPr>
        <p:spPr>
          <a:xfrm>
            <a:off x="5233751" y="1717536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hole 447"/>
          <p:cNvSpPr/>
          <p:nvPr/>
        </p:nvSpPr>
        <p:spPr>
          <a:xfrm>
            <a:off x="7095287" y="5442033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hole 448"/>
          <p:cNvSpPr/>
          <p:nvPr/>
        </p:nvSpPr>
        <p:spPr>
          <a:xfrm>
            <a:off x="7095287" y="3579785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hole 449"/>
          <p:cNvSpPr/>
          <p:nvPr/>
        </p:nvSpPr>
        <p:spPr>
          <a:xfrm>
            <a:off x="7095287" y="1717536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hole 450"/>
          <p:cNvSpPr/>
          <p:nvPr/>
        </p:nvSpPr>
        <p:spPr>
          <a:xfrm>
            <a:off x="8150870" y="5442033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hole 451"/>
          <p:cNvSpPr/>
          <p:nvPr/>
        </p:nvSpPr>
        <p:spPr>
          <a:xfrm>
            <a:off x="8150870" y="3579785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hole 452"/>
          <p:cNvSpPr/>
          <p:nvPr/>
        </p:nvSpPr>
        <p:spPr>
          <a:xfrm>
            <a:off x="8150870" y="1717536"/>
            <a:ext cx="64191" cy="64191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hole 453"/>
          <p:cNvSpPr/>
          <p:nvPr/>
        </p:nvSpPr>
        <p:spPr>
          <a:xfrm>
            <a:off x="5665257" y="4673882"/>
            <a:ext cx="784555" cy="607674"/>
          </a:xfrm>
          <a:custGeom>
            <a:avLst/>
            <a:gdLst/>
            <a:ahLst/>
            <a:cxnLst/>
            <a:rect l="l" t="t" r="r" b="b"/>
            <a:pathLst>
              <a:path w="784555" h="607674">
                <a:moveTo>
                  <a:pt x="0" y="0"/>
                </a:moveTo>
                <a:lnTo>
                  <a:pt x="0" y="607674"/>
                </a:lnTo>
                <a:lnTo>
                  <a:pt x="784555" y="607674"/>
                </a:lnTo>
                <a:lnTo>
                  <a:pt x="784555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footprint 454"/>
          <p:cNvSpPr/>
          <p:nvPr/>
        </p:nvSpPr>
        <p:spPr>
          <a:xfrm>
            <a:off x="5422758" y="4566898"/>
            <a:ext cx="1269553" cy="821643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33" name="footprint 455"/>
          <p:cNvSpPr/>
          <p:nvPr/>
        </p:nvSpPr>
        <p:spPr>
          <a:xfrm>
            <a:off x="5422758" y="3810872"/>
            <a:ext cx="1269553" cy="756026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34" name="text 456"/>
          <p:cNvSpPr txBox="1"/>
          <p:nvPr/>
        </p:nvSpPr>
        <p:spPr>
          <a:xfrm>
            <a:off x="5422758" y="4097445"/>
            <a:ext cx="126955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GEAR GUARD</a:t>
            </a:r>
            <a:endParaRPr lang="en-US" sz="800" dirty="0"/>
          </a:p>
        </p:txBody>
      </p:sp>
      <p:sp>
        <p:nvSpPr>
          <p:cNvPr id="35" name="footprint 457"/>
          <p:cNvSpPr/>
          <p:nvPr/>
        </p:nvSpPr>
        <p:spPr>
          <a:xfrm>
            <a:off x="5308641" y="3725284"/>
            <a:ext cx="1383670" cy="8558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36" name="footprint 458"/>
          <p:cNvSpPr/>
          <p:nvPr/>
        </p:nvSpPr>
        <p:spPr>
          <a:xfrm>
            <a:off x="5511912" y="2954993"/>
            <a:ext cx="606247" cy="770291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37" name="text 459"/>
          <p:cNvSpPr txBox="1"/>
          <p:nvPr/>
        </p:nvSpPr>
        <p:spPr>
          <a:xfrm>
            <a:off x="5511912" y="3248699"/>
            <a:ext cx="6062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GEARBOX</a:t>
            </a:r>
            <a:endParaRPr lang="en-US" sz="800" dirty="0"/>
          </a:p>
        </p:txBody>
      </p:sp>
      <p:sp>
        <p:nvSpPr>
          <p:cNvPr id="38" name="footprint 460"/>
          <p:cNvSpPr/>
          <p:nvPr/>
        </p:nvSpPr>
        <p:spPr>
          <a:xfrm>
            <a:off x="5508346" y="1749631"/>
            <a:ext cx="613380" cy="1205362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39" name="text 461"/>
          <p:cNvSpPr txBox="1"/>
          <p:nvPr/>
        </p:nvSpPr>
        <p:spPr>
          <a:xfrm>
            <a:off x="5508346" y="2260872"/>
            <a:ext cx="6133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MOTOR</a:t>
            </a:r>
            <a:endParaRPr lang="en-US" sz="800" dirty="0"/>
          </a:p>
        </p:txBody>
      </p:sp>
      <p:sp>
        <p:nvSpPr>
          <p:cNvPr id="40" name="footprint 462"/>
          <p:cNvSpPr/>
          <p:nvPr/>
        </p:nvSpPr>
        <p:spPr>
          <a:xfrm>
            <a:off x="5405640" y="2441466"/>
            <a:ext cx="818790" cy="85588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41" name="footprint 463"/>
          <p:cNvSpPr/>
          <p:nvPr/>
        </p:nvSpPr>
        <p:spPr>
          <a:xfrm>
            <a:off x="7020397" y="4061929"/>
            <a:ext cx="1141171" cy="998525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42" name="text 464"/>
          <p:cNvSpPr txBox="1"/>
          <p:nvPr/>
        </p:nvSpPr>
        <p:spPr>
          <a:xfrm>
            <a:off x="7020397" y="4469752"/>
            <a:ext cx="1141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CONTROLLER</a:t>
            </a:r>
            <a:endParaRPr lang="en-US" sz="800" dirty="0"/>
          </a:p>
        </p:txBody>
      </p:sp>
      <p:sp>
        <p:nvSpPr>
          <p:cNvPr id="43" name="text 465"/>
          <p:cNvSpPr txBox="1"/>
          <p:nvPr/>
        </p:nvSpPr>
        <p:spPr>
          <a:xfrm>
            <a:off x="5422758" y="4862029"/>
            <a:ext cx="126955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CUTTER</a:t>
            </a:r>
            <a:endParaRPr lang="en-US" sz="800" dirty="0"/>
          </a:p>
        </p:txBody>
      </p:sp>
      <p:sp>
        <p:nvSpPr>
          <p:cNvPr id="44" name="text 466"/>
          <p:cNvSpPr txBox="1"/>
          <p:nvPr/>
        </p:nvSpPr>
        <p:spPr>
          <a:xfrm>
            <a:off x="6228710" y="23928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1"/>
                </a:solidFill>
              </a:rPr>
              <a:t>CRADLE</a:t>
            </a:r>
            <a:endParaRPr lang="en-US" sz="800" dirty="0"/>
          </a:p>
        </p:txBody>
      </p:sp>
      <p:sp>
        <p:nvSpPr>
          <p:cNvPr id="45" name="line 467"/>
          <p:cNvSpPr/>
          <p:nvPr/>
        </p:nvSpPr>
        <p:spPr>
          <a:xfrm>
            <a:off x="5173127" y="5742597"/>
            <a:ext cx="3095427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46" name="text 468"/>
          <p:cNvSpPr txBox="1"/>
          <p:nvPr/>
        </p:nvSpPr>
        <p:spPr>
          <a:xfrm>
            <a:off x="5897880" y="5779173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434</a:t>
            </a:r>
            <a:endParaRPr lang="en-US" sz="1000" dirty="0"/>
          </a:p>
        </p:txBody>
      </p:sp>
      <p:sp>
        <p:nvSpPr>
          <p:cNvPr id="47" name="line 469"/>
          <p:cNvSpPr/>
          <p:nvPr/>
        </p:nvSpPr>
        <p:spPr>
          <a:xfrm>
            <a:off x="8542873" y="1664043"/>
            <a:ext cx="0" cy="3895673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48" name="text 470"/>
          <p:cNvSpPr txBox="1"/>
          <p:nvPr/>
        </p:nvSpPr>
        <p:spPr>
          <a:xfrm>
            <a:off x="8597737" y="3520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546.2</a:t>
            </a:r>
            <a:endParaRPr lang="en-US" sz="1000" dirty="0"/>
          </a:p>
        </p:txBody>
      </p:sp>
      <p:sp>
        <p:nvSpPr>
          <p:cNvPr id="49" name="notes box 471"/>
          <p:cNvSpPr/>
          <p:nvPr/>
        </p:nvSpPr>
        <p:spPr>
          <a:xfrm>
            <a:off x="9144000" y="868680"/>
            <a:ext cx="2606040" cy="5440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0" name="notes text 472"/>
          <p:cNvSpPr txBox="1"/>
          <p:nvPr/>
        </p:nvSpPr>
        <p:spPr>
          <a:xfrm>
            <a:off x="9253728" y="941832"/>
            <a:ext cx="2386584" cy="529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NOTES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Plywood base (18 mm): 2.77 kg; whole machine ≈ 36.8 kg (the 10 mm steel base was 18.6 kg).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The base is the one big part you cut yourself: print the DXF at 1:1 (tiled) or use it as a CNC file.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Centre of gravity: u 13.7, w 158.2, 90.9 mm above the base – 137.7 mm inside the nearest edge (static tip angle 56.6°).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Motor + gearbox (7.9 kg) hang up to 280 mm off the motor plate = 11.7 N·m. The cradle carries the weight; the gearbox bolts only see 84 N each.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Dashed outlines: blue = machine, red = cradle, gray = controller box.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CALCULATIONS 1 – TORQUE CHAIN, SPEED, POWER, CUTTING</a:t>
            </a:r>
            <a:endParaRPr lang="en-US" sz="2600" dirty="0"/>
          </a:p>
        </p:txBody>
      </p:sp>
      <p:sp>
        <p:nvSpPr>
          <p:cNvPr id="3" name="text 473"/>
          <p:cNvSpPr txBox="1"/>
          <p:nvPr/>
        </p:nvSpPr>
        <p:spPr>
          <a:xfrm>
            <a:off x="457200" y="841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TORQUE CHAIN</a:t>
            </a:r>
            <a:endParaRPr lang="en-US" sz="1200" dirty="0"/>
          </a:p>
        </p:txBody>
      </p:sp>
      <p:graphicFrame>
        <p:nvGraphicFramePr>
          <p:cNvPr id="12" name="table 4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14630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Basis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Motor holding torque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12.0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6.0 A → 2.0 Nm / A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Gearbox ratio × efficiency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 × 0.95 = 9.5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listing: ≥ 95 %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Gearbox nominal / peak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45 / 90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listing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Coupler nominal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70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XL2 table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Weakest link on a jam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70 Nm (coupler)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min of the above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Motor torque for 70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7.37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70 ÷ 9.5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Driver peak current (set)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3.7 A = 62 % of 6.0 A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→ 70.3 Nm out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Current for 45 Nm continuous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2.37 A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45 ÷ 9.5 ÷ 2.0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Stall with no limit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114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exceeds gearbox peak!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475"/>
          <p:cNvSpPr txBox="1"/>
          <p:nvPr/>
        </p:nvSpPr>
        <p:spPr>
          <a:xfrm>
            <a:off x="621792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SPEED POINTS (motor torque fraction is assumed)</a:t>
            </a:r>
            <a:endParaRPr lang="en-US" sz="1200" dirty="0"/>
          </a:p>
        </p:txBody>
      </p:sp>
      <p:graphicFrame>
        <p:nvGraphicFramePr>
          <p:cNvPr id="23" name="table 4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143000"/>
          <a:ext cx="55321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1280160"/>
                <a:gridCol w="822960"/>
                <a:gridCol w="822960"/>
                <a:gridCol w="8686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Motor rpm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Shaft rpm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Torque avail.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Out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Out W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Tip m/s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75 % of hold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70.3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221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0.119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600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60 % of hold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68.4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430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0.239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40 % of hold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45.6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478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0.398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477"/>
          <p:cNvSpPr txBox="1"/>
          <p:nvPr/>
        </p:nvSpPr>
        <p:spPr>
          <a:xfrm>
            <a:off x="6217920" y="23774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Supply: 60 V × 10 A = 600 W; × 55 % stepper-system efficiency (assumed) × 0.95 gearbox ≈ 314 W at the shaft = 50 Nm at 60 rpm.</a:t>
            </a:r>
            <a:endParaRPr lang="en-US" sz="1050" dirty="0"/>
          </a:p>
        </p:txBody>
      </p:sp>
      <p:sp>
        <p:nvSpPr>
          <p:cNvPr id="8" name="text 478"/>
          <p:cNvSpPr txBox="1"/>
          <p:nvPr/>
        </p:nvSpPr>
        <p:spPr>
          <a:xfrm>
            <a:off x="6217920" y="288036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Pulse rate for the Nano at 1600 pulses/rev: 16 kHz at 600 rpm, 26.7 kHz at 1000 rpm – well inside the driver limit.</a:t>
            </a:r>
            <a:endParaRPr lang="en-US" sz="1050" dirty="0"/>
          </a:p>
        </p:txBody>
      </p:sp>
      <p:sp>
        <p:nvSpPr>
          <p:cNvPr id="9" name="text 479"/>
          <p:cNvSpPr txBox="1"/>
          <p:nvPr/>
        </p:nvSpPr>
        <p:spPr>
          <a:xfrm>
            <a:off x="457200" y="3703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CUTTING: tooth force = T ÷ R_blade = 1184 N at 45 Nm, 1850 N at the cap</a:t>
            </a:r>
            <a:endParaRPr lang="en-US" sz="1200" dirty="0"/>
          </a:p>
        </p:txBody>
      </p:sp>
      <p:graphicFrame>
        <p:nvGraphicFramePr>
          <p:cNvPr id="34" name="table 4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05072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2011680"/>
                <a:gridCol w="10058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Material (thickness)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Shear τ MPa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Force to shear (τ × t × 3 mm)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Margin at 45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PET bottle wall 0.3 mm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45 N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26.3 ×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HDPE 2 mm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132 N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 ×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PLA print 4 mm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540 N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2.2 ×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ABS 5 mm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525 N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2.3 ×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Acrylic 6 mm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990 N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1.2 ×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notes box 481"/>
          <p:cNvSpPr/>
          <p:nvPr/>
        </p:nvSpPr>
        <p:spPr>
          <a:xfrm>
            <a:off x="7132320" y="3703320"/>
            <a:ext cx="4617720" cy="2606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2" name="notes text 482"/>
          <p:cNvSpPr txBox="1"/>
          <p:nvPr/>
        </p:nvSpPr>
        <p:spPr>
          <a:xfrm>
            <a:off x="7242048" y="3776472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WHAT TO SET / ASSUME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CL86T: peak current 3.7 A (jam torque ≈ 70 Nm); continuous draw follows the load.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One tooth can shear PLA up to ≈ 8.8 mm thick, HDPE ≈ 17.9 mm at 45 Nm.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Shear strengths are handbook values; thick prints will stall long before the bottles do.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Torque fractions at 300 / 600 / 1000 rpm are assumed for an 86 mm closed-loop stepper at 60 V – check the motor curve.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CALCULATIONS 2 – GEARS, SHAFTS, BEARINGS, MOUNTING</a:t>
            </a:r>
            <a:endParaRPr lang="en-US" sz="2600" dirty="0"/>
          </a:p>
        </p:txBody>
      </p:sp>
      <p:sp>
        <p:nvSpPr>
          <p:cNvPr id="3" name="text 483"/>
          <p:cNvSpPr txBox="1"/>
          <p:nvPr/>
        </p:nvSpPr>
        <p:spPr>
          <a:xfrm>
            <a:off x="457200" y="8412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GEAR MESH (Lewis Y = 0.371, Kv = 1.035; allowable: 4140 HT 248 / 840 MPa, A36 133 / 336 MPa)</a:t>
            </a:r>
            <a:endParaRPr lang="en-US" sz="1200" dirty="0"/>
          </a:p>
        </p:txBody>
      </p:sp>
      <p:graphicFrame>
        <p:nvGraphicFramePr>
          <p:cNvPr id="13" name="table 4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1005840"/>
                <a:gridCol w="1005840"/>
                <a:gridCol w="1005840"/>
                <a:gridCol w="731520"/>
                <a:gridCol w="6400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Load case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Face mm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Tooth force N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Bending MPa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Contact MPa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4140 HT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A36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nominal 45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1324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154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855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over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fails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nominal 45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1324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92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662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fails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jam at current cap 70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2068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240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1069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over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fails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jam at current cap 70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2068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144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828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OK, tight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fails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unlimited peak 90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2647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308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1209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over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fails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unlimited peak 90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2647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185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936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over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fails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485"/>
          <p:cNvSpPr txBox="1"/>
          <p:nvPr/>
        </p:nvSpPr>
        <p:spPr>
          <a:xfrm>
            <a:off x="457200" y="2971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Mesh: no overlap, 0.0947 mm clearance, contact ratio ≈ 1.68. Chosen: 20 mm face, hardened, driver cap 3.7 A.</a:t>
            </a:r>
            <a:endParaRPr lang="en-US" sz="1050" dirty="0"/>
          </a:p>
        </p:txBody>
      </p:sp>
      <p:sp>
        <p:nvSpPr>
          <p:cNvPr id="6" name="text 486"/>
          <p:cNvSpPr txBox="1"/>
          <p:nvPr/>
        </p:nvSpPr>
        <p:spPr>
          <a:xfrm>
            <a:off x="45720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SHAFTS, BEARINGS, MOUNTING</a:t>
            </a:r>
            <a:endParaRPr lang="en-US" sz="1200" dirty="0"/>
          </a:p>
        </p:txBody>
      </p:sp>
      <p:graphicFrame>
        <p:nvGraphicFramePr>
          <p:cNvPr id="25" name="table 4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30752"/>
          <a:ext cx="7498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32918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Check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Limit / note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Torsion, D25 seat at 70 Nm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22.9 MPa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allow ≈ 202 MPa (1018) → SF 8.8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Hex drive, whole torque on 1 blade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89 MPa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AR400 ≥ 1000, mild ≈ 250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Drive bearing (gear + blade force)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4487 N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6205 static C0 7800 N → ×1.7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Gearbox flange bolts (M6 × 20)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84 N tension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357 N shear from torque reaction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Motor shaft in gearbox bore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37 in 41.5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D14 F7 clamp, remove the key</a:t>
                      </a:r>
                      <a:endParaRPr lang="en-US" sz="10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notes box 488"/>
          <p:cNvSpPr/>
          <p:nvPr/>
        </p:nvSpPr>
        <p:spPr>
          <a:xfrm>
            <a:off x="8183880" y="868680"/>
            <a:ext cx="3566160" cy="5440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notes text 489"/>
          <p:cNvSpPr txBox="1"/>
          <p:nvPr/>
        </p:nvSpPr>
        <p:spPr>
          <a:xfrm>
            <a:off x="8293608" y="941832"/>
            <a:ext cx="3346704" cy="529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MASS + BALANCE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Total ≈ 36.8 kg: base 2.77, plates 9.86, motor 5.5, controller 3, gearbox 2.4.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Centre of gravity 90.9 mm above the base; static tip angle 56.6°.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Motor mass (5.5 kg) and the controller box (3 kg) are estimates.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The gear pair is the part to watch: if shaft B jams, all of the torque goes through the mesh.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Stresses are hand calculations (Lewis / Hertz, no life factor) – a screening check, not a certified design.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SAFETY CHAIN + ELECTRICAL BLOCK DIAGRAM</a:t>
            </a:r>
            <a:endParaRPr lang="en-US" sz="2600" dirty="0"/>
          </a:p>
        </p:txBody>
      </p:sp>
      <p:sp>
        <p:nvSpPr>
          <p:cNvPr id="3" name="text 490"/>
          <p:cNvSpPr txBox="1"/>
          <p:nvPr/>
        </p:nvSpPr>
        <p:spPr>
          <a:xfrm>
            <a:off x="457200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POWER + E-STOP (hardware path)</a:t>
            </a:r>
            <a:endParaRPr lang="en-US" sz="1200" dirty="0"/>
          </a:p>
        </p:txBody>
      </p:sp>
      <p:sp>
        <p:nvSpPr>
          <p:cNvPr id="4" name="block 491"/>
          <p:cNvSpPr/>
          <p:nvPr/>
        </p:nvSpPr>
        <p:spPr>
          <a:xfrm>
            <a:off x="457200" y="1280160"/>
            <a:ext cx="1234440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Mains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120 V AC</a:t>
            </a:r>
            <a:endParaRPr lang="en-US" sz="1050" dirty="0"/>
          </a:p>
        </p:txBody>
      </p:sp>
      <p:sp>
        <p:nvSpPr>
          <p:cNvPr id="5" name="line 492"/>
          <p:cNvSpPr/>
          <p:nvPr/>
        </p:nvSpPr>
        <p:spPr>
          <a:xfrm>
            <a:off x="1691640" y="1645920"/>
            <a:ext cx="24688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block 493"/>
          <p:cNvSpPr/>
          <p:nvPr/>
        </p:nvSpPr>
        <p:spPr>
          <a:xfrm>
            <a:off x="1938528" y="1280160"/>
            <a:ext cx="1234440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Fuse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breaker</a:t>
            </a:r>
            <a:endParaRPr lang="en-US" sz="1050" dirty="0"/>
          </a:p>
        </p:txBody>
      </p:sp>
      <p:sp>
        <p:nvSpPr>
          <p:cNvPr id="7" name="line 494"/>
          <p:cNvSpPr/>
          <p:nvPr/>
        </p:nvSpPr>
        <p:spPr>
          <a:xfrm>
            <a:off x="3172968" y="1645920"/>
            <a:ext cx="24688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block 495"/>
          <p:cNvSpPr/>
          <p:nvPr/>
        </p:nvSpPr>
        <p:spPr>
          <a:xfrm>
            <a:off x="3419856" y="1280160"/>
            <a:ext cx="1234440" cy="731520"/>
          </a:xfrm>
          <a:prstGeom prst="rect">
            <a:avLst/>
          </a:prstGeom>
          <a:solidFill>
            <a:srgbClr val="F4C9CF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E-stop + lid reed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in series (NC)</a:t>
            </a:r>
            <a:endParaRPr lang="en-US" sz="1050" dirty="0"/>
          </a:p>
        </p:txBody>
      </p:sp>
      <p:sp>
        <p:nvSpPr>
          <p:cNvPr id="9" name="line 496"/>
          <p:cNvSpPr/>
          <p:nvPr/>
        </p:nvSpPr>
        <p:spPr>
          <a:xfrm>
            <a:off x="4654296" y="1645920"/>
            <a:ext cx="24688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block 497"/>
          <p:cNvSpPr/>
          <p:nvPr/>
        </p:nvSpPr>
        <p:spPr>
          <a:xfrm>
            <a:off x="4901184" y="1280160"/>
            <a:ext cx="1234440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Contactor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(coil on that loop)</a:t>
            </a:r>
            <a:endParaRPr lang="en-US" sz="1050" dirty="0"/>
          </a:p>
        </p:txBody>
      </p:sp>
      <p:sp>
        <p:nvSpPr>
          <p:cNvPr id="11" name="block 498"/>
          <p:cNvSpPr/>
          <p:nvPr/>
        </p:nvSpPr>
        <p:spPr>
          <a:xfrm>
            <a:off x="1938528" y="2514600"/>
            <a:ext cx="1234440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60 V 600 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PSU</a:t>
            </a:r>
            <a:endParaRPr lang="en-US" sz="1050" dirty="0"/>
          </a:p>
        </p:txBody>
      </p:sp>
      <p:sp>
        <p:nvSpPr>
          <p:cNvPr id="12" name="line 499"/>
          <p:cNvSpPr/>
          <p:nvPr/>
        </p:nvSpPr>
        <p:spPr>
          <a:xfrm>
            <a:off x="3172968" y="2880360"/>
            <a:ext cx="24688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block 500"/>
          <p:cNvSpPr/>
          <p:nvPr/>
        </p:nvSpPr>
        <p:spPr>
          <a:xfrm>
            <a:off x="3419856" y="2514600"/>
            <a:ext cx="1234440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CL86T driver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24–80 V</a:t>
            </a:r>
            <a:endParaRPr lang="en-US" sz="1050" dirty="0"/>
          </a:p>
        </p:txBody>
      </p:sp>
      <p:sp>
        <p:nvSpPr>
          <p:cNvPr id="14" name="line 501"/>
          <p:cNvSpPr/>
          <p:nvPr/>
        </p:nvSpPr>
        <p:spPr>
          <a:xfrm>
            <a:off x="4654296" y="2880360"/>
            <a:ext cx="246888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block 502"/>
          <p:cNvSpPr/>
          <p:nvPr/>
        </p:nvSpPr>
        <p:spPr>
          <a:xfrm>
            <a:off x="4901184" y="2514600"/>
            <a:ext cx="1234440" cy="7315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NEMA 34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motor + encoder</a:t>
            </a:r>
            <a:endParaRPr lang="en-US" sz="1050" dirty="0"/>
          </a:p>
        </p:txBody>
      </p:sp>
      <p:sp>
        <p:nvSpPr>
          <p:cNvPr id="16" name="line 503"/>
          <p:cNvSpPr/>
          <p:nvPr/>
        </p:nvSpPr>
        <p:spPr>
          <a:xfrm>
            <a:off x="5513832" y="2011680"/>
            <a:ext cx="0" cy="32004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line 504"/>
          <p:cNvSpPr/>
          <p:nvPr/>
        </p:nvSpPr>
        <p:spPr>
          <a:xfrm>
            <a:off x="2551176" y="2331720"/>
            <a:ext cx="2962656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8" name="line 505"/>
          <p:cNvSpPr/>
          <p:nvPr/>
        </p:nvSpPr>
        <p:spPr>
          <a:xfrm>
            <a:off x="2551176" y="2331720"/>
            <a:ext cx="0" cy="18288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text 506"/>
          <p:cNvSpPr txBox="1"/>
          <p:nvPr/>
        </p:nvSpPr>
        <p:spPr>
          <a:xfrm>
            <a:off x="457200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Contactor drops the PSU feed on E-stop or lid open – no software in the loop.</a:t>
            </a:r>
            <a:endParaRPr lang="en-US" sz="1050" dirty="0"/>
          </a:p>
        </p:txBody>
      </p:sp>
      <p:sp>
        <p:nvSpPr>
          <p:cNvPr id="20" name="text 507"/>
          <p:cNvSpPr txBox="1"/>
          <p:nvPr/>
        </p:nvSpPr>
        <p:spPr>
          <a:xfrm>
            <a:off x="457200" y="3794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CONTROL (logic)</a:t>
            </a:r>
            <a:endParaRPr lang="en-US" sz="1200" dirty="0"/>
          </a:p>
        </p:txBody>
      </p:sp>
      <p:sp>
        <p:nvSpPr>
          <p:cNvPr id="21" name="block 508"/>
          <p:cNvSpPr/>
          <p:nvPr/>
        </p:nvSpPr>
        <p:spPr>
          <a:xfrm>
            <a:off x="457200" y="4114800"/>
            <a:ext cx="192024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FWD / OFF / REV switch</a:t>
            </a:r>
            <a:endParaRPr lang="en-US" sz="1050" dirty="0"/>
          </a:p>
        </p:txBody>
      </p:sp>
      <p:sp>
        <p:nvSpPr>
          <p:cNvPr id="22" name="line 509"/>
          <p:cNvSpPr/>
          <p:nvPr/>
        </p:nvSpPr>
        <p:spPr>
          <a:xfrm>
            <a:off x="2377440" y="4288536"/>
            <a:ext cx="731520" cy="384048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block 510"/>
          <p:cNvSpPr/>
          <p:nvPr/>
        </p:nvSpPr>
        <p:spPr>
          <a:xfrm>
            <a:off x="457200" y="4535424"/>
            <a:ext cx="192024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Start button</a:t>
            </a:r>
            <a:endParaRPr lang="en-US" sz="1050" dirty="0"/>
          </a:p>
        </p:txBody>
      </p:sp>
      <p:sp>
        <p:nvSpPr>
          <p:cNvPr id="24" name="line 511"/>
          <p:cNvSpPr/>
          <p:nvPr/>
        </p:nvSpPr>
        <p:spPr>
          <a:xfrm>
            <a:off x="2377440" y="4709160"/>
            <a:ext cx="731520" cy="109728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block 512"/>
          <p:cNvSpPr/>
          <p:nvPr/>
        </p:nvSpPr>
        <p:spPr>
          <a:xfrm>
            <a:off x="457200" y="4956048"/>
            <a:ext cx="192024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Lid reed (read-only)</a:t>
            </a:r>
            <a:endParaRPr lang="en-US" sz="1050" dirty="0"/>
          </a:p>
        </p:txBody>
      </p:sp>
      <p:sp>
        <p:nvSpPr>
          <p:cNvPr id="26" name="line 513"/>
          <p:cNvSpPr/>
          <p:nvPr/>
        </p:nvSpPr>
        <p:spPr>
          <a:xfrm flipV="1">
            <a:off x="2377440" y="4965192"/>
            <a:ext cx="731520" cy="164592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block 514"/>
          <p:cNvSpPr/>
          <p:nvPr/>
        </p:nvSpPr>
        <p:spPr>
          <a:xfrm>
            <a:off x="457200" y="5376672"/>
            <a:ext cx="192024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Driver ALM (jam)</a:t>
            </a:r>
            <a:endParaRPr lang="en-US" sz="1050" dirty="0"/>
          </a:p>
        </p:txBody>
      </p:sp>
      <p:sp>
        <p:nvSpPr>
          <p:cNvPr id="28" name="line 515"/>
          <p:cNvSpPr/>
          <p:nvPr/>
        </p:nvSpPr>
        <p:spPr>
          <a:xfrm flipV="1">
            <a:off x="2377440" y="5111496"/>
            <a:ext cx="731520" cy="438912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block 516"/>
          <p:cNvSpPr/>
          <p:nvPr/>
        </p:nvSpPr>
        <p:spPr>
          <a:xfrm>
            <a:off x="3108960" y="4480560"/>
            <a:ext cx="1371600" cy="8229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Arduino Nano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5 V logic</a:t>
            </a:r>
            <a:endParaRPr lang="en-US" sz="1050" dirty="0"/>
          </a:p>
        </p:txBody>
      </p:sp>
      <p:sp>
        <p:nvSpPr>
          <p:cNvPr id="30" name="block 517"/>
          <p:cNvSpPr/>
          <p:nvPr/>
        </p:nvSpPr>
        <p:spPr>
          <a:xfrm>
            <a:off x="5120640" y="4480560"/>
            <a:ext cx="1371600" cy="8229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PUL / DIR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ENA to CL86T</a:t>
            </a:r>
            <a:endParaRPr lang="en-US" sz="1050" dirty="0"/>
          </a:p>
        </p:txBody>
      </p:sp>
      <p:sp>
        <p:nvSpPr>
          <p:cNvPr id="31" name="line 518"/>
          <p:cNvSpPr/>
          <p:nvPr/>
        </p:nvSpPr>
        <p:spPr>
          <a:xfrm>
            <a:off x="4480560" y="4892040"/>
            <a:ext cx="64008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text 519"/>
          <p:cNvSpPr txBox="1"/>
          <p:nvPr/>
        </p:nvSpPr>
        <p:spPr>
          <a:xfrm>
            <a:off x="457200" y="58978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Nano auto-reverses on a jam (ALM) and holds ENA low whenever the interlock is open.</a:t>
            </a:r>
            <a:endParaRPr lang="en-US" sz="1050" dirty="0"/>
          </a:p>
        </p:txBody>
      </p:sp>
      <p:pic>
        <p:nvPicPr>
          <p:cNvPr id="33" name="cutter_stack 520" descr="Render: cutter st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914400"/>
            <a:ext cx="5029200" cy="3145536"/>
          </a:xfrm>
          <a:prstGeom prst="rect">
            <a:avLst/>
          </a:prstGeom>
        </p:spPr>
      </p:pic>
      <p:sp>
        <p:nvSpPr>
          <p:cNvPr id="34" name="text 521"/>
          <p:cNvSpPr txBox="1"/>
          <p:nvPr/>
        </p:nvSpPr>
        <p:spPr>
          <a:xfrm>
            <a:off x="6720840" y="40965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Cutter chamber with the top plate, hopper and side walls hidden</a:t>
            </a:r>
            <a:endParaRPr lang="en-US" sz="1000" dirty="0"/>
          </a:p>
        </p:txBody>
      </p:sp>
      <p:sp>
        <p:nvSpPr>
          <p:cNvPr id="35" name="notes box 522"/>
          <p:cNvSpPr/>
          <p:nvPr/>
        </p:nvSpPr>
        <p:spPr>
          <a:xfrm>
            <a:off x="6720840" y="4434840"/>
            <a:ext cx="5029200" cy="18745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6" name="notes text 523"/>
          <p:cNvSpPr txBox="1"/>
          <p:nvPr/>
        </p:nvSpPr>
        <p:spPr>
          <a:xfrm>
            <a:off x="6830568" y="4507992"/>
            <a:ext cx="480974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GUARDS + SAFETY NOTES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Throat 70 × 81 × 140 mm tall plus a hinged lid with a reed-switch interlock.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Red gear guard (printed PETG, 2.4 mm walls) closes the gear zone between the plates; E-stop is on the controller front.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Set the CL86T peak current to 3.7 A: it caps the jam torque at the coupler rating (70 Nm).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Counter-rotating steel blades pull in anything – never reach into the throat; always stop and wait.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Have mains wiring checked by a qualified person; this is not a certified guard design.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BILL OF MATERIALS</a:t>
            </a:r>
            <a:endParaRPr lang="en-US" sz="2600" dirty="0"/>
          </a:p>
        </p:txBody>
      </p:sp>
      <p:graphicFrame>
        <p:nvGraphicFramePr>
          <p:cNvPr id="15" name="bom table 5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41248"/>
          <a:ext cx="112928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377440"/>
                <a:gridCol w="640080"/>
                <a:gridCol w="4754880"/>
                <a:gridCol w="310896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Part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Qty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Size / material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Blade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Ø76 × 3.0 mm steel, 18 teeth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DXF 01 (turn 13 over)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Spacer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Ø58 × 3.4 mm steel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DXF 02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Comb plate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3.2 mm steel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DXF 03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Wall plate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3.2 mm steel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DXF 04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Hex shaft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in hex bar; A = 170 mm, B = 139 mm; ends turned Ø25 h6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bar stock + one machine-shop job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Sync gear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m2 × 34 T, 20 mm, hex bore, pre-hard 4140 (≈ 300 HB)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DXF 05, waterjet, no heat treat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End plates + motor plate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 / 16 / 12 mm steel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DXF 06–08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Top + bottom plate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 mm steel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DXF 09–10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Base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434 × 546 × 18 mm plywood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DXF 11 as template, jigsaw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Motor cradle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 mm steel U-saddle, 114.8 × 120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DXF 12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Bearing 6205-2RS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25 × 52 × 15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bearing supplier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Tie rod (M8 SHCS)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M8 × 110, threads into drive plate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hardware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Standoff + screw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Ø12 × 106 tube, M8 × 130 SHCS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hardware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Shaft coupler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Sinoblu XL2 D54 × L78, 1045 steel, bores 25 / 20, 70 Nm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listing $18.94 (selected)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10:1 planetary gearbox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YEJMKJ, 85 sq, Ø20 × 40 shaft, 45 / 90 Nm; + 4× M6 × 20 SHCS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listing $89.99 (selected)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NEMA 34 closed-loop kit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34HS59-6004D-E1000 12 Nm + CL86T V4.1 + cables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listing $155.00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60 V 10 A PSU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600 W, 110 V in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listing $31.99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Arduino Nano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3-pack, USB-C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listing $15.99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E-stop, contactor, switches, fuse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NC mushroom, reed switch, FWD/OFF/REV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electrical supplier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Hopper, throat, lid, chute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set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3D-printed (PETG) – models in the FBX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print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Gear guard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148.8 × 80.8 × 106 shell, 2.4 mm walls, PETG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print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525"/>
          <p:cNvSpPr txBox="1"/>
          <p:nvPr/>
        </p:nvSpPr>
        <p:spPr>
          <a:xfrm>
            <a:off x="457200" y="6053328"/>
            <a:ext cx="11292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Listed purchases: $311.91 (motor kit 155.00, gearbox 89.99, PSU 31.99, coupler 18.94, Nano 15.99). Gearbox and coupler are selected, not yet ordered.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TO PRINT, WHAT TO CUT, WHAT TO BUY</a:t>
            </a:r>
            <a:endParaRPr lang="en-US" sz="2600" dirty="0"/>
          </a:p>
        </p:txBody>
      </p:sp>
      <p:sp>
        <p:nvSpPr>
          <p:cNvPr id="3" name="text 526"/>
          <p:cNvSpPr txBox="1"/>
          <p:nvPr/>
        </p:nvSpPr>
        <p:spPr>
          <a:xfrm>
            <a:off x="457200" y="822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WHO MAKES WHAT</a:t>
            </a:r>
            <a:endParaRPr lang="en-US" sz="1200" dirty="0"/>
          </a:p>
        </p:txBody>
      </p:sp>
      <p:graphicFrame>
        <p:nvGraphicFramePr>
          <p:cNvPr id="16" name="table 5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94360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331720"/>
                <a:gridCol w="2103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Route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Parts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3D print (PETG / ASA)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Hopper flange, throat guard, lid, discharge chute, gear guard, controller box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Carry no cutting or drive load; free and fast to change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Laser cut (mild steel)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Blades, spacers, combs, walls, 5 plates, motor cradle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110 flat parts: not practical by hand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Waterjet (4140 pre-hard)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Two sync gears, 20 mm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Hardened teeth with no heat treat; the only hard-to-source part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Plywood, jigsaw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Base 434 × 546 × 18 mm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Replaces the 18.6 kg steel base; 15.8 kg lighter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Machine shop, one job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Turn 4 hex-bar ends to Ø25 h6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Needs a lathe; the round coupler bore means a hex bearing cannot replace it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Buy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Motor kit, gearbox, coupler, PSU, Nano, 6205 bearings, hex bar, M6 / M8 hardware, E-stop set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Listed purchases are $311.91</a:t>
                      </a:r>
                      <a:endParaRPr lang="en-US" sz="90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528"/>
          <p:cNvSpPr txBox="1"/>
          <p:nvPr/>
        </p:nvSpPr>
        <p:spPr>
          <a:xfrm>
            <a:off x="6629400" y="822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CUT ORDER SUMMARY (for quotes)</a:t>
            </a:r>
            <a:endParaRPr lang="en-US" sz="1200" dirty="0"/>
          </a:p>
        </p:txBody>
      </p:sp>
      <p:graphicFrame>
        <p:nvGraphicFramePr>
          <p:cNvPr id="31" name="table 5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"/>
                <a:gridCol w="594360"/>
                <a:gridCol w="141732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Part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Qty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Thk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Size mm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Cut m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Blade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3.0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75.8 × 74.7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10.9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Spacer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3.4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58 × 58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Comb plate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3.2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49.9 × 108.3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8.9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Wall plate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3.2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48.1 × 108.3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9.1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Sync gear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20.0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72 × 71.8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1.1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Far end plate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16.0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178 × 164.2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1.1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Drive end plate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16.0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194 × 164.2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Motor plate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12.0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194 × 164.2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1.1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Top plate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8.0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178 × 115.2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Bottom plate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8.0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170 × 83.2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0.8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Motor cradle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12.0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114.8 × 120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0.6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Laser total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41.7</a:t>
                      </a:r>
                      <a:endParaRPr lang="en-US" sz="950" dirty="0"/>
                    </a:p>
                  </a:txBody>
                  <a:tcPr marL="64008" marR="64008"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notes box 530"/>
          <p:cNvSpPr/>
          <p:nvPr/>
        </p:nvSpPr>
        <p:spPr>
          <a:xfrm>
            <a:off x="457200" y="4526280"/>
            <a:ext cx="11292840" cy="17830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notes text 531"/>
          <p:cNvSpPr txBox="1"/>
          <p:nvPr/>
        </p:nvSpPr>
        <p:spPr>
          <a:xfrm>
            <a:off x="566928" y="4599432"/>
            <a:ext cx="1107338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WHAT CHANGED IN THIS REVISION (COST CUTS)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Base: 10 mm steel → 18 mm plywood. That was the biggest laser part (2 371 cm², 2.8 m of cut); total machine mass goes from 52.5 kg to 36.8 kg.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Gear guard: 2 mm sheet metal → printed PETG, so no sheet-metal work. Gears: pre-hard 4140 bought as plate, so no heat treat or warping.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Blades and plates: start in mild steel. 104 thin parts are 36 of the 41.7 m of laser cut, so ask for one nested quote rather than 11 separate ones.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26 blades, 26 spacers, the gears, the plates and every purchased part are unchanged. Thickness note: 3.0 / 3.2 / 3.4 mm are not stock sizes everywhere; tell me what the supplier carries and I will re-pitch the stack.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0116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ASSEMBLY ORDER, DESIGN CHECKS AND OPEN ITEMS</a:t>
            </a:r>
            <a:endParaRPr lang="en-US" sz="2600" dirty="0"/>
          </a:p>
        </p:txBody>
      </p:sp>
      <p:sp>
        <p:nvSpPr>
          <p:cNvPr id="3" name="notes box 532"/>
          <p:cNvSpPr/>
          <p:nvPr/>
        </p:nvSpPr>
        <p:spPr>
          <a:xfrm>
            <a:off x="457200" y="841248"/>
            <a:ext cx="4114800" cy="54864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notes text 533"/>
          <p:cNvSpPr txBox="1"/>
          <p:nvPr/>
        </p:nvSpPr>
        <p:spPr>
          <a:xfrm>
            <a:off x="566928" y="914400"/>
            <a:ext cx="3895344" cy="5340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ASSEMBLY ORDER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Cut and deburr all plates; take the two hex bars to a machine shop to turn the ends to Ø25 h6 (far seat 17 long; shaft A drive end 15 + round to the coupler).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Press 6205 bearings into the far and drive plates.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Stack shaft A (blade first) and shaft B (spacer first) on their hex bars.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Lay the far plate flat; drop in both shafts, then alternate comb / wall plates on the four rods.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Fit the drive plate; thread the rods into it and snug evenly.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Slide on the gears (set the tooth phase), then fit the gear guard.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Bolt the gearbox to the motor plate from behind (4× M6 × 20), then the motor to the gearbox (remove its key, clamp the collar).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Standoffs (M8 × 130) join the motor plate to the drive plate; slide the coupler on and clamp it 4.0 mm from the gear.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Motor cradle, base, top / bottom plates, throat, lid + reed switch, chute.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Wire the E-stop loop first; set 3.7 A; first spin with no load, then jog.</a:t>
            </a:r>
            <a:endParaRPr lang="en-US" sz="1200" dirty="0"/>
          </a:p>
        </p:txBody>
      </p:sp>
      <p:graphicFrame>
        <p:nvGraphicFramePr>
          <p:cNvPr id="17" name="checks table 5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841248"/>
          <a:ext cx="69494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5661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DESIGN CHECK</a:t>
                      </a:r>
                      <a:endParaRPr lang="en-US" sz="105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05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Blade tip ↔ opposing spacer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1.08 mm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Blade ↔ stationary plate (axial)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0.10 mm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Blade tip ↔ wall plate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1.50 mm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Gear backlash at 68.0 centres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0.09 mm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Gear back face ↔ coupler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4.0 mm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Shaft engagement A / gearbox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29 / 28 mm of 30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Gear stress at the cap (hardened)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144 bend / 828 contact MPa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Bearing static factor (worst case)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× 1.7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Mesh-vs-mesh interference, 142 parts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none (rods thread into drive plate)</a:t>
                      </a:r>
                      <a:endParaRPr lang="en-US" sz="1000" dirty="0"/>
                    </a:p>
                  </a:txBody>
                  <a:tcPr marL="73152" marR="73152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notes box 535"/>
          <p:cNvSpPr/>
          <p:nvPr/>
        </p:nvSpPr>
        <p:spPr>
          <a:xfrm>
            <a:off x="4800600" y="3429000"/>
            <a:ext cx="6949440" cy="28803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notes text 536"/>
          <p:cNvSpPr txBox="1"/>
          <p:nvPr/>
        </p:nvSpPr>
        <p:spPr>
          <a:xfrm>
            <a:off x="4910328" y="3502152"/>
            <a:ext cx="672998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OPEN ITEMS – CHECK ON ARRIVAL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Motor: 169 mm is treated as overall incl. the encoder (+28 mm if it is the body only); weight 5.5 kg is assumed.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Gearbox: shaft length is taken from the pilot tip; ratings and the 235 g / 2.4 kg weight come from the listing – confirm the key and input clamp.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Coupler: ask the seller whether the bores are keyed; shaft A end needs no key for the clamp type.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Motor torque-vs-speed curve at 60 V is assumed (75 / 60 / 40 % of hold).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Gears: pre-hard 4140 only (mild steel fails the contact check); bearing retention and hex tolerances are not drawn.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Stack tolerance: 26 layers of stock vary by ±0.05 mm; measure the plate and re-sort parts so the blades do not rub the combs.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Plate stock: 3.0 / 3.2 / 3.4 mm set; bit size and speeds are estimates – test with scrap PLA / PETG.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redder Blueprint">
  <a:themeElements>
    <a:clrScheme name="Shredder Blueprint">
      <a:dk1>
        <a:srgbClr val="222222"/>
      </a:dk1>
      <a:lt1>
        <a:srgbClr val="FFFFFF"/>
      </a:lt1>
      <a:dk2>
        <a:srgbClr val="36454F"/>
      </a:dk2>
      <a:lt2>
        <a:srgbClr val="F5F5F5"/>
      </a:lt2>
      <a:accent1>
        <a:srgbClr val="A5001E"/>
      </a:accent1>
      <a:accent2>
        <a:srgbClr val="2563C4"/>
      </a:accent2>
      <a:accent3>
        <a:srgbClr val="D5DBE3"/>
      </a:accent3>
      <a:accent4>
        <a:srgbClr val="E8CF9C"/>
      </a:accent4>
      <a:accent5>
        <a:srgbClr val="6B7785"/>
      </a:accent5>
      <a:accent6>
        <a:srgbClr val="C79A3B"/>
      </a:accent6>
      <a:hlink>
        <a:srgbClr val="2563C4"/>
      </a:hlink>
      <a:folHlink>
        <a:srgbClr val="6B7785"/>
      </a:folHlink>
    </a:clrScheme>
    <a:fontScheme name="Shredder Bluepri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DIY Dual-Shaft Shredder - Blueprint Set</dc:title>
  <dc:subject>PptxGenJS Presentation</dc:subject>
  <dc:creator>PptxGenJS</dc:creator>
  <cp:lastModifiedBy>PptxGenJS</cp:lastModifiedBy>
  <cp:revision>1</cp:revision>
  <dcterms:created xsi:type="dcterms:W3CDTF">2026-10-11T02:53:26Z</dcterms:created>
  <dcterms:modified xsi:type="dcterms:W3CDTF">2026-10-11T02:53:26Z</dcterms:modified>
</cp:coreProperties>
</file>